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3" r:id="rId4"/>
    <p:sldId id="285" r:id="rId5"/>
    <p:sldId id="286" r:id="rId6"/>
    <p:sldId id="259" r:id="rId7"/>
    <p:sldId id="287" r:id="rId8"/>
    <p:sldId id="289" r:id="rId9"/>
    <p:sldId id="260" r:id="rId10"/>
    <p:sldId id="291" r:id="rId11"/>
    <p:sldId id="290" r:id="rId12"/>
    <p:sldId id="292" r:id="rId13"/>
    <p:sldId id="28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EEE"/>
    <a:srgbClr val="FEF5E7"/>
    <a:srgbClr val="37512F"/>
    <a:srgbClr val="4A4747"/>
    <a:srgbClr val="F4E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9"/>
    <p:restoredTop sz="95820"/>
  </p:normalViewPr>
  <p:slideViewPr>
    <p:cSldViewPr snapToGrid="0">
      <p:cViewPr>
        <p:scale>
          <a:sx n="100" d="100"/>
          <a:sy n="100" d="100"/>
        </p:scale>
        <p:origin x="144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483F3-01E4-534F-BC0C-19FD01E9F1B8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7B7B7-82AF-C848-8A9C-D6A3FC539BB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227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안녕하세요 팀 </a:t>
            </a:r>
            <a:r>
              <a:rPr lang="en-US" altLang="ko-KR" dirty="0"/>
              <a:t>J</a:t>
            </a:r>
            <a:r>
              <a:rPr lang="ko-KR" altLang="en-US" dirty="0"/>
              <a:t>의 </a:t>
            </a:r>
            <a:r>
              <a:rPr lang="ko-KR" altLang="en-US" dirty="0" err="1"/>
              <a:t>캡스톤</a:t>
            </a:r>
            <a:r>
              <a:rPr lang="ko-KR" altLang="en-US" dirty="0"/>
              <a:t> 디자인</a:t>
            </a:r>
            <a:r>
              <a:rPr lang="en-US" altLang="ko-KR" dirty="0"/>
              <a:t>1</a:t>
            </a:r>
            <a:r>
              <a:rPr lang="ko-KR" altLang="en-US" dirty="0"/>
              <a:t> 최종발표 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저희 주제는 가명처리 및 가명정보 결합 자동화 플랫폼 구축입니다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팀원은 장재혁</a:t>
            </a:r>
            <a:r>
              <a:rPr lang="en-US" altLang="ko-KR" dirty="0"/>
              <a:t>,</a:t>
            </a:r>
            <a:r>
              <a:rPr lang="ko-KR" altLang="en-US" dirty="0"/>
              <a:t> 권정은입니다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순서는 다음과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먼저 프로젝트의 필요성과 목표를 말씀드린 후</a:t>
            </a:r>
            <a:r>
              <a:rPr lang="en-US" altLang="ko-KR" dirty="0"/>
              <a:t>.,</a:t>
            </a:r>
            <a:r>
              <a:rPr lang="ko-KR" altLang="en-US" dirty="0"/>
              <a:t> 시스템 아키텍처와 주요 알고리즘을 </a:t>
            </a:r>
            <a:r>
              <a:rPr lang="ko-KR" altLang="en-US" dirty="0" err="1"/>
              <a:t>소개드리고</a:t>
            </a:r>
            <a:r>
              <a:rPr lang="en-US" altLang="ko-KR" dirty="0"/>
              <a:t>,</a:t>
            </a:r>
            <a:r>
              <a:rPr lang="ko-KR" altLang="en-US" dirty="0"/>
              <a:t> 구현된 기능 및 기대 효과</a:t>
            </a:r>
            <a:r>
              <a:rPr lang="en-US" altLang="ko-KR" dirty="0"/>
              <a:t>,</a:t>
            </a:r>
            <a:r>
              <a:rPr lang="ko-KR" altLang="en-US" dirty="0"/>
              <a:t> 그리고 향후계획까지 말씀드리겠습니다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dirty="0"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D62C8D0-37AE-680F-837B-94195E12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94C1B5E1-E732-9D6D-3D08-C3CB02AC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57675C9D-7EAF-CE99-8AEB-93197A8F3E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dirty="0"/>
              <a:t>현재 공공기관이나 기업 간의 데이터 결합은 매우 중요한 작업입니다</a:t>
            </a:r>
            <a:r>
              <a:rPr lang="en-US" altLang="ko-KR" dirty="0"/>
              <a:t>. </a:t>
            </a:r>
            <a:r>
              <a:rPr lang="ko-KR" altLang="en-US" b="1" dirty="0"/>
              <a:t>데이터 결합</a:t>
            </a:r>
            <a:r>
              <a:rPr lang="ko-KR" altLang="en-US" dirty="0"/>
              <a:t>은 서로 다른 출처의 데이터를 연계하여 분석 가치를 극대화하는 작업입니다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병원과 보험사가 각각 가지고 있는 데이터를 결합하면</a:t>
            </a:r>
            <a:r>
              <a:rPr lang="en-US" altLang="ko-KR" dirty="0"/>
              <a:t>, </a:t>
            </a:r>
            <a:r>
              <a:rPr lang="ko-KR" altLang="en-US" dirty="0"/>
              <a:t>특정 질병에 대한 치료 패턴이나 위험 예측이 가능해집니다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하지만 개인정보 보호법상</a:t>
            </a:r>
            <a:r>
              <a:rPr lang="en-US" altLang="ko-KR" dirty="0"/>
              <a:t>, </a:t>
            </a:r>
            <a:r>
              <a:rPr lang="ko-KR" altLang="en-US" dirty="0"/>
              <a:t>원시 데이터를 그대로 공유할 수는 없습니다</a:t>
            </a:r>
            <a:r>
              <a:rPr lang="en-US" altLang="ko-KR" dirty="0"/>
              <a:t>. </a:t>
            </a:r>
            <a:r>
              <a:rPr lang="ko-KR" altLang="en-US" dirty="0"/>
              <a:t>그래서 각 기관은 데이터를 </a:t>
            </a:r>
            <a:r>
              <a:rPr lang="ko-KR" altLang="en-US" b="1" dirty="0" err="1"/>
              <a:t>가명처리</a:t>
            </a:r>
            <a:r>
              <a:rPr lang="ko-KR" altLang="en-US" dirty="0" err="1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의 </a:t>
            </a:r>
            <a:r>
              <a:rPr lang="ko-KR" altLang="en-US" b="1" dirty="0"/>
              <a:t>결합전문기관</a:t>
            </a:r>
            <a:r>
              <a:rPr lang="ko-KR" altLang="en-US" dirty="0"/>
              <a:t>을 통해 데이터를 결합하는 절차를 따릅니다</a:t>
            </a:r>
            <a:r>
              <a:rPr lang="en-US" altLang="ko-KR" dirty="0"/>
              <a:t>. </a:t>
            </a:r>
            <a:r>
              <a:rPr lang="ko-KR" altLang="en-US" dirty="0"/>
              <a:t>이 과정에서 다음과 같은 단계를 거치게 됩니다</a:t>
            </a:r>
            <a:r>
              <a:rPr lang="en-US" altLang="ko-KR" dirty="0"/>
              <a:t>: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및 가명처리 </a:t>
            </a:r>
          </a:p>
          <a:p>
            <a:r>
              <a:rPr lang="ko-KR" altLang="en-US" dirty="0"/>
              <a:t>식별자 제거 및 결합키 생성 </a:t>
            </a:r>
          </a:p>
          <a:p>
            <a:r>
              <a:rPr lang="ko-KR" altLang="en-US" dirty="0"/>
              <a:t>결합전문기관을 통한 데이터 결합 요청 </a:t>
            </a:r>
          </a:p>
          <a:p>
            <a:r>
              <a:rPr lang="ko-KR" altLang="en-US" dirty="0"/>
              <a:t>결합된 데이터를 분석기관에 전달 </a:t>
            </a:r>
          </a:p>
          <a:p>
            <a:br>
              <a:rPr lang="ko-KR" altLang="en-US" dirty="0"/>
            </a:br>
            <a:endParaRPr lang="ko-KR" altLang="en-US" dirty="0"/>
          </a:p>
          <a:p>
            <a:r>
              <a:rPr lang="ko-KR" altLang="en-US" dirty="0"/>
              <a:t>이러한 전체 절차는 수작업이 많고</a:t>
            </a:r>
            <a:r>
              <a:rPr lang="en-US" altLang="ko-KR" dirty="0"/>
              <a:t>, </a:t>
            </a:r>
            <a:r>
              <a:rPr lang="ko-KR" altLang="en-US" dirty="0"/>
              <a:t>절차가 복잡하며</a:t>
            </a:r>
            <a:r>
              <a:rPr lang="en-US" altLang="ko-KR" dirty="0"/>
              <a:t>, </a:t>
            </a:r>
            <a:r>
              <a:rPr lang="ko-KR" altLang="en-US" dirty="0"/>
              <a:t>시간도 오래 걸립니다</a:t>
            </a:r>
            <a:r>
              <a:rPr lang="en-US" altLang="ko-KR" dirty="0"/>
              <a:t>. 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EE7E3E55-C244-9E0E-38BC-65E2F1AB8A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800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D62C8D0-37AE-680F-837B-94195E12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94C1B5E1-E732-9D6D-3D08-C3CB02AC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57675C9D-7EAF-CE99-8AEB-93197A8F3E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dirty="0"/>
              <a:t>현재 공공기관이나 기업 간의 데이터 결합은 매우 중요한 작업입니다</a:t>
            </a:r>
            <a:r>
              <a:rPr lang="en-US" altLang="ko-KR" dirty="0"/>
              <a:t>. </a:t>
            </a:r>
            <a:r>
              <a:rPr lang="ko-KR" altLang="en-US" b="1" dirty="0"/>
              <a:t>데이터 결합</a:t>
            </a:r>
            <a:r>
              <a:rPr lang="ko-KR" altLang="en-US" dirty="0"/>
              <a:t>은 서로 다른 출처의 데이터를 연계하여 분석 가치를 극대화하는 작업입니다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병원과 보험사가 각각 가지고 있는 데이터를 결합하면</a:t>
            </a:r>
            <a:r>
              <a:rPr lang="en-US" altLang="ko-KR" dirty="0"/>
              <a:t>, </a:t>
            </a:r>
            <a:r>
              <a:rPr lang="ko-KR" altLang="en-US" dirty="0"/>
              <a:t>특정 질병에 대한 치료 패턴이나 위험 예측이 가능해집니다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하지만 개인정보 보호법상</a:t>
            </a:r>
            <a:r>
              <a:rPr lang="en-US" altLang="ko-KR" dirty="0"/>
              <a:t>, </a:t>
            </a:r>
            <a:r>
              <a:rPr lang="ko-KR" altLang="en-US" dirty="0"/>
              <a:t>원시 데이터를 그대로 공유할 수는 없습니다</a:t>
            </a:r>
            <a:r>
              <a:rPr lang="en-US" altLang="ko-KR" dirty="0"/>
              <a:t>. </a:t>
            </a:r>
            <a:r>
              <a:rPr lang="ko-KR" altLang="en-US" dirty="0"/>
              <a:t>그래서 각 기관은 데이터를 </a:t>
            </a:r>
            <a:r>
              <a:rPr lang="ko-KR" altLang="en-US" b="1" dirty="0" err="1"/>
              <a:t>가명처리</a:t>
            </a:r>
            <a:r>
              <a:rPr lang="ko-KR" altLang="en-US" dirty="0" err="1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의 </a:t>
            </a:r>
            <a:r>
              <a:rPr lang="ko-KR" altLang="en-US" b="1" dirty="0"/>
              <a:t>결합전문기관</a:t>
            </a:r>
            <a:r>
              <a:rPr lang="ko-KR" altLang="en-US" dirty="0"/>
              <a:t>을 통해 데이터를 결합하는 절차를 따릅니다</a:t>
            </a:r>
            <a:r>
              <a:rPr lang="en-US" altLang="ko-KR" dirty="0"/>
              <a:t>. </a:t>
            </a:r>
            <a:r>
              <a:rPr lang="ko-KR" altLang="en-US" dirty="0"/>
              <a:t>이 과정에서 다음과 같은 단계를 거치게 됩니다</a:t>
            </a:r>
            <a:r>
              <a:rPr lang="en-US" altLang="ko-KR" dirty="0"/>
              <a:t>: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및 가명처리 </a:t>
            </a:r>
          </a:p>
          <a:p>
            <a:r>
              <a:rPr lang="ko-KR" altLang="en-US" dirty="0"/>
              <a:t>식별자 제거 및 결합키 생성 </a:t>
            </a:r>
          </a:p>
          <a:p>
            <a:r>
              <a:rPr lang="ko-KR" altLang="en-US" dirty="0"/>
              <a:t>결합전문기관을 통한 데이터 결합 요청 </a:t>
            </a:r>
          </a:p>
          <a:p>
            <a:r>
              <a:rPr lang="ko-KR" altLang="en-US" dirty="0"/>
              <a:t>결합된 데이터를 분석기관에 전달 </a:t>
            </a:r>
          </a:p>
          <a:p>
            <a:br>
              <a:rPr lang="ko-KR" altLang="en-US" dirty="0"/>
            </a:br>
            <a:endParaRPr lang="ko-KR" altLang="en-US" dirty="0"/>
          </a:p>
          <a:p>
            <a:r>
              <a:rPr lang="ko-KR" altLang="en-US" dirty="0"/>
              <a:t>이러한 전체 절차는 수작업이 많고</a:t>
            </a:r>
            <a:r>
              <a:rPr lang="en-US" altLang="ko-KR" dirty="0"/>
              <a:t>, </a:t>
            </a:r>
            <a:r>
              <a:rPr lang="ko-KR" altLang="en-US" dirty="0"/>
              <a:t>절차가 복잡하며</a:t>
            </a:r>
            <a:r>
              <a:rPr lang="en-US" altLang="ko-KR" dirty="0"/>
              <a:t>, </a:t>
            </a:r>
            <a:r>
              <a:rPr lang="ko-KR" altLang="en-US" dirty="0"/>
              <a:t>시간도 오래 걸립니다</a:t>
            </a:r>
            <a:r>
              <a:rPr lang="en-US" altLang="ko-KR" dirty="0"/>
              <a:t>. 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EE7E3E55-C244-9E0E-38BC-65E2F1AB8A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80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8D43160-C595-4B0C-25D3-B9C71E17E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F2198181-78FE-4F4D-A957-F68560D62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24E46C3-5169-02B1-D013-F9CF6F226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현재의 결합 방식에는 다음과 같은 문제점이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앞 장에서 보셨듯이</a:t>
            </a:r>
            <a:r>
              <a:rPr lang="en-US" altLang="ko-KR" dirty="0"/>
              <a:t>,</a:t>
            </a:r>
            <a:r>
              <a:rPr lang="ko-KR" altLang="en-US" dirty="0"/>
              <a:t> 절차의 복잡성이 우선적인 문제이고</a:t>
            </a:r>
            <a:r>
              <a:rPr lang="en-US" altLang="ko-KR" dirty="0"/>
              <a:t>,</a:t>
            </a:r>
            <a:r>
              <a:rPr lang="ko-KR" altLang="en-US" dirty="0"/>
              <a:t> 그때문에 자율성이 제약되며</a:t>
            </a:r>
            <a:r>
              <a:rPr lang="en-US" altLang="ko-KR" dirty="0"/>
              <a:t>,</a:t>
            </a:r>
            <a:r>
              <a:rPr lang="ko-KR" altLang="en-US" dirty="0"/>
              <a:t> 처리속도의 한계도 존재합니다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또한 결합 전문기관 및 결합키 관리기관을 통해 이루어지기 때문에 전문기관 중심 구조라는 점도 문제점에 속합니다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이러한 문제들을 해결하기 위해</a:t>
            </a:r>
            <a:r>
              <a:rPr lang="en-US" altLang="ko-KR" dirty="0"/>
              <a:t>,</a:t>
            </a:r>
            <a:r>
              <a:rPr lang="ko-KR" altLang="en-US" dirty="0"/>
              <a:t> 저희는 완전 자동화된 결합 플랫폼을 목표로 개발하였습니다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5B904F8B-D3A8-B2C2-C973-EF41DEDF12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7717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현재의 결합 방식에는 다음과 같은 문제점이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앞 장에서 보셨듯이</a:t>
            </a:r>
            <a:r>
              <a:rPr lang="en-US" altLang="ko-KR" dirty="0"/>
              <a:t>,</a:t>
            </a:r>
            <a:r>
              <a:rPr lang="ko-KR" altLang="en-US" dirty="0"/>
              <a:t> 절차의 복잡성이 우선적인 문제이고</a:t>
            </a:r>
            <a:r>
              <a:rPr lang="en-US" altLang="ko-KR" dirty="0"/>
              <a:t>,</a:t>
            </a:r>
            <a:r>
              <a:rPr lang="ko-KR" altLang="en-US" dirty="0"/>
              <a:t> 그때문에 자율성이 제약되며</a:t>
            </a:r>
            <a:r>
              <a:rPr lang="en-US" altLang="ko-KR" dirty="0"/>
              <a:t>,</a:t>
            </a:r>
            <a:r>
              <a:rPr lang="ko-KR" altLang="en-US" dirty="0"/>
              <a:t> 처리속도의 한계도 존재합니다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또한 결합 전문기관 및 결합키 관리기관을 통해 이루어지기 때문에 전문기관 중심 구조라는 점도 문제점에 속합니다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이러한 문제들을 해결하기 위해</a:t>
            </a:r>
            <a:r>
              <a:rPr lang="en-US" altLang="ko-KR" dirty="0"/>
              <a:t>,</a:t>
            </a:r>
            <a:r>
              <a:rPr lang="ko-KR" altLang="en-US" dirty="0"/>
              <a:t> 저희는 완전 자동화된 결합 플랫폼을 목표로 개발하였습니다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1B767A8-3A92-AE72-7A3B-8B2B3B84C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0364F63E-6BC6-7B64-EFAA-8C5A1F50A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ADA2BAC9-D63C-1D0F-EF7D-F61EDE1E3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시스템은 마이크로 서비스로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각각의 기능을 독립된 서비스로 구현하여</a:t>
            </a:r>
            <a:r>
              <a:rPr lang="en-US" altLang="ko-KR" dirty="0"/>
              <a:t>,</a:t>
            </a:r>
            <a:r>
              <a:rPr lang="ko-KR" altLang="en-US" dirty="0"/>
              <a:t> 변경이나 오류가 발생해도 전체 시스템에 영향을 주지 않도록 하였습니다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이를 통해 유지보수 및 확장</a:t>
            </a:r>
            <a:r>
              <a:rPr lang="en-US" altLang="ko-KR" dirty="0"/>
              <a:t>,</a:t>
            </a:r>
            <a:r>
              <a:rPr lang="ko-KR" altLang="en-US" dirty="0"/>
              <a:t> 대체 상황을 유연하게 처리할 수 있습니다</a:t>
            </a:r>
            <a:r>
              <a:rPr lang="en-US" altLang="ko-KR" dirty="0"/>
              <a:t>.</a:t>
            </a:r>
            <a:r>
              <a:rPr lang="ko-KR" altLang="en-US" dirty="0"/>
              <a:t> 또한</a:t>
            </a:r>
            <a:r>
              <a:rPr lang="en-US" altLang="ko-KR" dirty="0"/>
              <a:t>,</a:t>
            </a:r>
            <a:r>
              <a:rPr lang="ko-KR" altLang="en-US" dirty="0"/>
              <a:t> 장애 격리를 통해 개별적인 서비스의 기능 장애가 전체 서비스에 영향을 미치지 않게 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B1214376-A7E7-1E45-3AA1-DC05457233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32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2D13853-90DF-8D86-3358-F79B1CD2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1A6AA045-7D95-8070-53E8-F07A10E08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B9FA1409-872E-139D-C98F-0FFA78254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시스템은 마이크로 서비스로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각각의 기능을 독립된 서비스로 구현하여</a:t>
            </a:r>
            <a:r>
              <a:rPr lang="en-US" altLang="ko-KR" dirty="0"/>
              <a:t>,</a:t>
            </a:r>
            <a:r>
              <a:rPr lang="ko-KR" altLang="en-US" dirty="0"/>
              <a:t> 변경이나 오류가 발생해도 전체 시스템에 영향을 주지 않도록 하였습니다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이를 통해 유지보수 및 확장</a:t>
            </a:r>
            <a:r>
              <a:rPr lang="en-US" altLang="ko-KR" dirty="0"/>
              <a:t>,</a:t>
            </a:r>
            <a:r>
              <a:rPr lang="ko-KR" altLang="en-US" dirty="0"/>
              <a:t> 대체 상황을 유연하게 처리할 수 있습니다</a:t>
            </a:r>
            <a:r>
              <a:rPr lang="en-US" altLang="ko-KR" dirty="0"/>
              <a:t>.</a:t>
            </a:r>
            <a:r>
              <a:rPr lang="ko-KR" altLang="en-US" dirty="0"/>
              <a:t> 또한</a:t>
            </a:r>
            <a:r>
              <a:rPr lang="en-US" altLang="ko-KR" dirty="0"/>
              <a:t>,</a:t>
            </a:r>
            <a:r>
              <a:rPr lang="ko-KR" altLang="en-US" dirty="0"/>
              <a:t> 장애 격리를 통해 개별적인 서비스의 기능 장애가 전체 서비스에 영향을 미치지 않게 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6D8F4BA1-E999-84FA-5501-DA337D7BD5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41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A53CE6A-AF31-F628-C7CC-8F118B7B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589CD7A3-A7E7-A0AE-CD7D-C06863D48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F61E6286-0738-2A8B-881F-50809AB5C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시스템은 마이크로 서비스로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각각의 기능을 독립된 서비스로 구현하여</a:t>
            </a:r>
            <a:r>
              <a:rPr lang="en-US" altLang="ko-KR" dirty="0"/>
              <a:t>,</a:t>
            </a:r>
            <a:r>
              <a:rPr lang="ko-KR" altLang="en-US" dirty="0"/>
              <a:t> 변경이나 오류가 발생해도 전체 시스템에 영향을 주지 않도록 하였습니다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이를 통해 유지보수 및 확장</a:t>
            </a:r>
            <a:r>
              <a:rPr lang="en-US" altLang="ko-KR" dirty="0"/>
              <a:t>,</a:t>
            </a:r>
            <a:r>
              <a:rPr lang="ko-KR" altLang="en-US" dirty="0"/>
              <a:t> 대체 상황을 유연하게 처리할 수 있습니다</a:t>
            </a:r>
            <a:r>
              <a:rPr lang="en-US" altLang="ko-KR" dirty="0"/>
              <a:t>.</a:t>
            </a:r>
            <a:r>
              <a:rPr lang="ko-KR" altLang="en-US" dirty="0"/>
              <a:t> 또한</a:t>
            </a:r>
            <a:r>
              <a:rPr lang="en-US" altLang="ko-KR" dirty="0"/>
              <a:t>,</a:t>
            </a:r>
            <a:r>
              <a:rPr lang="ko-KR" altLang="en-US" dirty="0"/>
              <a:t> 장애 격리를 통해 개별적인 서비스의 기능 장애가 전체 서비스에 영향을 미치지 않게 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CC82F5EA-5424-83F7-A45D-D576041658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7659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8783674-1F1F-4EF0-7CCA-704DFDE5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5935A4FD-19FD-6AC0-95AE-79CE28662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61CDA866-686E-8DB3-88F1-446025112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시스템은 마이크로 서비스로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각각의 기능을 독립된 서비스로 구현하여</a:t>
            </a:r>
            <a:r>
              <a:rPr lang="en-US" altLang="ko-KR" dirty="0"/>
              <a:t>,</a:t>
            </a:r>
            <a:r>
              <a:rPr lang="ko-KR" altLang="en-US" dirty="0"/>
              <a:t> 변경이나 오류가 발생해도 전체 시스템에 영향을 주지 않도록 하였습니다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이를 통해 유지보수 및 확장</a:t>
            </a:r>
            <a:r>
              <a:rPr lang="en-US" altLang="ko-KR" dirty="0"/>
              <a:t>,</a:t>
            </a:r>
            <a:r>
              <a:rPr lang="ko-KR" altLang="en-US" dirty="0"/>
              <a:t> 대체 상황을 유연하게 처리할 수 있습니다</a:t>
            </a:r>
            <a:r>
              <a:rPr lang="en-US" altLang="ko-KR" dirty="0"/>
              <a:t>.</a:t>
            </a:r>
            <a:r>
              <a:rPr lang="ko-KR" altLang="en-US" dirty="0"/>
              <a:t> 또한</a:t>
            </a:r>
            <a:r>
              <a:rPr lang="en-US" altLang="ko-KR" dirty="0"/>
              <a:t>,</a:t>
            </a:r>
            <a:r>
              <a:rPr lang="ko-KR" altLang="en-US" dirty="0"/>
              <a:t> 장애 격리를 통해 개별적인 서비스의 기능 장애가 전체 서비스에 영향을 미치지 않게 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A869694D-D276-7B6E-1AC7-F8FFDD0673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122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E15BA0A-7728-E063-4C05-4DB71ABE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F2B8AFD4-D665-B299-D4BC-441AD4392A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BAD0BA9C-BB25-099A-FB62-6A86AFC06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시스템은 마이크로 서비스로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각각의 기능을 독립된 서비스로 구현하여</a:t>
            </a:r>
            <a:r>
              <a:rPr lang="en-US" altLang="ko-KR" dirty="0"/>
              <a:t>,</a:t>
            </a:r>
            <a:r>
              <a:rPr lang="ko-KR" altLang="en-US" dirty="0"/>
              <a:t> 변경이나 오류가 발생해도 전체 시스템에 영향을 주지 않도록 하였습니다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이를 통해 유지보수 및 확장</a:t>
            </a:r>
            <a:r>
              <a:rPr lang="en-US" altLang="ko-KR" dirty="0"/>
              <a:t>,</a:t>
            </a:r>
            <a:r>
              <a:rPr lang="ko-KR" altLang="en-US" dirty="0"/>
              <a:t> 대체 상황을 유연하게 처리할 수 있습니다</a:t>
            </a:r>
            <a:r>
              <a:rPr lang="en-US" altLang="ko-KR" dirty="0"/>
              <a:t>.</a:t>
            </a:r>
            <a:r>
              <a:rPr lang="ko-KR" altLang="en-US" dirty="0"/>
              <a:t> 또한</a:t>
            </a:r>
            <a:r>
              <a:rPr lang="en-US" altLang="ko-KR" dirty="0"/>
              <a:t>,</a:t>
            </a:r>
            <a:r>
              <a:rPr lang="ko-KR" altLang="en-US" dirty="0"/>
              <a:t> 장애 격리를 통해 개별적인 서비스의 기능 장애가 전체 서비스에 영향을 미치지 않게 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3E29DF84-07A9-CCA8-1C20-623E12F410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6367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458DA16-516E-154F-9AEE-45A823BE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48E7E0F1-FDD5-51A4-AD51-5038DD670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F4F35C23-2311-BD74-C12F-DAAEB7FB5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시스템은 마이크로 서비스로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각각의 기능을 독립된 서비스로 구현하여</a:t>
            </a:r>
            <a:r>
              <a:rPr lang="en-US" altLang="ko-KR" dirty="0"/>
              <a:t>,</a:t>
            </a:r>
            <a:r>
              <a:rPr lang="ko-KR" altLang="en-US" dirty="0"/>
              <a:t> 변경이나 오류가 발생해도 전체 시스템에 영향을 주지 않도록 하였습니다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이를 통해 유지보수 및 확장</a:t>
            </a:r>
            <a:r>
              <a:rPr lang="en-US" altLang="ko-KR" dirty="0"/>
              <a:t>,</a:t>
            </a:r>
            <a:r>
              <a:rPr lang="ko-KR" altLang="en-US" dirty="0"/>
              <a:t> 대체 상황을 유연하게 처리할 수 있습니다</a:t>
            </a:r>
            <a:r>
              <a:rPr lang="en-US" altLang="ko-KR" dirty="0"/>
              <a:t>.</a:t>
            </a:r>
            <a:r>
              <a:rPr lang="ko-KR" altLang="en-US" dirty="0"/>
              <a:t> 또한</a:t>
            </a:r>
            <a:r>
              <a:rPr lang="en-US" altLang="ko-KR" dirty="0"/>
              <a:t>,</a:t>
            </a:r>
            <a:r>
              <a:rPr lang="ko-KR" altLang="en-US" dirty="0"/>
              <a:t> 장애 격리를 통해 개별적인 서비스의 기능 장애가 전체 서비스에 영향을 미치지 않게 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433D7632-ADAD-38FA-3F16-34C487FEFD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8547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7F8E318-96EF-6DC3-9142-BDEEB4A0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B9B702FE-A14D-1829-C791-FDF476CA4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E79693FB-E796-4EBE-8AAA-E8CA9B95F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8C32AB92-7EB0-6ED9-84C4-F988714102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9269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5616A-7C42-9A98-6821-4D44C6E5F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3A34C-38E8-6C9F-FCBF-99C74B9BE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83BDA8-834D-2587-AE90-EB33AF3D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5967-1B3D-A94C-BD45-DCD852F49938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C678F7-A65C-B21F-C8E3-53B330E7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A7186A-674E-9D27-1866-060ED4C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277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E9831-0632-7A09-A6E2-7938B227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090DE-48C9-8674-926C-4EC25A821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BCC39-74BF-A0A2-375F-5EE5DDE3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2BB5-3DF1-2C46-A1A6-8B512BB33E60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38242-3FA9-3CA1-86FD-C1C59D6C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3AB1E1-65B4-8C34-732F-979CE32D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848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8D721-FCBF-F36D-A282-275818AA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F207FA-E34E-99FF-41C7-06CFC3A3E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7DCE7-F418-17DC-50DB-DDEE504D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8AC6-A44C-9646-A4D4-FA3C39418C70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E8059-AFD1-1FDB-4D76-A141D0FC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EEB01-DC9C-D06F-C47A-88C16DAB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866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0F0C3-EEAB-10F1-41E0-8CAD8EDD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7D1FA1-E568-46AB-E8DC-265C1699F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7A9E45-0AF3-AF84-BF73-F7866AD49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A7320-B82C-428F-18E1-9C08DC68E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AD50-A803-6D4C-9032-81E9CEA27CA0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6D8F51-ECEE-D4B8-C02F-971FBE2A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9B8786-A87C-56F5-902E-2C24FDEE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497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6D87F-8128-9434-F2F3-3FDD86A9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7CF889-84FB-FBA2-8BF4-350207391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D46641-29F5-5E71-98E5-258210FED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F88176-FA9F-28EB-2ED2-5BC8E018F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309427-8978-3B1B-512C-DE262FBDD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F412569-610A-0D3E-546D-72142A71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2B2DE-7D05-9847-9739-48498C433E30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DE005C-39AE-6329-9FFE-0B27CD7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01832-767F-0CC1-AC15-2F0B6A02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5268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5EA77-3102-56ED-6740-23B842FF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E620A9-7EBA-84C5-91D6-BE2A10EB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8263-60E5-B94F-95F0-C1551B765195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EBB4BE-38B6-2A77-55C7-15A5C15F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E77ABC-D642-C3D8-5B57-7E1F3AED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787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76D2D4-BEBE-C3A0-D774-EEF00650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1A23-68C9-C94F-91E6-43C9DC1F6A80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1BBF96-732E-49EB-7225-5A704A86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F3FB9-F530-7015-5464-B72143D9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267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C20D5-C076-AF01-E0E4-5A87231A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6BC899-8D37-E38C-B5C6-D2B9F80DF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0027AE-4EC9-458E-ABA9-611FA5C28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64B7AC-E9A4-A34D-378B-EEC2C151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8EFA3-6BDB-7B43-BDB9-75DE170DB0CD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4EEB9D-50EF-775C-7D79-0F3EB66B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5FF12F-028B-B7B4-DCE3-6AB56767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634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E9CC5-12EC-BB1F-C936-E108FFA1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939CB5-080D-B036-0905-1F8B679AF9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058B84-B0CF-F6D0-7AEF-03C08B504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9FBAAA-F92F-4E8B-FEC0-203B0229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8F966-C0C2-704F-9CA9-ED3990B500DC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0D787-AF48-4266-3C19-B6E64BD8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51D620-2A75-EB2B-9EB0-F5F5B3DA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978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2D4E3-AFFB-468F-7DB8-7839A9E12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DAF28D-DA36-D886-D233-90DDA2BDB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9EEE8A-94CD-934C-B79A-FB6F5A63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B1555-EB39-8D44-8C02-E6E53A36464A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7B947D-E812-F178-6170-85E8885D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3CBCA-CAF5-1CCC-BE30-68481F5E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6587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F0D9A9-D975-8710-3BA3-E6ED2307A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B51851-F31F-1C0B-FBB4-7E539B3E8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811EF-79C8-48E8-C4A5-62488319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EA1E-3C1D-D644-A434-CC7BF54B66F0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8169B-D729-7541-AB52-A54CF58F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2B9C22-4B1E-552B-2CC9-B7AC89A6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784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67854C-0A41-0B37-A400-F2B148D5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19C77-ED21-6345-D576-1F408975F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4270E-BAA1-51B1-9A16-887DC7157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5F816-3FAC-E241-8A9F-E5F087AFD7AA}" type="datetime1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0A7F1-F5E9-F6A8-3AD1-85750E577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D8C94-CA4D-0A33-624C-27AFFAFF3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4E9CF-8E55-4942-94F4-5C5509B6FA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8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1;p1">
            <a:extLst>
              <a:ext uri="{FF2B5EF4-FFF2-40B4-BE49-F238E27FC236}">
                <a16:creationId xmlns:a16="http://schemas.microsoft.com/office/drawing/2014/main" id="{5EEDB712-BC24-1E42-78EC-46A9BD920EAB}"/>
              </a:ext>
            </a:extLst>
          </p:cNvPr>
          <p:cNvSpPr/>
          <p:nvPr/>
        </p:nvSpPr>
        <p:spPr>
          <a:xfrm>
            <a:off x="11509625" y="0"/>
            <a:ext cx="455346" cy="6858000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37512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23452" y="0"/>
            <a:ext cx="455346" cy="6858000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37512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578333" y="3268844"/>
            <a:ext cx="993129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보안화 및 성능향상 적용 가명정보 결합 자동화 플랫폼 구축</a:t>
            </a:r>
          </a:p>
        </p:txBody>
      </p:sp>
      <p:sp>
        <p:nvSpPr>
          <p:cNvPr id="94" name="Google Shape;94;p1"/>
          <p:cNvSpPr/>
          <p:nvPr/>
        </p:nvSpPr>
        <p:spPr>
          <a:xfrm>
            <a:off x="1302473" y="1741533"/>
            <a:ext cx="989185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J: </a:t>
            </a:r>
            <a:r>
              <a:rPr lang="ko-KR" sz="6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캡스톤</a:t>
            </a:r>
            <a:r>
              <a:rPr lang="ko-KR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디자인</a:t>
            </a:r>
            <a:r>
              <a:rPr lang="en-US" altLang="ko-KR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ko-KR" alt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계획 발표</a:t>
            </a:r>
            <a:endParaRPr dirty="0"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0287177" y="5573931"/>
            <a:ext cx="231934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20201753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장재혁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20211868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권정은</a:t>
            </a:r>
            <a:endParaRPr sz="1400" b="1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2FE84-C432-E5AE-B926-D9FF01263E89}"/>
              </a:ext>
            </a:extLst>
          </p:cNvPr>
          <p:cNvSpPr txBox="1"/>
          <p:nvPr/>
        </p:nvSpPr>
        <p:spPr>
          <a:xfrm>
            <a:off x="4318000" y="49276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  <a:p>
            <a:endParaRPr kumimoji="1" lang="ko-KR" altLang="en-US" dirty="0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662DAD85-BA01-861B-BB06-41FE15223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E79C57-250D-0425-6ED7-FD050E7E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2"/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4E7D4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D63623-9AC2-D19D-7E11-A4C2C918B7BD}"/>
              </a:ext>
            </a:extLst>
          </p:cNvPr>
          <p:cNvGrpSpPr/>
          <p:nvPr/>
        </p:nvGrpSpPr>
        <p:grpSpPr>
          <a:xfrm>
            <a:off x="3578343" y="1460730"/>
            <a:ext cx="5055203" cy="933086"/>
            <a:chOff x="5085407" y="1172863"/>
            <a:chExt cx="5055203" cy="933086"/>
          </a:xfrm>
        </p:grpSpPr>
        <p:sp>
          <p:nvSpPr>
            <p:cNvPr id="107" name="Google Shape;107;p2"/>
            <p:cNvSpPr/>
            <p:nvPr/>
          </p:nvSpPr>
          <p:spPr>
            <a:xfrm>
              <a:off x="5085407" y="1172863"/>
              <a:ext cx="904222" cy="933086"/>
            </a:xfrm>
            <a:prstGeom prst="ellipse">
              <a:avLst/>
            </a:prstGeom>
            <a:solidFill>
              <a:srgbClr val="F2EE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2E224A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95AEA0B-B24E-B5BA-CEA1-87DC8D0BB934}"/>
                </a:ext>
              </a:extLst>
            </p:cNvPr>
            <p:cNvGrpSpPr/>
            <p:nvPr/>
          </p:nvGrpSpPr>
          <p:grpSpPr>
            <a:xfrm>
              <a:off x="5412480" y="1173651"/>
              <a:ext cx="4728130" cy="797615"/>
              <a:chOff x="5412480" y="1173651"/>
              <a:chExt cx="4728130" cy="797615"/>
            </a:xfrm>
          </p:grpSpPr>
          <p:grpSp>
            <p:nvGrpSpPr>
              <p:cNvPr id="108" name="Google Shape;108;p2"/>
              <p:cNvGrpSpPr/>
              <p:nvPr/>
            </p:nvGrpSpPr>
            <p:grpSpPr>
              <a:xfrm>
                <a:off x="5412480" y="1457706"/>
                <a:ext cx="250076" cy="344134"/>
                <a:chOff x="3471472" y="902398"/>
                <a:chExt cx="295275" cy="393763"/>
              </a:xfrm>
            </p:grpSpPr>
            <p:sp>
              <p:nvSpPr>
                <p:cNvPr id="109" name="Google Shape;109;p2"/>
                <p:cNvSpPr/>
                <p:nvPr/>
              </p:nvSpPr>
              <p:spPr>
                <a:xfrm>
                  <a:off x="3549482" y="902398"/>
                  <a:ext cx="1428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6200" extrusionOk="0">
                      <a:moveTo>
                        <a:pt x="107442" y="7144"/>
                      </a:moveTo>
                      <a:lnTo>
                        <a:pt x="40577" y="7144"/>
                      </a:lnTo>
                      <a:cubicBezTo>
                        <a:pt x="22098" y="7144"/>
                        <a:pt x="7144" y="22098"/>
                        <a:pt x="7144" y="40577"/>
                      </a:cubicBezTo>
                      <a:cubicBezTo>
                        <a:pt x="7144" y="59055"/>
                        <a:pt x="22098" y="74009"/>
                        <a:pt x="40577" y="74009"/>
                      </a:cubicBezTo>
                      <a:lnTo>
                        <a:pt x="107442" y="74009"/>
                      </a:lnTo>
                      <a:cubicBezTo>
                        <a:pt x="125921" y="74009"/>
                        <a:pt x="140875" y="59055"/>
                        <a:pt x="140875" y="40577"/>
                      </a:cubicBezTo>
                      <a:cubicBezTo>
                        <a:pt x="140875" y="22098"/>
                        <a:pt x="125825" y="7144"/>
                        <a:pt x="107442" y="714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 Black"/>
                    <a:ea typeface="Poppins Black"/>
                    <a:cs typeface="Poppins Black"/>
                    <a:sym typeface="Poppins Black"/>
                  </a:endParaRPr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3471472" y="924686"/>
                  <a:ext cx="2952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" h="371475" extrusionOk="0">
                      <a:moveTo>
                        <a:pt x="263462" y="7144"/>
                      </a:moveTo>
                      <a:lnTo>
                        <a:pt x="240030" y="7144"/>
                      </a:lnTo>
                      <a:cubicBezTo>
                        <a:pt x="240792" y="10763"/>
                        <a:pt x="241173" y="14478"/>
                        <a:pt x="241173" y="18288"/>
                      </a:cubicBezTo>
                      <a:cubicBezTo>
                        <a:pt x="241173" y="49054"/>
                        <a:pt x="216218" y="74009"/>
                        <a:pt x="185452" y="74009"/>
                      </a:cubicBezTo>
                      <a:lnTo>
                        <a:pt x="118586" y="74009"/>
                      </a:lnTo>
                      <a:cubicBezTo>
                        <a:pt x="87821" y="74009"/>
                        <a:pt x="62865" y="49054"/>
                        <a:pt x="62865" y="18288"/>
                      </a:cubicBezTo>
                      <a:cubicBezTo>
                        <a:pt x="62865" y="14478"/>
                        <a:pt x="63246" y="10763"/>
                        <a:pt x="64008" y="7144"/>
                      </a:cubicBezTo>
                      <a:lnTo>
                        <a:pt x="40577" y="7144"/>
                      </a:lnTo>
                      <a:cubicBezTo>
                        <a:pt x="22098" y="7144"/>
                        <a:pt x="7144" y="22098"/>
                        <a:pt x="7144" y="40577"/>
                      </a:cubicBezTo>
                      <a:lnTo>
                        <a:pt x="7144" y="331851"/>
                      </a:lnTo>
                      <a:cubicBezTo>
                        <a:pt x="7144" y="350330"/>
                        <a:pt x="22098" y="365284"/>
                        <a:pt x="40577" y="365284"/>
                      </a:cubicBezTo>
                      <a:lnTo>
                        <a:pt x="263462" y="365284"/>
                      </a:lnTo>
                      <a:cubicBezTo>
                        <a:pt x="281940" y="365284"/>
                        <a:pt x="296894" y="350330"/>
                        <a:pt x="296894" y="331851"/>
                      </a:cubicBezTo>
                      <a:lnTo>
                        <a:pt x="296894" y="40577"/>
                      </a:lnTo>
                      <a:cubicBezTo>
                        <a:pt x="296894" y="22098"/>
                        <a:pt x="281845" y="7144"/>
                        <a:pt x="263462" y="7144"/>
                      </a:cubicBezTo>
                      <a:close/>
                      <a:moveTo>
                        <a:pt x="115253" y="295085"/>
                      </a:moveTo>
                      <a:lnTo>
                        <a:pt x="81820" y="328517"/>
                      </a:lnTo>
                      <a:cubicBezTo>
                        <a:pt x="77438" y="332899"/>
                        <a:pt x="70390" y="332899"/>
                        <a:pt x="66104" y="328517"/>
                      </a:cubicBezTo>
                      <a:lnTo>
                        <a:pt x="54959" y="317373"/>
                      </a:lnTo>
                      <a:cubicBezTo>
                        <a:pt x="50578" y="312992"/>
                        <a:pt x="50578" y="305943"/>
                        <a:pt x="54959" y="301657"/>
                      </a:cubicBezTo>
                      <a:cubicBezTo>
                        <a:pt x="59341" y="297275"/>
                        <a:pt x="66389" y="297275"/>
                        <a:pt x="70676" y="301657"/>
                      </a:cubicBezTo>
                      <a:lnTo>
                        <a:pt x="73914" y="304895"/>
                      </a:lnTo>
                      <a:lnTo>
                        <a:pt x="99441" y="279368"/>
                      </a:lnTo>
                      <a:cubicBezTo>
                        <a:pt x="103822" y="274987"/>
                        <a:pt x="110871" y="274987"/>
                        <a:pt x="115157" y="279368"/>
                      </a:cubicBezTo>
                      <a:cubicBezTo>
                        <a:pt x="119634" y="283750"/>
                        <a:pt x="119634" y="290798"/>
                        <a:pt x="115253" y="295085"/>
                      </a:cubicBezTo>
                      <a:close/>
                      <a:moveTo>
                        <a:pt x="115253" y="205264"/>
                      </a:moveTo>
                      <a:lnTo>
                        <a:pt x="81820" y="238697"/>
                      </a:lnTo>
                      <a:cubicBezTo>
                        <a:pt x="77438" y="243078"/>
                        <a:pt x="70390" y="243078"/>
                        <a:pt x="66104" y="238697"/>
                      </a:cubicBezTo>
                      <a:lnTo>
                        <a:pt x="54959" y="227552"/>
                      </a:lnTo>
                      <a:cubicBezTo>
                        <a:pt x="50578" y="223171"/>
                        <a:pt x="50578" y="216122"/>
                        <a:pt x="54959" y="211836"/>
                      </a:cubicBezTo>
                      <a:cubicBezTo>
                        <a:pt x="59341" y="207455"/>
                        <a:pt x="66389" y="207455"/>
                        <a:pt x="70676" y="211836"/>
                      </a:cubicBezTo>
                      <a:lnTo>
                        <a:pt x="73914" y="215075"/>
                      </a:lnTo>
                      <a:lnTo>
                        <a:pt x="99441" y="189548"/>
                      </a:lnTo>
                      <a:cubicBezTo>
                        <a:pt x="103822" y="185166"/>
                        <a:pt x="110871" y="185166"/>
                        <a:pt x="115157" y="189548"/>
                      </a:cubicBezTo>
                      <a:cubicBezTo>
                        <a:pt x="119634" y="193834"/>
                        <a:pt x="119634" y="200882"/>
                        <a:pt x="115253" y="205264"/>
                      </a:cubicBezTo>
                      <a:close/>
                      <a:moveTo>
                        <a:pt x="115253" y="115348"/>
                      </a:moveTo>
                      <a:lnTo>
                        <a:pt x="81820" y="148781"/>
                      </a:lnTo>
                      <a:cubicBezTo>
                        <a:pt x="79629" y="150971"/>
                        <a:pt x="76771" y="152019"/>
                        <a:pt x="73914" y="152019"/>
                      </a:cubicBezTo>
                      <a:cubicBezTo>
                        <a:pt x="71056" y="152019"/>
                        <a:pt x="68199" y="150971"/>
                        <a:pt x="66008" y="148781"/>
                      </a:cubicBezTo>
                      <a:lnTo>
                        <a:pt x="54864" y="137636"/>
                      </a:lnTo>
                      <a:cubicBezTo>
                        <a:pt x="50483" y="133255"/>
                        <a:pt x="50483" y="126206"/>
                        <a:pt x="54864" y="121920"/>
                      </a:cubicBezTo>
                      <a:cubicBezTo>
                        <a:pt x="59246" y="117539"/>
                        <a:pt x="66294" y="117539"/>
                        <a:pt x="70580" y="121920"/>
                      </a:cubicBezTo>
                      <a:lnTo>
                        <a:pt x="73819" y="125159"/>
                      </a:lnTo>
                      <a:lnTo>
                        <a:pt x="99346" y="99632"/>
                      </a:lnTo>
                      <a:cubicBezTo>
                        <a:pt x="103727" y="95250"/>
                        <a:pt x="110776" y="95250"/>
                        <a:pt x="115062" y="99632"/>
                      </a:cubicBezTo>
                      <a:cubicBezTo>
                        <a:pt x="119634" y="103918"/>
                        <a:pt x="119634" y="110966"/>
                        <a:pt x="115253" y="115348"/>
                      </a:cubicBezTo>
                      <a:close/>
                      <a:moveTo>
                        <a:pt x="241173" y="320707"/>
                      </a:moveTo>
                      <a:lnTo>
                        <a:pt x="152019" y="320707"/>
                      </a:lnTo>
                      <a:cubicBezTo>
                        <a:pt x="145828" y="320707"/>
                        <a:pt x="140875" y="315754"/>
                        <a:pt x="140875" y="309563"/>
                      </a:cubicBezTo>
                      <a:cubicBezTo>
                        <a:pt x="140875" y="303371"/>
                        <a:pt x="145828" y="298418"/>
                        <a:pt x="152019" y="298418"/>
                      </a:cubicBezTo>
                      <a:lnTo>
                        <a:pt x="241173" y="298418"/>
                      </a:lnTo>
                      <a:cubicBezTo>
                        <a:pt x="247364" y="298418"/>
                        <a:pt x="252317" y="303371"/>
                        <a:pt x="252317" y="309563"/>
                      </a:cubicBezTo>
                      <a:cubicBezTo>
                        <a:pt x="252317" y="315754"/>
                        <a:pt x="247269" y="320707"/>
                        <a:pt x="241173" y="320707"/>
                      </a:cubicBezTo>
                      <a:close/>
                      <a:moveTo>
                        <a:pt x="241173" y="230791"/>
                      </a:moveTo>
                      <a:lnTo>
                        <a:pt x="152019" y="230791"/>
                      </a:lnTo>
                      <a:cubicBezTo>
                        <a:pt x="145828" y="230791"/>
                        <a:pt x="140875" y="225838"/>
                        <a:pt x="140875" y="219647"/>
                      </a:cubicBezTo>
                      <a:cubicBezTo>
                        <a:pt x="140875" y="213455"/>
                        <a:pt x="145828" y="208502"/>
                        <a:pt x="152019" y="208502"/>
                      </a:cubicBezTo>
                      <a:lnTo>
                        <a:pt x="241173" y="208502"/>
                      </a:lnTo>
                      <a:cubicBezTo>
                        <a:pt x="247364" y="208502"/>
                        <a:pt x="252317" y="213455"/>
                        <a:pt x="252317" y="219647"/>
                      </a:cubicBezTo>
                      <a:cubicBezTo>
                        <a:pt x="252317" y="225838"/>
                        <a:pt x="247269" y="230791"/>
                        <a:pt x="241173" y="230791"/>
                      </a:cubicBezTo>
                      <a:close/>
                      <a:moveTo>
                        <a:pt x="241173" y="140875"/>
                      </a:moveTo>
                      <a:lnTo>
                        <a:pt x="152019" y="140875"/>
                      </a:lnTo>
                      <a:cubicBezTo>
                        <a:pt x="145828" y="140875"/>
                        <a:pt x="140875" y="135922"/>
                        <a:pt x="140875" y="129731"/>
                      </a:cubicBezTo>
                      <a:cubicBezTo>
                        <a:pt x="140875" y="123539"/>
                        <a:pt x="145828" y="118586"/>
                        <a:pt x="152019" y="118586"/>
                      </a:cubicBezTo>
                      <a:lnTo>
                        <a:pt x="241173" y="118586"/>
                      </a:lnTo>
                      <a:cubicBezTo>
                        <a:pt x="247364" y="118586"/>
                        <a:pt x="252317" y="123539"/>
                        <a:pt x="252317" y="129731"/>
                      </a:cubicBezTo>
                      <a:cubicBezTo>
                        <a:pt x="252317" y="135922"/>
                        <a:pt x="247269" y="140875"/>
                        <a:pt x="241173" y="1408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 Black"/>
                    <a:ea typeface="Poppins Black"/>
                    <a:cs typeface="Poppins Black"/>
                    <a:sym typeface="Poppins Black"/>
                  </a:endParaRPr>
                </a:p>
              </p:txBody>
            </p:sp>
          </p:grpSp>
          <p:sp>
            <p:nvSpPr>
              <p:cNvPr id="111" name="Google Shape;111;p2"/>
              <p:cNvSpPr txBox="1"/>
              <p:nvPr/>
            </p:nvSpPr>
            <p:spPr>
              <a:xfrm>
                <a:off x="6202940" y="1540419"/>
                <a:ext cx="3937670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28600" marR="0" lvl="0" indent="-2286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AutoNum type="arabicParenR"/>
                </a:pPr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배경</a:t>
                </a:r>
                <a:endParaRPr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228600" marR="0" lvl="0" indent="-2286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AutoNum type="arabicParenR"/>
                </a:pPr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필요성</a:t>
                </a:r>
                <a:endParaRPr lang="en-US" altLang="ko-KR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6202938" y="1173651"/>
                <a:ext cx="392913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b="1" dirty="0">
                    <a:solidFill>
                      <a:schemeClr val="dk1"/>
                    </a:solidFill>
                    <a:latin typeface="Arial"/>
                    <a:cs typeface="Arial"/>
                    <a:sym typeface="Arial"/>
                  </a:rPr>
                  <a:t>프로젝트 개요</a:t>
                </a:r>
                <a:endParaRPr dirty="0"/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9355823-BBB4-7A74-B677-607662F7AAD2}"/>
              </a:ext>
            </a:extLst>
          </p:cNvPr>
          <p:cNvGrpSpPr/>
          <p:nvPr/>
        </p:nvGrpSpPr>
        <p:grpSpPr>
          <a:xfrm>
            <a:off x="3623047" y="2911583"/>
            <a:ext cx="5055203" cy="969456"/>
            <a:chOff x="5130111" y="2623716"/>
            <a:chExt cx="5055203" cy="969456"/>
          </a:xfrm>
        </p:grpSpPr>
        <p:sp>
          <p:nvSpPr>
            <p:cNvPr id="113" name="Google Shape;113;p2"/>
            <p:cNvSpPr/>
            <p:nvPr/>
          </p:nvSpPr>
          <p:spPr>
            <a:xfrm>
              <a:off x="5130111" y="2623716"/>
              <a:ext cx="904222" cy="933086"/>
            </a:xfrm>
            <a:prstGeom prst="ellipse">
              <a:avLst/>
            </a:prstGeom>
            <a:solidFill>
              <a:srgbClr val="F2EE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2E224A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grpSp>
          <p:nvGrpSpPr>
            <p:cNvPr id="114" name="Google Shape;114;p2"/>
            <p:cNvGrpSpPr/>
            <p:nvPr/>
          </p:nvGrpSpPr>
          <p:grpSpPr>
            <a:xfrm>
              <a:off x="5409663" y="2910667"/>
              <a:ext cx="318614" cy="337268"/>
              <a:chOff x="2772242" y="1560385"/>
              <a:chExt cx="376198" cy="385905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2976990" y="156038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 extrusionOk="0">
                    <a:moveTo>
                      <a:pt x="171489" y="136684"/>
                    </a:moveTo>
                    <a:cubicBezTo>
                      <a:pt x="165203" y="99250"/>
                      <a:pt x="145867" y="66961"/>
                      <a:pt x="118626" y="43910"/>
                    </a:cubicBezTo>
                    <a:cubicBezTo>
                      <a:pt x="91384" y="20860"/>
                      <a:pt x="56237" y="7144"/>
                      <a:pt x="18328" y="7144"/>
                    </a:cubicBezTo>
                    <a:lnTo>
                      <a:pt x="18328" y="7144"/>
                    </a:lnTo>
                    <a:cubicBezTo>
                      <a:pt x="12136" y="7144"/>
                      <a:pt x="7183" y="12097"/>
                      <a:pt x="7183" y="18288"/>
                    </a:cubicBezTo>
                    <a:lnTo>
                      <a:pt x="7183" y="161735"/>
                    </a:lnTo>
                    <a:cubicBezTo>
                      <a:pt x="7088" y="162592"/>
                      <a:pt x="7183" y="163449"/>
                      <a:pt x="7279" y="164306"/>
                    </a:cubicBezTo>
                    <a:cubicBezTo>
                      <a:pt x="8326" y="170402"/>
                      <a:pt x="14041" y="174498"/>
                      <a:pt x="20137" y="173450"/>
                    </a:cubicBezTo>
                    <a:lnTo>
                      <a:pt x="162250" y="149447"/>
                    </a:lnTo>
                    <a:cubicBezTo>
                      <a:pt x="168346" y="148495"/>
                      <a:pt x="172537" y="142780"/>
                      <a:pt x="171489" y="1366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2830203" y="1774840"/>
                <a:ext cx="2381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71450" extrusionOk="0">
                    <a:moveTo>
                      <a:pt x="12143" y="110347"/>
                    </a:moveTo>
                    <a:cubicBezTo>
                      <a:pt x="4999" y="117491"/>
                      <a:pt x="5571" y="129302"/>
                      <a:pt x="13477" y="135684"/>
                    </a:cubicBezTo>
                    <a:cubicBezTo>
                      <a:pt x="43004" y="159306"/>
                      <a:pt x="80533" y="173593"/>
                      <a:pt x="121300" y="173593"/>
                    </a:cubicBezTo>
                    <a:lnTo>
                      <a:pt x="121300" y="173498"/>
                    </a:lnTo>
                    <a:lnTo>
                      <a:pt x="121395" y="173498"/>
                    </a:lnTo>
                    <a:cubicBezTo>
                      <a:pt x="160638" y="173498"/>
                      <a:pt x="199786" y="160163"/>
                      <a:pt x="231694" y="133588"/>
                    </a:cubicBezTo>
                    <a:cubicBezTo>
                      <a:pt x="238076" y="128254"/>
                      <a:pt x="238552" y="118539"/>
                      <a:pt x="232647" y="112633"/>
                    </a:cubicBezTo>
                    <a:lnTo>
                      <a:pt x="131301" y="11287"/>
                    </a:lnTo>
                    <a:cubicBezTo>
                      <a:pt x="125776" y="5763"/>
                      <a:pt x="116728" y="5763"/>
                      <a:pt x="111203" y="11287"/>
                    </a:cubicBezTo>
                    <a:lnTo>
                      <a:pt x="12143" y="11034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2986086" y="173964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 extrusionOk="0">
                    <a:moveTo>
                      <a:pt x="137058" y="18479"/>
                    </a:moveTo>
                    <a:cubicBezTo>
                      <a:pt x="136391" y="11906"/>
                      <a:pt x="130866" y="7144"/>
                      <a:pt x="124485" y="7144"/>
                    </a:cubicBezTo>
                    <a:cubicBezTo>
                      <a:pt x="123723" y="7144"/>
                      <a:pt x="122961" y="7239"/>
                      <a:pt x="122199" y="7334"/>
                    </a:cubicBezTo>
                    <a:lnTo>
                      <a:pt x="18757" y="26479"/>
                    </a:lnTo>
                    <a:cubicBezTo>
                      <a:pt x="7518" y="28575"/>
                      <a:pt x="3231" y="42386"/>
                      <a:pt x="11328" y="50483"/>
                    </a:cubicBezTo>
                    <a:lnTo>
                      <a:pt x="90195" y="129350"/>
                    </a:lnTo>
                    <a:cubicBezTo>
                      <a:pt x="96672" y="135827"/>
                      <a:pt x="107530" y="134493"/>
                      <a:pt x="112388" y="126683"/>
                    </a:cubicBezTo>
                    <a:cubicBezTo>
                      <a:pt x="121627" y="111728"/>
                      <a:pt x="128580" y="95250"/>
                      <a:pt x="132962" y="77819"/>
                    </a:cubicBezTo>
                    <a:cubicBezTo>
                      <a:pt x="133057" y="77533"/>
                      <a:pt x="133057" y="77248"/>
                      <a:pt x="133152" y="76962"/>
                    </a:cubicBezTo>
                    <a:cubicBezTo>
                      <a:pt x="134010" y="73533"/>
                      <a:pt x="134676" y="70104"/>
                      <a:pt x="135343" y="66580"/>
                    </a:cubicBezTo>
                    <a:cubicBezTo>
                      <a:pt x="138105" y="50959"/>
                      <a:pt x="138772" y="34862"/>
                      <a:pt x="137058" y="18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2772242" y="1597152"/>
                <a:ext cx="18097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76225" extrusionOk="0">
                    <a:moveTo>
                      <a:pt x="163449" y="162973"/>
                    </a:moveTo>
                    <a:lnTo>
                      <a:pt x="175070" y="151352"/>
                    </a:lnTo>
                    <a:cubicBezTo>
                      <a:pt x="177737" y="148685"/>
                      <a:pt x="179261" y="145066"/>
                      <a:pt x="179261" y="141351"/>
                    </a:cubicBezTo>
                    <a:lnTo>
                      <a:pt x="179261" y="19812"/>
                    </a:lnTo>
                    <a:cubicBezTo>
                      <a:pt x="179261" y="12763"/>
                      <a:pt x="173546" y="7144"/>
                      <a:pt x="166688" y="7144"/>
                    </a:cubicBezTo>
                    <a:cubicBezTo>
                      <a:pt x="166402" y="7144"/>
                      <a:pt x="166021" y="7144"/>
                      <a:pt x="165735" y="7144"/>
                    </a:cubicBezTo>
                    <a:cubicBezTo>
                      <a:pt x="76962" y="14097"/>
                      <a:pt x="7144" y="88297"/>
                      <a:pt x="7144" y="178784"/>
                    </a:cubicBezTo>
                    <a:cubicBezTo>
                      <a:pt x="7144" y="211931"/>
                      <a:pt x="16478" y="242888"/>
                      <a:pt x="32671" y="269081"/>
                    </a:cubicBezTo>
                    <a:cubicBezTo>
                      <a:pt x="37433" y="276892"/>
                      <a:pt x="48292" y="278035"/>
                      <a:pt x="54769" y="271558"/>
                    </a:cubicBezTo>
                    <a:lnTo>
                      <a:pt x="163449" y="16297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</p:grpSp>
        <p:sp>
          <p:nvSpPr>
            <p:cNvPr id="119" name="Google Shape;119;p2"/>
            <p:cNvSpPr txBox="1"/>
            <p:nvPr/>
          </p:nvSpPr>
          <p:spPr>
            <a:xfrm>
              <a:off x="6247644" y="2993048"/>
              <a:ext cx="3937670" cy="6001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프로젝트 목표</a:t>
              </a:r>
              <a:endParaRPr sz="110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변경사항</a:t>
              </a:r>
              <a:endParaRPr sz="110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247644" y="2623716"/>
              <a:ext cx="3929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Arial"/>
                  <a:cs typeface="Arial"/>
                  <a:sym typeface="Arial"/>
                </a:rPr>
                <a:t>프로젝트 목표  </a:t>
              </a:r>
              <a:endParaRPr dirty="0"/>
            </a:p>
          </p:txBody>
        </p:sp>
      </p:grpSp>
      <p:pic>
        <p:nvPicPr>
          <p:cNvPr id="130" name="Google Shape;13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7B2725-8951-5239-54E3-F0C135366C03}"/>
              </a:ext>
            </a:extLst>
          </p:cNvPr>
          <p:cNvGrpSpPr/>
          <p:nvPr/>
        </p:nvGrpSpPr>
        <p:grpSpPr>
          <a:xfrm>
            <a:off x="3623047" y="4239088"/>
            <a:ext cx="5063736" cy="1001732"/>
            <a:chOff x="5130111" y="3951221"/>
            <a:chExt cx="5063736" cy="1001732"/>
          </a:xfrm>
        </p:grpSpPr>
        <p:sp>
          <p:nvSpPr>
            <p:cNvPr id="121" name="Google Shape;121;p2"/>
            <p:cNvSpPr/>
            <p:nvPr/>
          </p:nvSpPr>
          <p:spPr>
            <a:xfrm>
              <a:off x="5130111" y="3951221"/>
              <a:ext cx="904222" cy="933086"/>
            </a:xfrm>
            <a:prstGeom prst="ellipse">
              <a:avLst/>
            </a:prstGeom>
            <a:solidFill>
              <a:srgbClr val="F2EE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2E224A"/>
                </a:solidFill>
                <a:latin typeface="Poppins Black"/>
                <a:ea typeface="Poppins Black"/>
                <a:cs typeface="Poppins Black"/>
                <a:sym typeface="Poppins Black"/>
              </a:endParaRPr>
            </a:p>
          </p:txBody>
        </p:sp>
        <p:grpSp>
          <p:nvGrpSpPr>
            <p:cNvPr id="122" name="Google Shape;122;p2"/>
            <p:cNvGrpSpPr/>
            <p:nvPr/>
          </p:nvGrpSpPr>
          <p:grpSpPr>
            <a:xfrm>
              <a:off x="5416849" y="4247111"/>
              <a:ext cx="330746" cy="341304"/>
              <a:chOff x="752656" y="1562597"/>
              <a:chExt cx="390525" cy="390525"/>
            </a:xfrm>
          </p:grpSpPr>
          <p:sp>
            <p:nvSpPr>
              <p:cNvPr id="123" name="Google Shape;123;p2"/>
              <p:cNvSpPr/>
              <p:nvPr/>
            </p:nvSpPr>
            <p:spPr>
              <a:xfrm>
                <a:off x="797621" y="1607153"/>
                <a:ext cx="2095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61925" extrusionOk="0">
                    <a:moveTo>
                      <a:pt x="26568" y="159925"/>
                    </a:moveTo>
                    <a:lnTo>
                      <a:pt x="85528" y="100965"/>
                    </a:lnTo>
                    <a:lnTo>
                      <a:pt x="102292" y="117729"/>
                    </a:lnTo>
                    <a:cubicBezTo>
                      <a:pt x="105340" y="120777"/>
                      <a:pt x="110388" y="120777"/>
                      <a:pt x="113437" y="117729"/>
                    </a:cubicBezTo>
                    <a:lnTo>
                      <a:pt x="185922" y="45244"/>
                    </a:lnTo>
                    <a:lnTo>
                      <a:pt x="185922" y="64770"/>
                    </a:lnTo>
                    <a:cubicBezTo>
                      <a:pt x="185922" y="67246"/>
                      <a:pt x="187065" y="69723"/>
                      <a:pt x="189065" y="71152"/>
                    </a:cubicBezTo>
                    <a:cubicBezTo>
                      <a:pt x="198209" y="77915"/>
                      <a:pt x="208210" y="71533"/>
                      <a:pt x="208210" y="62865"/>
                    </a:cubicBezTo>
                    <a:lnTo>
                      <a:pt x="208210" y="18288"/>
                    </a:lnTo>
                    <a:cubicBezTo>
                      <a:pt x="208210" y="12097"/>
                      <a:pt x="203162" y="7144"/>
                      <a:pt x="197066" y="7144"/>
                    </a:cubicBezTo>
                    <a:lnTo>
                      <a:pt x="150584" y="7144"/>
                    </a:lnTo>
                    <a:cubicBezTo>
                      <a:pt x="148107" y="7144"/>
                      <a:pt x="145631" y="8287"/>
                      <a:pt x="144202" y="10287"/>
                    </a:cubicBezTo>
                    <a:cubicBezTo>
                      <a:pt x="137439" y="19431"/>
                      <a:pt x="143821" y="29432"/>
                      <a:pt x="152489" y="29432"/>
                    </a:cubicBezTo>
                    <a:lnTo>
                      <a:pt x="170205" y="29432"/>
                    </a:lnTo>
                    <a:lnTo>
                      <a:pt x="107912" y="91726"/>
                    </a:lnTo>
                    <a:lnTo>
                      <a:pt x="91148" y="74962"/>
                    </a:lnTo>
                    <a:cubicBezTo>
                      <a:pt x="88100" y="71914"/>
                      <a:pt x="83052" y="71914"/>
                      <a:pt x="80004" y="74962"/>
                    </a:cubicBezTo>
                    <a:lnTo>
                      <a:pt x="9519" y="145447"/>
                    </a:lnTo>
                    <a:cubicBezTo>
                      <a:pt x="7709" y="147256"/>
                      <a:pt x="6852" y="149733"/>
                      <a:pt x="7233" y="152209"/>
                    </a:cubicBezTo>
                    <a:cubicBezTo>
                      <a:pt x="8852" y="163544"/>
                      <a:pt x="20377" y="166116"/>
                      <a:pt x="26568" y="1599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797995" y="1807749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 extrusionOk="0">
                    <a:moveTo>
                      <a:pt x="18288" y="97822"/>
                    </a:moveTo>
                    <a:lnTo>
                      <a:pt x="85154" y="97822"/>
                    </a:lnTo>
                    <a:cubicBezTo>
                      <a:pt x="91345" y="97822"/>
                      <a:pt x="96298" y="92869"/>
                      <a:pt x="96298" y="86677"/>
                    </a:cubicBezTo>
                    <a:lnTo>
                      <a:pt x="96298" y="18288"/>
                    </a:lnTo>
                    <a:cubicBezTo>
                      <a:pt x="96298" y="12097"/>
                      <a:pt x="91345" y="7144"/>
                      <a:pt x="85154" y="7144"/>
                    </a:cubicBezTo>
                    <a:lnTo>
                      <a:pt x="18288" y="7144"/>
                    </a:lnTo>
                    <a:cubicBezTo>
                      <a:pt x="12097" y="7144"/>
                      <a:pt x="7144" y="12097"/>
                      <a:pt x="7144" y="18288"/>
                    </a:cubicBezTo>
                    <a:lnTo>
                      <a:pt x="7144" y="86677"/>
                    </a:lnTo>
                    <a:cubicBezTo>
                      <a:pt x="7144" y="92773"/>
                      <a:pt x="12097" y="97822"/>
                      <a:pt x="18288" y="978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909438" y="1740884"/>
                <a:ext cx="952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1450" extrusionOk="0">
                    <a:moveTo>
                      <a:pt x="85153" y="7144"/>
                    </a:moveTo>
                    <a:lnTo>
                      <a:pt x="18288" y="7144"/>
                    </a:lnTo>
                    <a:cubicBezTo>
                      <a:pt x="12097" y="7144"/>
                      <a:pt x="7144" y="12097"/>
                      <a:pt x="7144" y="18288"/>
                    </a:cubicBezTo>
                    <a:lnTo>
                      <a:pt x="7144" y="153543"/>
                    </a:lnTo>
                    <a:cubicBezTo>
                      <a:pt x="7144" y="159734"/>
                      <a:pt x="12097" y="164687"/>
                      <a:pt x="18288" y="164687"/>
                    </a:cubicBezTo>
                    <a:lnTo>
                      <a:pt x="85153" y="164687"/>
                    </a:lnTo>
                    <a:cubicBezTo>
                      <a:pt x="91345" y="164687"/>
                      <a:pt x="96298" y="159734"/>
                      <a:pt x="96298" y="153543"/>
                    </a:cubicBezTo>
                    <a:lnTo>
                      <a:pt x="96298" y="18288"/>
                    </a:lnTo>
                    <a:cubicBezTo>
                      <a:pt x="96298" y="12192"/>
                      <a:pt x="91345" y="7144"/>
                      <a:pt x="85153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998589" y="1607534"/>
                <a:ext cx="14287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04800" extrusionOk="0">
                    <a:moveTo>
                      <a:pt x="18291" y="118205"/>
                    </a:moveTo>
                    <a:lnTo>
                      <a:pt x="29435" y="118205"/>
                    </a:lnTo>
                    <a:lnTo>
                      <a:pt x="29435" y="286893"/>
                    </a:lnTo>
                    <a:cubicBezTo>
                      <a:pt x="29435" y="293084"/>
                      <a:pt x="34388" y="298037"/>
                      <a:pt x="40580" y="298037"/>
                    </a:cubicBezTo>
                    <a:lnTo>
                      <a:pt x="108207" y="298037"/>
                    </a:lnTo>
                    <a:cubicBezTo>
                      <a:pt x="114398" y="298037"/>
                      <a:pt x="119352" y="293084"/>
                      <a:pt x="119352" y="286893"/>
                    </a:cubicBezTo>
                    <a:lnTo>
                      <a:pt x="119352" y="118205"/>
                    </a:lnTo>
                    <a:lnTo>
                      <a:pt x="130496" y="118205"/>
                    </a:lnTo>
                    <a:cubicBezTo>
                      <a:pt x="134591" y="118205"/>
                      <a:pt x="138306" y="116014"/>
                      <a:pt x="140211" y="112490"/>
                    </a:cubicBezTo>
                    <a:cubicBezTo>
                      <a:pt x="142212" y="108966"/>
                      <a:pt x="142021" y="104585"/>
                      <a:pt x="139926" y="101156"/>
                    </a:cubicBezTo>
                    <a:lnTo>
                      <a:pt x="83442" y="12002"/>
                    </a:lnTo>
                    <a:cubicBezTo>
                      <a:pt x="79346" y="5524"/>
                      <a:pt x="68583" y="5524"/>
                      <a:pt x="64583" y="12002"/>
                    </a:cubicBezTo>
                    <a:lnTo>
                      <a:pt x="8861" y="101156"/>
                    </a:lnTo>
                    <a:cubicBezTo>
                      <a:pt x="6671" y="104585"/>
                      <a:pt x="6575" y="108966"/>
                      <a:pt x="8576" y="112490"/>
                    </a:cubicBezTo>
                    <a:cubicBezTo>
                      <a:pt x="10481" y="116014"/>
                      <a:pt x="14291" y="118205"/>
                      <a:pt x="18291" y="11820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752656" y="1562597"/>
                <a:ext cx="390525" cy="390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390525" extrusionOk="0">
                    <a:moveTo>
                      <a:pt x="376142" y="365262"/>
                    </a:moveTo>
                    <a:lnTo>
                      <a:pt x="29432" y="365262"/>
                    </a:lnTo>
                    <a:lnTo>
                      <a:pt x="29432" y="18552"/>
                    </a:lnTo>
                    <a:cubicBezTo>
                      <a:pt x="29432" y="12837"/>
                      <a:pt x="25241" y="7789"/>
                      <a:pt x="19526" y="7218"/>
                    </a:cubicBezTo>
                    <a:cubicBezTo>
                      <a:pt x="12764" y="6456"/>
                      <a:pt x="7144" y="11694"/>
                      <a:pt x="7144" y="18267"/>
                    </a:cubicBezTo>
                    <a:lnTo>
                      <a:pt x="7144" y="376407"/>
                    </a:lnTo>
                    <a:cubicBezTo>
                      <a:pt x="7144" y="382598"/>
                      <a:pt x="12097" y="387551"/>
                      <a:pt x="18288" y="387551"/>
                    </a:cubicBezTo>
                    <a:lnTo>
                      <a:pt x="376428" y="387551"/>
                    </a:lnTo>
                    <a:cubicBezTo>
                      <a:pt x="383000" y="387551"/>
                      <a:pt x="388239" y="381836"/>
                      <a:pt x="387477" y="375168"/>
                    </a:cubicBezTo>
                    <a:cubicBezTo>
                      <a:pt x="386906" y="369453"/>
                      <a:pt x="381857" y="365262"/>
                      <a:pt x="376142" y="3652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endParaRPr>
              </a:p>
            </p:txBody>
          </p:sp>
        </p:grpSp>
        <p:sp>
          <p:nvSpPr>
            <p:cNvPr id="128" name="Google Shape;128;p2"/>
            <p:cNvSpPr/>
            <p:nvPr/>
          </p:nvSpPr>
          <p:spPr>
            <a:xfrm>
              <a:off x="6256177" y="3997275"/>
              <a:ext cx="39291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Arial"/>
                  <a:cs typeface="Arial"/>
                  <a:sym typeface="Arial"/>
                </a:rPr>
                <a:t>결론</a:t>
              </a:r>
              <a:endParaRPr dirty="0"/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6256177" y="4352829"/>
              <a:ext cx="3937670" cy="6001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</a:pPr>
              <a:endParaRPr lang="ko-KR" altLang="en-US" sz="110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r>
                <a: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기대효과</a:t>
              </a:r>
            </a:p>
            <a:p>
              <a:pPr marL="228600" marR="0" lvl="0" indent="-2286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arenR"/>
              </a:pPr>
              <a:endParaRPr lang="ko-KR" altLang="en-US" sz="1100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E7C70DE-7281-0195-9ECF-8FF3EA2425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93662-07DE-48E2-95CA-1C3E219E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B898E669-AB9B-D2AB-F323-F5D90FE0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모서리가 둥근 직사각형 62">
            <a:extLst>
              <a:ext uri="{FF2B5EF4-FFF2-40B4-BE49-F238E27FC236}">
                <a16:creationId xmlns:a16="http://schemas.microsoft.com/office/drawing/2014/main" id="{BCB7236D-A3D8-E3F2-5ED9-26AD0B9C8F52}"/>
              </a:ext>
            </a:extLst>
          </p:cNvPr>
          <p:cNvSpPr/>
          <p:nvPr/>
        </p:nvSpPr>
        <p:spPr>
          <a:xfrm>
            <a:off x="888647" y="1295049"/>
            <a:ext cx="10441539" cy="4892654"/>
          </a:xfrm>
          <a:prstGeom prst="roundRect">
            <a:avLst>
              <a:gd name="adj" fmla="val 31311"/>
            </a:avLst>
          </a:prstGeom>
          <a:solidFill>
            <a:srgbClr val="FEF5E7">
              <a:alpha val="246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9" name="모서리가 둥근 직사각형 128">
            <a:extLst>
              <a:ext uri="{FF2B5EF4-FFF2-40B4-BE49-F238E27FC236}">
                <a16:creationId xmlns:a16="http://schemas.microsoft.com/office/drawing/2014/main" id="{ED71B2F5-87F3-707A-2A2C-349916CA201A}"/>
              </a:ext>
            </a:extLst>
          </p:cNvPr>
          <p:cNvSpPr/>
          <p:nvPr/>
        </p:nvSpPr>
        <p:spPr>
          <a:xfrm>
            <a:off x="3141506" y="1981064"/>
            <a:ext cx="2323231" cy="673534"/>
          </a:xfrm>
          <a:prstGeom prst="roundRect">
            <a:avLst>
              <a:gd name="adj" fmla="val 50000"/>
            </a:avLst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63C52FAC-F55D-90D0-7D0C-3B894EEF16F9}"/>
              </a:ext>
            </a:extLst>
          </p:cNvPr>
          <p:cNvSpPr/>
          <p:nvPr/>
        </p:nvSpPr>
        <p:spPr>
          <a:xfrm>
            <a:off x="7303518" y="3293678"/>
            <a:ext cx="2694595" cy="673534"/>
          </a:xfrm>
          <a:prstGeom prst="roundRect">
            <a:avLst>
              <a:gd name="adj" fmla="val 50000"/>
            </a:avLst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1" name="모서리가 둥근 직사각형 130">
            <a:extLst>
              <a:ext uri="{FF2B5EF4-FFF2-40B4-BE49-F238E27FC236}">
                <a16:creationId xmlns:a16="http://schemas.microsoft.com/office/drawing/2014/main" id="{0E282298-5D4E-09CC-C7D2-A78AB3FB5B07}"/>
              </a:ext>
            </a:extLst>
          </p:cNvPr>
          <p:cNvSpPr/>
          <p:nvPr/>
        </p:nvSpPr>
        <p:spPr>
          <a:xfrm>
            <a:off x="2736653" y="4398462"/>
            <a:ext cx="2719491" cy="673534"/>
          </a:xfrm>
          <a:prstGeom prst="roundRect">
            <a:avLst>
              <a:gd name="adj" fmla="val 50000"/>
            </a:avLst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A92EF697-A8AD-E6E3-6A81-C2DCF5A27374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587A751B-3DDF-797E-AA7D-72D1550F5A76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5DD766CB-3DB8-ABDB-3F81-7275C5E212C1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BE8F7A2A-3A1A-ABD8-D5DF-8F79AB3EC8C5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8A9202B7-E16B-B7B1-68CB-953A9EFF8656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개요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배경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1D0E6861-6D5C-9B9F-D155-A612651A7A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EEBA2F1-FE26-0F82-1F8E-1CACBDA83E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961F21CE-5BD6-CDA3-3BB2-9641D661B2CD}"/>
              </a:ext>
            </a:extLst>
          </p:cNvPr>
          <p:cNvSpPr/>
          <p:nvPr/>
        </p:nvSpPr>
        <p:spPr>
          <a:xfrm>
            <a:off x="1378253" y="1305842"/>
            <a:ext cx="5436289" cy="4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가명정보의 등장 배경 및 법적 기반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835F42F6-F1B7-FC6D-DB8B-AECA0B8A5115}"/>
              </a:ext>
            </a:extLst>
          </p:cNvPr>
          <p:cNvSpPr/>
          <p:nvPr/>
        </p:nvSpPr>
        <p:spPr>
          <a:xfrm>
            <a:off x="6370322" y="2035662"/>
            <a:ext cx="45719" cy="3946118"/>
          </a:xfrm>
          <a:prstGeom prst="roundRect">
            <a:avLst>
              <a:gd name="adj" fmla="val 11162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D3ACF61D-5F21-0FBC-FA7C-8B0D8FDB8F9B}"/>
              </a:ext>
            </a:extLst>
          </p:cNvPr>
          <p:cNvSpPr/>
          <p:nvPr/>
        </p:nvSpPr>
        <p:spPr>
          <a:xfrm>
            <a:off x="5480450" y="227557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3531B1E5-CE3E-090A-BF42-20FD69B37394}"/>
              </a:ext>
            </a:extLst>
          </p:cNvPr>
          <p:cNvSpPr/>
          <p:nvPr/>
        </p:nvSpPr>
        <p:spPr>
          <a:xfrm>
            <a:off x="6130412" y="20356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DF1929BC-2D1E-1087-1283-55D5BB18DD10}"/>
              </a:ext>
            </a:extLst>
          </p:cNvPr>
          <p:cNvSpPr/>
          <p:nvPr/>
        </p:nvSpPr>
        <p:spPr>
          <a:xfrm>
            <a:off x="6227818" y="215324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0360D468-553B-670E-8A8A-166DFE3706D5}"/>
              </a:ext>
            </a:extLst>
          </p:cNvPr>
          <p:cNvSpPr/>
          <p:nvPr/>
        </p:nvSpPr>
        <p:spPr>
          <a:xfrm>
            <a:off x="6610234" y="3636457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648C4381-FB2B-3595-F7D4-099E2C6FB3AE}"/>
              </a:ext>
            </a:extLst>
          </p:cNvPr>
          <p:cNvSpPr/>
          <p:nvPr/>
        </p:nvSpPr>
        <p:spPr>
          <a:xfrm>
            <a:off x="6130412" y="33965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2B991061-3DA7-1601-310B-4C6852BDEBA1}"/>
              </a:ext>
            </a:extLst>
          </p:cNvPr>
          <p:cNvSpPr/>
          <p:nvPr/>
        </p:nvSpPr>
        <p:spPr>
          <a:xfrm>
            <a:off x="6215482" y="35145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43C6644B-F145-72D5-7B05-C1B9655C150B}"/>
              </a:ext>
            </a:extLst>
          </p:cNvPr>
          <p:cNvSpPr/>
          <p:nvPr/>
        </p:nvSpPr>
        <p:spPr>
          <a:xfrm>
            <a:off x="5480450" y="472744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100B799D-2DFE-3098-3313-1F22C69E03FD}"/>
              </a:ext>
            </a:extLst>
          </p:cNvPr>
          <p:cNvSpPr/>
          <p:nvPr/>
        </p:nvSpPr>
        <p:spPr>
          <a:xfrm>
            <a:off x="6130412" y="44875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6723679A-B565-0016-DBDE-43589CD318DA}"/>
              </a:ext>
            </a:extLst>
          </p:cNvPr>
          <p:cNvSpPr/>
          <p:nvPr/>
        </p:nvSpPr>
        <p:spPr>
          <a:xfrm>
            <a:off x="6230722" y="459370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92A38F91-3A0C-EA51-B09A-0CB9B9C87A78}"/>
              </a:ext>
            </a:extLst>
          </p:cNvPr>
          <p:cNvSpPr/>
          <p:nvPr/>
        </p:nvSpPr>
        <p:spPr>
          <a:xfrm>
            <a:off x="2422747" y="2132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데이터3법 도입</a:t>
            </a:r>
            <a:endParaRPr lang="en-US" sz="2200" dirty="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0B59539E-0859-D60D-56A4-3C5ADEF31A0E}"/>
              </a:ext>
            </a:extLst>
          </p:cNvPr>
          <p:cNvSpPr/>
          <p:nvPr/>
        </p:nvSpPr>
        <p:spPr>
          <a:xfrm>
            <a:off x="7496231" y="34897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가명정보 개념 도입</a:t>
            </a:r>
            <a:endParaRPr lang="en-US" sz="2200" dirty="0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B9E6F590-CFC0-35C2-8901-FAB11ED47DC7}"/>
              </a:ext>
            </a:extLst>
          </p:cNvPr>
          <p:cNvSpPr/>
          <p:nvPr/>
        </p:nvSpPr>
        <p:spPr>
          <a:xfrm>
            <a:off x="2507817" y="4611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동의 없는 활용 허용</a:t>
            </a:r>
            <a:endParaRPr lang="en-US" sz="2200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2C17540D-C4C4-67D7-A95B-BBFA5AFEC1CC}"/>
              </a:ext>
            </a:extLst>
          </p:cNvPr>
          <p:cNvSpPr/>
          <p:nvPr/>
        </p:nvSpPr>
        <p:spPr>
          <a:xfrm>
            <a:off x="711647" y="2529978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4차산업혁명 시대에 </a:t>
            </a: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맞춰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개인정보보호법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정보통신망법, 신용정보법을 </a:t>
            </a: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개정한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데이터3법 </a:t>
            </a: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도입으로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정보보호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소관부처 일원화 및 중복규제 해소</a:t>
            </a:r>
            <a:endParaRPr lang="en-US" sz="12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CA47FA74-376C-C61B-824E-16C30F87F3B1}"/>
              </a:ext>
            </a:extLst>
          </p:cNvPr>
          <p:cNvSpPr/>
          <p:nvPr/>
        </p:nvSpPr>
        <p:spPr>
          <a:xfrm>
            <a:off x="6643706" y="3885893"/>
            <a:ext cx="4171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개인정보보호에서 가명정보 개념이 도입되었으며, </a:t>
            </a: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가명정보의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상업적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목적 활용 가능성이 확대됨</a:t>
            </a:r>
            <a:endParaRPr lang="en-US" sz="120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815AD298-D02A-0771-C08E-22FDDE2071AE}"/>
              </a:ext>
            </a:extLst>
          </p:cNvPr>
          <p:cNvSpPr/>
          <p:nvPr/>
        </p:nvSpPr>
        <p:spPr>
          <a:xfrm>
            <a:off x="711647" y="5076260"/>
            <a:ext cx="5387340" cy="76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신용정보법 개정안에서 가명정보 주체 동의 없이 </a:t>
            </a: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활용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가능하도록</a:t>
            </a:r>
            <a:endParaRPr lang="en-US" sz="1200" dirty="0">
              <a:solidFill>
                <a:srgbClr val="161613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하였으며, 금융 분야에서 빅데이터 분석에 이용 가능</a:t>
            </a:r>
            <a:endParaRPr lang="en-US" sz="1200" dirty="0"/>
          </a:p>
        </p:txBody>
      </p:sp>
      <p:sp>
        <p:nvSpPr>
          <p:cNvPr id="134" name="슬라이드 번호 개체 틀 133">
            <a:extLst>
              <a:ext uri="{FF2B5EF4-FFF2-40B4-BE49-F238E27FC236}">
                <a16:creationId xmlns:a16="http://schemas.microsoft.com/office/drawing/2014/main" id="{65557F32-FBED-93DE-B75D-0E771040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676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B898E669-AB9B-D2AB-F323-F5D90FE0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A92EF697-A8AD-E6E3-6A81-C2DCF5A27374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587A751B-3DDF-797E-AA7D-72D1550F5A76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5DD766CB-3DB8-ABDB-3F81-7275C5E212C1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BE8F7A2A-3A1A-ABD8-D5DF-8F79AB3EC8C5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8A9202B7-E16B-B7B1-68CB-953A9EFF8656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개요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배경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1D0E6861-6D5C-9B9F-D155-A612651A7A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EEBA2F1-FE26-0F82-1F8E-1CACBDA83E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961F21CE-5BD6-CDA3-3BB2-9641D661B2CD}"/>
              </a:ext>
            </a:extLst>
          </p:cNvPr>
          <p:cNvSpPr/>
          <p:nvPr/>
        </p:nvSpPr>
        <p:spPr>
          <a:xfrm>
            <a:off x="1485632" y="1335191"/>
            <a:ext cx="5436289" cy="4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결합을 위한 절차 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AE9275-8766-3A1B-0112-B8AC33DA8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1235" y="1919629"/>
            <a:ext cx="5997342" cy="4938371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0B31A4F3-6597-E359-71FE-48D998674AB9}"/>
              </a:ext>
            </a:extLst>
          </p:cNvPr>
          <p:cNvGrpSpPr/>
          <p:nvPr/>
        </p:nvGrpSpPr>
        <p:grpSpPr>
          <a:xfrm>
            <a:off x="1359987" y="1956492"/>
            <a:ext cx="3599770" cy="1053797"/>
            <a:chOff x="1187738" y="1951445"/>
            <a:chExt cx="3599770" cy="1270098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C181BEA-320F-19A5-CAAB-4743CC5AEBE2}"/>
                </a:ext>
              </a:extLst>
            </p:cNvPr>
            <p:cNvGrpSpPr/>
            <p:nvPr/>
          </p:nvGrpSpPr>
          <p:grpSpPr>
            <a:xfrm>
              <a:off x="1187738" y="1951445"/>
              <a:ext cx="3599770" cy="1270098"/>
              <a:chOff x="1384825" y="2216241"/>
              <a:chExt cx="3599770" cy="1270098"/>
            </a:xfrm>
          </p:grpSpPr>
          <p:sp>
            <p:nvSpPr>
              <p:cNvPr id="23" name="모서리가 둥근 직사각형 22">
                <a:extLst>
                  <a:ext uri="{FF2B5EF4-FFF2-40B4-BE49-F238E27FC236}">
                    <a16:creationId xmlns:a16="http://schemas.microsoft.com/office/drawing/2014/main" id="{CA26E45A-F562-E5B0-BD22-5B3828FE5DED}"/>
                  </a:ext>
                </a:extLst>
              </p:cNvPr>
              <p:cNvSpPr/>
              <p:nvPr/>
            </p:nvSpPr>
            <p:spPr>
              <a:xfrm>
                <a:off x="1384825" y="2216241"/>
                <a:ext cx="3599770" cy="1270098"/>
              </a:xfrm>
              <a:prstGeom prst="roundRect">
                <a:avLst/>
              </a:prstGeom>
              <a:noFill/>
              <a:ln>
                <a:solidFill>
                  <a:srgbClr val="F4E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9" name="Google Shape;150;p3">
                <a:extLst>
                  <a:ext uri="{FF2B5EF4-FFF2-40B4-BE49-F238E27FC236}">
                    <a16:creationId xmlns:a16="http://schemas.microsoft.com/office/drawing/2014/main" id="{D48F18D3-8FB0-5E49-A179-5E68490904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86946" y="2325011"/>
                <a:ext cx="1595527" cy="518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fontScale="92500" lnSpcReduction="2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dk1"/>
                  </a:buClr>
                  <a:buSzPts val="1400"/>
                  <a:buFont typeface="Arial" panose="020B0604020202020204" pitchFamily="34" charset="0"/>
                  <a:buNone/>
                </a:pPr>
                <a:r>
                  <a:rPr lang="ko-KR" altLang="en-US" sz="1800" dirty="0">
                    <a:latin typeface="Arial"/>
                    <a:ea typeface="Arial"/>
                    <a:cs typeface="Arial"/>
                    <a:sym typeface="Arial"/>
                  </a:rPr>
                  <a:t>데이터 소유자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3E2716D-1D0D-1F52-E73B-7880E6DC80F3}"/>
                </a:ext>
              </a:extLst>
            </p:cNvPr>
            <p:cNvSpPr txBox="1"/>
            <p:nvPr/>
          </p:nvSpPr>
          <p:spPr>
            <a:xfrm>
              <a:off x="1386704" y="2690801"/>
              <a:ext cx="3257623" cy="408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결합키 생성 필드 선정</a:t>
              </a:r>
              <a:r>
                <a:rPr kumimoji="1" lang="en-US" altLang="ko-KR" sz="1600" dirty="0">
                  <a:solidFill>
                    <a:srgbClr val="37512F"/>
                  </a:solidFill>
                </a:rPr>
                <a:t>,</a:t>
              </a:r>
              <a:r>
                <a:rPr kumimoji="1" lang="ko-KR" altLang="en-US" sz="1600" dirty="0">
                  <a:solidFill>
                    <a:srgbClr val="37512F"/>
                  </a:solidFill>
                </a:rPr>
                <a:t> 결합 신청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FB6E14D-76C2-A8E7-74C0-661D066A1399}"/>
              </a:ext>
            </a:extLst>
          </p:cNvPr>
          <p:cNvGrpSpPr/>
          <p:nvPr/>
        </p:nvGrpSpPr>
        <p:grpSpPr>
          <a:xfrm>
            <a:off x="1345373" y="3265601"/>
            <a:ext cx="3599770" cy="1053797"/>
            <a:chOff x="1187738" y="1951444"/>
            <a:chExt cx="3599770" cy="1270098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AA6D17F-48DE-D6C6-254A-66A9D4133333}"/>
                </a:ext>
              </a:extLst>
            </p:cNvPr>
            <p:cNvGrpSpPr/>
            <p:nvPr/>
          </p:nvGrpSpPr>
          <p:grpSpPr>
            <a:xfrm>
              <a:off x="1187738" y="1951444"/>
              <a:ext cx="3599770" cy="1270098"/>
              <a:chOff x="1384825" y="2216240"/>
              <a:chExt cx="3599770" cy="1270098"/>
            </a:xfrm>
          </p:grpSpPr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78CB838B-243A-2B70-54E8-9A6FE8A733F7}"/>
                  </a:ext>
                </a:extLst>
              </p:cNvPr>
              <p:cNvSpPr/>
              <p:nvPr/>
            </p:nvSpPr>
            <p:spPr>
              <a:xfrm>
                <a:off x="1384825" y="2216240"/>
                <a:ext cx="3599770" cy="1270098"/>
              </a:xfrm>
              <a:prstGeom prst="roundRect">
                <a:avLst/>
              </a:prstGeom>
              <a:noFill/>
              <a:ln>
                <a:solidFill>
                  <a:srgbClr val="F4E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1" name="Google Shape;150;p3">
                <a:extLst>
                  <a:ext uri="{FF2B5EF4-FFF2-40B4-BE49-F238E27FC236}">
                    <a16:creationId xmlns:a16="http://schemas.microsoft.com/office/drawing/2014/main" id="{AAC619FA-AEB3-CE90-8AC1-F237428A9D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52612" y="2332850"/>
                <a:ext cx="1940243" cy="518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fontScale="92500" lnSpcReduction="2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dk1"/>
                  </a:buClr>
                  <a:buSzPts val="1400"/>
                  <a:buFont typeface="Arial" panose="020B0604020202020204" pitchFamily="34" charset="0"/>
                  <a:buNone/>
                </a:pPr>
                <a:r>
                  <a:rPr lang="ko-KR" altLang="en-US" sz="1800" dirty="0">
                    <a:latin typeface="Arial"/>
                    <a:ea typeface="Arial"/>
                    <a:cs typeface="Arial"/>
                    <a:sym typeface="Arial"/>
                  </a:rPr>
                  <a:t>결합키 관리기관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A7A373C-368F-B009-27A6-360F970A4034}"/>
                </a:ext>
              </a:extLst>
            </p:cNvPr>
            <p:cNvSpPr txBox="1"/>
            <p:nvPr/>
          </p:nvSpPr>
          <p:spPr>
            <a:xfrm>
              <a:off x="1401318" y="2693015"/>
              <a:ext cx="3185487" cy="408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결합 연계정보 생성</a:t>
              </a:r>
              <a:r>
                <a:rPr kumimoji="1" lang="en-US" altLang="ko-KR" sz="1600" dirty="0">
                  <a:solidFill>
                    <a:srgbClr val="37512F"/>
                  </a:solidFill>
                </a:rPr>
                <a:t>,</a:t>
              </a:r>
              <a:r>
                <a:rPr kumimoji="1" lang="ko-KR" altLang="en-US" sz="1600" dirty="0">
                  <a:solidFill>
                    <a:srgbClr val="37512F"/>
                  </a:solidFill>
                </a:rPr>
                <a:t> 결합키 제출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BCE5BDC-B695-DC26-A4BC-7937EA9D8426}"/>
              </a:ext>
            </a:extLst>
          </p:cNvPr>
          <p:cNvGrpSpPr/>
          <p:nvPr/>
        </p:nvGrpSpPr>
        <p:grpSpPr>
          <a:xfrm>
            <a:off x="1359987" y="4519816"/>
            <a:ext cx="3599770" cy="1429311"/>
            <a:chOff x="1187738" y="1951445"/>
            <a:chExt cx="3599770" cy="1722690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EA5B8C32-3467-3436-7435-B9D70E1FDA98}"/>
                </a:ext>
              </a:extLst>
            </p:cNvPr>
            <p:cNvGrpSpPr/>
            <p:nvPr/>
          </p:nvGrpSpPr>
          <p:grpSpPr>
            <a:xfrm>
              <a:off x="1187738" y="1951445"/>
              <a:ext cx="3599770" cy="1722690"/>
              <a:chOff x="1384825" y="2216241"/>
              <a:chExt cx="3599770" cy="1722690"/>
            </a:xfrm>
          </p:grpSpPr>
          <p:sp>
            <p:nvSpPr>
              <p:cNvPr id="45" name="모서리가 둥근 직사각형 44">
                <a:extLst>
                  <a:ext uri="{FF2B5EF4-FFF2-40B4-BE49-F238E27FC236}">
                    <a16:creationId xmlns:a16="http://schemas.microsoft.com/office/drawing/2014/main" id="{0D4EB556-E085-B6FC-DAD1-99A9037E72B9}"/>
                  </a:ext>
                </a:extLst>
              </p:cNvPr>
              <p:cNvSpPr/>
              <p:nvPr/>
            </p:nvSpPr>
            <p:spPr>
              <a:xfrm>
                <a:off x="1384825" y="2216241"/>
                <a:ext cx="3599770" cy="1722690"/>
              </a:xfrm>
              <a:prstGeom prst="roundRect">
                <a:avLst/>
              </a:prstGeom>
              <a:noFill/>
              <a:ln>
                <a:solidFill>
                  <a:srgbClr val="F4E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6" name="Google Shape;150;p3">
                <a:extLst>
                  <a:ext uri="{FF2B5EF4-FFF2-40B4-BE49-F238E27FC236}">
                    <a16:creationId xmlns:a16="http://schemas.microsoft.com/office/drawing/2014/main" id="{4A1FBD7D-AE31-CE7D-D842-1BCDFC0592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7747" y="2322763"/>
                <a:ext cx="1580383" cy="518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fontScale="92500" lnSpcReduction="2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dk1"/>
                  </a:buClr>
                  <a:buSzPts val="1400"/>
                  <a:buFont typeface="Arial" panose="020B0604020202020204" pitchFamily="34" charset="0"/>
                  <a:buNone/>
                </a:pPr>
                <a:r>
                  <a:rPr lang="ko-KR" altLang="en-US" sz="1800" dirty="0">
                    <a:latin typeface="Arial"/>
                    <a:ea typeface="Arial"/>
                    <a:cs typeface="Arial"/>
                    <a:sym typeface="Arial"/>
                  </a:rPr>
                  <a:t>결합 전문기관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9AE0B45-482D-6FF3-2143-43FEC794F01B}"/>
                </a:ext>
              </a:extLst>
            </p:cNvPr>
            <p:cNvSpPr txBox="1"/>
            <p:nvPr/>
          </p:nvSpPr>
          <p:spPr>
            <a:xfrm>
              <a:off x="1716311" y="2690364"/>
              <a:ext cx="2702984" cy="704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600" dirty="0" err="1">
                  <a:solidFill>
                    <a:srgbClr val="37512F"/>
                  </a:solidFill>
                </a:rPr>
                <a:t>본결합</a:t>
              </a:r>
              <a:r>
                <a:rPr kumimoji="1" lang="ko-KR" altLang="en-US" sz="1600" dirty="0">
                  <a:solidFill>
                    <a:srgbClr val="37512F"/>
                  </a:solidFill>
                </a:rPr>
                <a:t> 이후 결과 사전검토</a:t>
              </a:r>
              <a:r>
                <a:rPr kumimoji="1" lang="en-US" altLang="ko-KR" sz="1600" dirty="0">
                  <a:solidFill>
                    <a:srgbClr val="37512F"/>
                  </a:solidFill>
                </a:rPr>
                <a:t>,</a:t>
              </a:r>
            </a:p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반출심사</a:t>
              </a:r>
              <a:r>
                <a:rPr kumimoji="1" lang="en-US" altLang="ko-KR" sz="1600" dirty="0">
                  <a:solidFill>
                    <a:srgbClr val="37512F"/>
                  </a:solidFill>
                </a:rPr>
                <a:t>,</a:t>
              </a:r>
              <a:r>
                <a:rPr kumimoji="1" lang="ko-KR" altLang="en-US" sz="1600" dirty="0">
                  <a:solidFill>
                    <a:srgbClr val="37512F"/>
                  </a:solidFill>
                </a:rPr>
                <a:t> 사후관리</a:t>
              </a:r>
            </a:p>
          </p:txBody>
        </p:sp>
      </p:grp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64E3F759-FD63-D784-E9DB-ABFDB881A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705" y="3577426"/>
            <a:ext cx="388416" cy="485587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DD892F10-4462-739B-1F99-617B8A0CAE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6538" y="3577271"/>
            <a:ext cx="388416" cy="485587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1E113464-1542-3538-DF2E-28BA1E699D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042" y="3494042"/>
            <a:ext cx="388416" cy="485587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83F9A94-6C4C-A486-3BA2-4133B9397C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376" y="4934678"/>
            <a:ext cx="388416" cy="485587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752369-5F99-34B2-ACF4-2920757BC8CF}"/>
              </a:ext>
            </a:extLst>
          </p:cNvPr>
          <p:cNvGrpSpPr/>
          <p:nvPr/>
        </p:nvGrpSpPr>
        <p:grpSpPr>
          <a:xfrm>
            <a:off x="1209326" y="2234476"/>
            <a:ext cx="296297" cy="426631"/>
            <a:chOff x="1229895" y="2223690"/>
            <a:chExt cx="296297" cy="426631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ED03C64-3FCC-7354-F883-627EA7F1EA33}"/>
                </a:ext>
              </a:extLst>
            </p:cNvPr>
            <p:cNvSpPr/>
            <p:nvPr/>
          </p:nvSpPr>
          <p:spPr>
            <a:xfrm>
              <a:off x="1270494" y="2223690"/>
              <a:ext cx="207595" cy="2032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4A47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지연 9">
              <a:extLst>
                <a:ext uri="{FF2B5EF4-FFF2-40B4-BE49-F238E27FC236}">
                  <a16:creationId xmlns:a16="http://schemas.microsoft.com/office/drawing/2014/main" id="{424CA1A9-3C2A-2F3E-5AA7-16A007C5FAE2}"/>
                </a:ext>
              </a:extLst>
            </p:cNvPr>
            <p:cNvSpPr/>
            <p:nvPr/>
          </p:nvSpPr>
          <p:spPr>
            <a:xfrm rot="16200000">
              <a:off x="1273503" y="2397631"/>
              <a:ext cx="209082" cy="296297"/>
            </a:xfrm>
            <a:prstGeom prst="flowChartDelay">
              <a:avLst/>
            </a:prstGeom>
            <a:noFill/>
            <a:ln>
              <a:solidFill>
                <a:srgbClr val="4A47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D1F894E9-04FC-353A-A4E4-0805657A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939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68125E95-C11B-2421-7744-1FA69E66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0BC9C915-0E7F-B98E-0CF1-4FB524F17917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A504BDD1-F2A8-4DD5-ABC9-53CD435887C2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CB646069-4A36-7444-0358-A1CC645F039A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F801D774-64C0-81D7-D451-87158444B4E6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3908A6BA-1218-E531-E9BF-B63E865D4BE7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개요 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필요성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AE26A834-EC32-201B-50F3-763A73F8F7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EF0E9200-6DF2-9CD6-0306-200B75BDE96F}"/>
              </a:ext>
            </a:extLst>
          </p:cNvPr>
          <p:cNvGrpSpPr/>
          <p:nvPr/>
        </p:nvGrpSpPr>
        <p:grpSpPr>
          <a:xfrm>
            <a:off x="1487177" y="2216241"/>
            <a:ext cx="3898861" cy="1700502"/>
            <a:chOff x="1085734" y="2216241"/>
            <a:chExt cx="3898861" cy="1700502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E465BAE6-AFF2-6643-56E4-25738FDCB618}"/>
                </a:ext>
              </a:extLst>
            </p:cNvPr>
            <p:cNvSpPr/>
            <p:nvPr/>
          </p:nvSpPr>
          <p:spPr>
            <a:xfrm>
              <a:off x="1384825" y="2216241"/>
              <a:ext cx="3599770" cy="1700502"/>
            </a:xfrm>
            <a:prstGeom prst="roundRect">
              <a:avLst/>
            </a:prstGeom>
            <a:noFill/>
            <a:ln>
              <a:solidFill>
                <a:srgbClr val="F4E7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BD0DB3D-6C71-7885-BB96-5B5D1573833F}"/>
                </a:ext>
              </a:extLst>
            </p:cNvPr>
            <p:cNvGrpSpPr/>
            <p:nvPr/>
          </p:nvGrpSpPr>
          <p:grpSpPr>
            <a:xfrm>
              <a:off x="1085734" y="2320697"/>
              <a:ext cx="2985083" cy="1221047"/>
              <a:chOff x="1085734" y="2320697"/>
              <a:chExt cx="2985083" cy="1221047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54F542B-66E3-037E-ECC9-6E1B01154A28}"/>
                  </a:ext>
                </a:extLst>
              </p:cNvPr>
              <p:cNvSpPr/>
              <p:nvPr/>
            </p:nvSpPr>
            <p:spPr>
              <a:xfrm>
                <a:off x="1085734" y="2354148"/>
                <a:ext cx="641466" cy="655729"/>
              </a:xfrm>
              <a:prstGeom prst="rect">
                <a:avLst/>
              </a:prstGeom>
              <a:solidFill>
                <a:srgbClr val="F2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3200" b="1" dirty="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6" name="Google Shape;150;p3">
                <a:extLst>
                  <a:ext uri="{FF2B5EF4-FFF2-40B4-BE49-F238E27FC236}">
                    <a16:creationId xmlns:a16="http://schemas.microsoft.com/office/drawing/2014/main" id="{0585BEC4-9AEC-2BF8-AD94-F425831AFE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2565" y="2320697"/>
                <a:ext cx="2248252" cy="488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dk1"/>
                  </a:buClr>
                  <a:buSzPts val="1400"/>
                  <a:buFont typeface="Arial" panose="020B0604020202020204" pitchFamily="34" charset="0"/>
                  <a:buNone/>
                </a:pPr>
                <a:r>
                  <a:rPr lang="ko-KR" altLang="en-US" sz="1800" dirty="0">
                    <a:latin typeface="Arial"/>
                    <a:ea typeface="Arial"/>
                    <a:cs typeface="Arial"/>
                    <a:sym typeface="Arial"/>
                  </a:rPr>
                  <a:t>자율성 제약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EE394C-C198-3130-48A9-A4AB06A6828E}"/>
                  </a:ext>
                </a:extLst>
              </p:cNvPr>
              <p:cNvSpPr txBox="1"/>
              <p:nvPr/>
            </p:nvSpPr>
            <p:spPr>
              <a:xfrm>
                <a:off x="1822565" y="2956969"/>
                <a:ext cx="176522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데이터 소유자의 </a:t>
                </a:r>
                <a:endParaRPr kumimoji="1" lang="en-US" altLang="ko-KR" sz="1600" dirty="0">
                  <a:solidFill>
                    <a:srgbClr val="37512F"/>
                  </a:solidFill>
                </a:endParaRPr>
              </a:p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결합 자율성 부족</a:t>
                </a: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5329D69-59B3-5CD0-5B35-CB8E2428E149}"/>
              </a:ext>
            </a:extLst>
          </p:cNvPr>
          <p:cNvGrpSpPr/>
          <p:nvPr/>
        </p:nvGrpSpPr>
        <p:grpSpPr>
          <a:xfrm>
            <a:off x="5833297" y="2234829"/>
            <a:ext cx="3909148" cy="1700502"/>
            <a:chOff x="5476458" y="2234829"/>
            <a:chExt cx="3909148" cy="1700502"/>
          </a:xfrm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30B8773D-C0B1-0891-DD40-2B11DD52B809}"/>
                </a:ext>
              </a:extLst>
            </p:cNvPr>
            <p:cNvSpPr/>
            <p:nvPr/>
          </p:nvSpPr>
          <p:spPr>
            <a:xfrm>
              <a:off x="5785836" y="2234829"/>
              <a:ext cx="3599770" cy="1700502"/>
            </a:xfrm>
            <a:prstGeom prst="roundRect">
              <a:avLst/>
            </a:prstGeom>
            <a:noFill/>
            <a:ln>
              <a:solidFill>
                <a:srgbClr val="F4E7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E003F0E-A0D9-6147-79D3-A0F1CE2733B3}"/>
                </a:ext>
              </a:extLst>
            </p:cNvPr>
            <p:cNvGrpSpPr/>
            <p:nvPr/>
          </p:nvGrpSpPr>
          <p:grpSpPr>
            <a:xfrm>
              <a:off x="5476458" y="2320697"/>
              <a:ext cx="3022246" cy="1271846"/>
              <a:chOff x="4834184" y="2320697"/>
              <a:chExt cx="3022246" cy="1271846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ACD142F-C1B3-5281-449E-3FE316462D80}"/>
                  </a:ext>
                </a:extLst>
              </p:cNvPr>
              <p:cNvSpPr/>
              <p:nvPr/>
            </p:nvSpPr>
            <p:spPr>
              <a:xfrm>
                <a:off x="4834184" y="2354148"/>
                <a:ext cx="641466" cy="655729"/>
              </a:xfrm>
              <a:prstGeom prst="rect">
                <a:avLst/>
              </a:prstGeom>
              <a:solidFill>
                <a:srgbClr val="F2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3200" b="1" dirty="0">
                  <a:solidFill>
                    <a:schemeClr val="tx1"/>
                  </a:solidFill>
                  <a:latin typeface="Gulim" panose="020B0600000101010101" pitchFamily="34" charset="-127"/>
                  <a:ea typeface="Gulim" panose="020B0600000101010101" pitchFamily="34" charset="-127"/>
                </a:endParaRPr>
              </a:p>
            </p:txBody>
          </p:sp>
          <p:sp>
            <p:nvSpPr>
              <p:cNvPr id="10" name="Google Shape;150;p3">
                <a:extLst>
                  <a:ext uri="{FF2B5EF4-FFF2-40B4-BE49-F238E27FC236}">
                    <a16:creationId xmlns:a16="http://schemas.microsoft.com/office/drawing/2014/main" id="{80CD4B2A-81A6-1AA7-ACB6-DD0575BCD0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2226" y="2320697"/>
                <a:ext cx="2248252" cy="488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dk1"/>
                  </a:buClr>
                  <a:buSzPts val="1400"/>
                  <a:buFont typeface="Arial" panose="020B0604020202020204" pitchFamily="34" charset="0"/>
                  <a:buNone/>
                </a:pPr>
                <a:r>
                  <a:rPr lang="ko-KR" altLang="en-US" sz="1800" dirty="0">
                    <a:latin typeface="Arial"/>
                    <a:ea typeface="Arial"/>
                    <a:cs typeface="Arial"/>
                    <a:sym typeface="Arial"/>
                  </a:rPr>
                  <a:t>처리속도 한계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FACE22-66E1-3F1C-0C9D-2D11C1FC48FD}"/>
                  </a:ext>
                </a:extLst>
              </p:cNvPr>
              <p:cNvSpPr txBox="1"/>
              <p:nvPr/>
            </p:nvSpPr>
            <p:spPr>
              <a:xfrm>
                <a:off x="5475650" y="3007768"/>
                <a:ext cx="23807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결합 요청부터 완료까지</a:t>
                </a:r>
                <a:endParaRPr kumimoji="1" lang="en-US" altLang="ko-KR" sz="1600" dirty="0">
                  <a:solidFill>
                    <a:srgbClr val="37512F"/>
                  </a:solidFill>
                </a:endParaRPr>
              </a:p>
              <a:p>
                <a:r>
                  <a:rPr kumimoji="1" lang="ko-KR" altLang="en-US" sz="1600" dirty="0">
                    <a:solidFill>
                      <a:srgbClr val="37512F"/>
                    </a:solidFill>
                  </a:rPr>
                  <a:t>시간 소요 과다</a:t>
                </a:r>
              </a:p>
            </p:txBody>
          </p:sp>
        </p:grpSp>
      </p:grp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097E185-196C-591A-E5C1-1723F6201579}"/>
              </a:ext>
            </a:extLst>
          </p:cNvPr>
          <p:cNvSpPr/>
          <p:nvPr/>
        </p:nvSpPr>
        <p:spPr>
          <a:xfrm>
            <a:off x="1782554" y="4152839"/>
            <a:ext cx="3599770" cy="1700502"/>
          </a:xfrm>
          <a:prstGeom prst="roundRect">
            <a:avLst/>
          </a:prstGeom>
          <a:noFill/>
          <a:ln>
            <a:solidFill>
              <a:srgbClr val="F4E7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EE5BA82-A1E8-40CB-E151-0D69189A2D0B}"/>
              </a:ext>
            </a:extLst>
          </p:cNvPr>
          <p:cNvGrpSpPr/>
          <p:nvPr/>
        </p:nvGrpSpPr>
        <p:grpSpPr>
          <a:xfrm>
            <a:off x="1487177" y="4341864"/>
            <a:ext cx="3770623" cy="1508412"/>
            <a:chOff x="1085734" y="4341864"/>
            <a:chExt cx="3770623" cy="150841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2D5D4D7-BFB4-F11E-611F-D571DC354505}"/>
                </a:ext>
              </a:extLst>
            </p:cNvPr>
            <p:cNvSpPr/>
            <p:nvPr/>
          </p:nvSpPr>
          <p:spPr>
            <a:xfrm>
              <a:off x="1085734" y="4341864"/>
              <a:ext cx="641466" cy="655729"/>
            </a:xfrm>
            <a:prstGeom prst="rect">
              <a:avLst/>
            </a:prstGeom>
            <a:solidFill>
              <a:srgbClr val="F2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3200" b="1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3" name="Google Shape;150;p3">
              <a:extLst>
                <a:ext uri="{FF2B5EF4-FFF2-40B4-BE49-F238E27FC236}">
                  <a16:creationId xmlns:a16="http://schemas.microsoft.com/office/drawing/2014/main" id="{62F5D6AD-5E2C-F9AB-DA24-731B2228F89A}"/>
                </a:ext>
              </a:extLst>
            </p:cNvPr>
            <p:cNvSpPr txBox="1">
              <a:spLocks/>
            </p:cNvSpPr>
            <p:nvPr/>
          </p:nvSpPr>
          <p:spPr>
            <a:xfrm>
              <a:off x="1828798" y="4341864"/>
              <a:ext cx="2248252" cy="488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rmAutofit fontScale="925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spcBef>
                  <a:spcPts val="0"/>
                </a:spcBef>
                <a:buClr>
                  <a:schemeClr val="dk1"/>
                </a:buClr>
                <a:buSzPts val="1400"/>
                <a:buFont typeface="Arial" panose="020B0604020202020204" pitchFamily="34" charset="0"/>
                <a:buNone/>
              </a:pPr>
              <a:r>
                <a:rPr lang="ko-KR" altLang="en-US" sz="1800" dirty="0">
                  <a:latin typeface="Arial"/>
                  <a:ea typeface="Arial"/>
                  <a:cs typeface="Arial"/>
                  <a:sym typeface="Arial"/>
                </a:rPr>
                <a:t>전문기관 중심 구조 </a:t>
              </a:r>
              <a:r>
                <a:rPr lang="en-US" altLang="ko-KR" sz="1800" dirty="0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lang="ko-KR" altLang="en-US" sz="1800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4A4D11-6ECB-9125-BBE3-8F1D7713B648}"/>
                </a:ext>
              </a:extLst>
            </p:cNvPr>
            <p:cNvSpPr txBox="1"/>
            <p:nvPr/>
          </p:nvSpPr>
          <p:spPr>
            <a:xfrm>
              <a:off x="1727200" y="5019279"/>
              <a:ext cx="31291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결합 과정이 결합 전문기관 및 결합키 관리기관을 통해 </a:t>
              </a:r>
              <a:endParaRPr kumimoji="1" lang="en-US" altLang="ko-KR" sz="1600" dirty="0">
                <a:solidFill>
                  <a:srgbClr val="37512F"/>
                </a:solidFill>
              </a:endParaRPr>
            </a:p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이루어져 의존도 문제가 발생</a:t>
              </a: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D2EC62B0-BCF5-2A1B-AC56-39EA93E588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F877A382-4294-8826-EA1C-B671807A6109}"/>
              </a:ext>
            </a:extLst>
          </p:cNvPr>
          <p:cNvSpPr/>
          <p:nvPr/>
        </p:nvSpPr>
        <p:spPr>
          <a:xfrm>
            <a:off x="1487177" y="1428694"/>
            <a:ext cx="5436289" cy="4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현재 결합 과정의 문제점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5DD69510-A503-D1C5-EF23-E75B5D015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260" y="4413448"/>
            <a:ext cx="388416" cy="485587"/>
          </a:xfrm>
          <a:prstGeom prst="rect">
            <a:avLst/>
          </a:prstGeom>
        </p:spPr>
      </p:pic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0241605E-37EC-42D1-3478-BBACD1D7B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467" y="2438345"/>
            <a:ext cx="388416" cy="485587"/>
          </a:xfrm>
          <a:prstGeom prst="rect">
            <a:avLst/>
          </a:prstGeom>
        </p:spPr>
      </p:pic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03E12B40-21D2-1AA4-DAC9-2FC4700BA5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1384" y="2438344"/>
            <a:ext cx="388416" cy="485587"/>
          </a:xfrm>
          <a:prstGeom prst="rect">
            <a:avLst/>
          </a:prstGeom>
        </p:spPr>
      </p:pic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B67FCA5-C78E-DB4D-C970-94C0DB980433}"/>
              </a:ext>
            </a:extLst>
          </p:cNvPr>
          <p:cNvSpPr/>
          <p:nvPr/>
        </p:nvSpPr>
        <p:spPr>
          <a:xfrm>
            <a:off x="6142675" y="4152839"/>
            <a:ext cx="3599770" cy="1700502"/>
          </a:xfrm>
          <a:prstGeom prst="roundRect">
            <a:avLst/>
          </a:prstGeom>
          <a:noFill/>
          <a:ln>
            <a:solidFill>
              <a:srgbClr val="F4E7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35125A2-5975-1DA7-C841-A9C96B7FAAA3}"/>
              </a:ext>
            </a:extLst>
          </p:cNvPr>
          <p:cNvGrpSpPr/>
          <p:nvPr/>
        </p:nvGrpSpPr>
        <p:grpSpPr>
          <a:xfrm>
            <a:off x="5847298" y="4341864"/>
            <a:ext cx="3770623" cy="1262190"/>
            <a:chOff x="1085734" y="4341864"/>
            <a:chExt cx="3770623" cy="126219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C8E8F0B-A078-8E46-38FB-D9484A5C5473}"/>
                </a:ext>
              </a:extLst>
            </p:cNvPr>
            <p:cNvSpPr/>
            <p:nvPr/>
          </p:nvSpPr>
          <p:spPr>
            <a:xfrm>
              <a:off x="1085734" y="4341864"/>
              <a:ext cx="641466" cy="655729"/>
            </a:xfrm>
            <a:prstGeom prst="rect">
              <a:avLst/>
            </a:prstGeom>
            <a:solidFill>
              <a:srgbClr val="F2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3200" b="1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9" name="Google Shape;150;p3">
              <a:extLst>
                <a:ext uri="{FF2B5EF4-FFF2-40B4-BE49-F238E27FC236}">
                  <a16:creationId xmlns:a16="http://schemas.microsoft.com/office/drawing/2014/main" id="{E4C88422-2425-6359-B8D1-99FAE9FAC919}"/>
                </a:ext>
              </a:extLst>
            </p:cNvPr>
            <p:cNvSpPr txBox="1">
              <a:spLocks/>
            </p:cNvSpPr>
            <p:nvPr/>
          </p:nvSpPr>
          <p:spPr>
            <a:xfrm>
              <a:off x="1828798" y="4341864"/>
              <a:ext cx="2248252" cy="488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t" anchorCtr="0">
              <a:normAutofit fontScale="925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spcBef>
                  <a:spcPts val="0"/>
                </a:spcBef>
                <a:buClr>
                  <a:schemeClr val="dk1"/>
                </a:buClr>
                <a:buSzPts val="1400"/>
                <a:buFont typeface="Arial" panose="020B0604020202020204" pitchFamily="34" charset="0"/>
                <a:buNone/>
              </a:pPr>
              <a:r>
                <a:rPr lang="ko-KR" altLang="en-US" sz="1800" dirty="0">
                  <a:latin typeface="Arial"/>
                  <a:ea typeface="Arial"/>
                  <a:cs typeface="Arial"/>
                  <a:sym typeface="Arial"/>
                </a:rPr>
                <a:t>전문기관 중심 구조 </a:t>
              </a:r>
              <a:r>
                <a:rPr lang="en-US" altLang="ko-KR" sz="1800" dirty="0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lang="ko-KR" altLang="en-US" sz="1800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5DBF27-DE5D-C561-2148-E8CA594B0DF2}"/>
                </a:ext>
              </a:extLst>
            </p:cNvPr>
            <p:cNvSpPr txBox="1"/>
            <p:nvPr/>
          </p:nvSpPr>
          <p:spPr>
            <a:xfrm>
              <a:off x="1727200" y="5019279"/>
              <a:ext cx="31291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이원화된 프로세스로 인한 </a:t>
              </a:r>
              <a:endParaRPr kumimoji="1" lang="en-US" altLang="ko-KR" sz="1600" dirty="0">
                <a:solidFill>
                  <a:srgbClr val="37512F"/>
                </a:solidFill>
              </a:endParaRPr>
            </a:p>
            <a:p>
              <a:r>
                <a:rPr kumimoji="1" lang="ko-KR" altLang="en-US" sz="1600" dirty="0">
                  <a:solidFill>
                    <a:srgbClr val="37512F"/>
                  </a:solidFill>
                </a:rPr>
                <a:t>프로세스 복잡성 증가 </a:t>
              </a:r>
            </a:p>
          </p:txBody>
        </p:sp>
      </p:grp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64FDBBFD-FC79-1A04-1C5D-888CBFBA9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381" y="4413448"/>
            <a:ext cx="388416" cy="485587"/>
          </a:xfrm>
          <a:prstGeom prst="rect">
            <a:avLst/>
          </a:prstGeom>
        </p:spPr>
      </p:pic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CFADF748-CC2B-2C62-A0A2-B5075B8B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430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145;p3">
            <a:extLst>
              <a:ext uri="{FF2B5EF4-FFF2-40B4-BE49-F238E27FC236}">
                <a16:creationId xmlns:a16="http://schemas.microsoft.com/office/drawing/2014/main" id="{5F9FA2EF-8884-1FA7-6C9C-71CF5FB3A3F1}"/>
              </a:ext>
            </a:extLst>
          </p:cNvPr>
          <p:cNvCxnSpPr/>
          <p:nvPr/>
        </p:nvCxnSpPr>
        <p:spPr>
          <a:xfrm>
            <a:off x="327860" y="63947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3"/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/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개요 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필요성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D6FBDF4-BF50-E85B-0AF2-867ED83921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30D1AAB0-2C16-56E7-08F1-D7BD1800905D}"/>
              </a:ext>
            </a:extLst>
          </p:cNvPr>
          <p:cNvGrpSpPr/>
          <p:nvPr/>
        </p:nvGrpSpPr>
        <p:grpSpPr>
          <a:xfrm>
            <a:off x="-56934" y="5022405"/>
            <a:ext cx="4437459" cy="1153002"/>
            <a:chOff x="93863" y="2063305"/>
            <a:chExt cx="4437459" cy="1153002"/>
          </a:xfrm>
        </p:grpSpPr>
        <p:sp>
          <p:nvSpPr>
            <p:cNvPr id="3" name="Text 7">
              <a:extLst>
                <a:ext uri="{FF2B5EF4-FFF2-40B4-BE49-F238E27FC236}">
                  <a16:creationId xmlns:a16="http://schemas.microsoft.com/office/drawing/2014/main" id="{33FB3CBB-ED88-86F5-2C6F-69F0EAF33DDC}"/>
                </a:ext>
              </a:extLst>
            </p:cNvPr>
            <p:cNvSpPr/>
            <p:nvPr/>
          </p:nvSpPr>
          <p:spPr>
            <a:xfrm>
              <a:off x="93863" y="2063305"/>
              <a:ext cx="4437459" cy="4577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00"/>
                </a:lnSpc>
                <a:buNone/>
              </a:pPr>
              <a:r>
                <a:rPr lang="en-US" sz="36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122일</a:t>
              </a:r>
              <a:endParaRPr lang="en-US" sz="3600" dirty="0"/>
            </a:p>
          </p:txBody>
        </p:sp>
        <p:sp>
          <p:nvSpPr>
            <p:cNvPr id="5" name="Text 8">
              <a:extLst>
                <a:ext uri="{FF2B5EF4-FFF2-40B4-BE49-F238E27FC236}">
                  <a16:creationId xmlns:a16="http://schemas.microsoft.com/office/drawing/2014/main" id="{C597BA38-246B-B568-AA42-6E477C53A67D}"/>
                </a:ext>
              </a:extLst>
            </p:cNvPr>
            <p:cNvSpPr/>
            <p:nvPr/>
          </p:nvSpPr>
          <p:spPr>
            <a:xfrm>
              <a:off x="1445460" y="2694337"/>
              <a:ext cx="1734145" cy="2168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기존 결합 소요 시간</a:t>
              </a:r>
              <a:endParaRPr lang="en-US" sz="1350" dirty="0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0BF345A0-758F-6237-4EAE-7AD3600230E1}"/>
                </a:ext>
              </a:extLst>
            </p:cNvPr>
            <p:cNvSpPr/>
            <p:nvPr/>
          </p:nvSpPr>
          <p:spPr>
            <a:xfrm>
              <a:off x="93863" y="2994374"/>
              <a:ext cx="4437459" cy="221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기존 이원화된 가명정보 결합 과정의 평균 소요 시간</a:t>
              </a:r>
              <a:endParaRPr lang="en-US" sz="1050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0FAAE56-AC27-D17C-DF40-C692C244C29A}"/>
              </a:ext>
            </a:extLst>
          </p:cNvPr>
          <p:cNvGrpSpPr/>
          <p:nvPr/>
        </p:nvGrpSpPr>
        <p:grpSpPr>
          <a:xfrm>
            <a:off x="3726281" y="5022405"/>
            <a:ext cx="4437578" cy="1153002"/>
            <a:chOff x="4704677" y="2063305"/>
            <a:chExt cx="4437578" cy="1153002"/>
          </a:xfrm>
        </p:grpSpPr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F44CAEEE-74E0-DD55-0FC2-EDD5A2AA144E}"/>
                </a:ext>
              </a:extLst>
            </p:cNvPr>
            <p:cNvSpPr/>
            <p:nvPr/>
          </p:nvSpPr>
          <p:spPr>
            <a:xfrm>
              <a:off x="4704677" y="2063305"/>
              <a:ext cx="4437578" cy="457795"/>
            </a:xfrm>
            <a:prstGeom prst="rect">
              <a:avLst/>
            </a:prstGeom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00"/>
                </a:lnSpc>
                <a:buNone/>
              </a:pPr>
              <a:r>
                <a:rPr lang="en-US" sz="36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60일</a:t>
              </a:r>
              <a:endParaRPr lang="en-US" sz="3600" dirty="0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1690990D-7C9A-7D31-E230-02666A9546C0}"/>
                </a:ext>
              </a:extLst>
            </p:cNvPr>
            <p:cNvSpPr/>
            <p:nvPr/>
          </p:nvSpPr>
          <p:spPr>
            <a:xfrm>
              <a:off x="6056394" y="2694337"/>
              <a:ext cx="1734145" cy="216813"/>
            </a:xfrm>
            <a:prstGeom prst="rect">
              <a:avLst/>
            </a:prstGeom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통합 처리 시 소요 시간</a:t>
              </a:r>
              <a:endParaRPr lang="en-US" sz="1350" dirty="0"/>
            </a:p>
          </p:txBody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E511A279-3AC9-C363-2589-6260AC64740D}"/>
                </a:ext>
              </a:extLst>
            </p:cNvPr>
            <p:cNvSpPr/>
            <p:nvPr/>
          </p:nvSpPr>
          <p:spPr>
            <a:xfrm>
              <a:off x="4704677" y="2994374"/>
              <a:ext cx="4437578" cy="221933"/>
            </a:xfrm>
            <a:prstGeom prst="rect">
              <a:avLst/>
            </a:prstGeom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결합 프로세스 통합 시 감소된 소요 시간</a:t>
              </a:r>
              <a:endParaRPr lang="en-US" sz="105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C7FEC11-DE4C-C1ED-E228-725300D857F3}"/>
              </a:ext>
            </a:extLst>
          </p:cNvPr>
          <p:cNvGrpSpPr/>
          <p:nvPr/>
        </p:nvGrpSpPr>
        <p:grpSpPr>
          <a:xfrm>
            <a:off x="7509615" y="5022405"/>
            <a:ext cx="4437459" cy="1153002"/>
            <a:chOff x="7334411" y="3650805"/>
            <a:chExt cx="4437459" cy="1153002"/>
          </a:xfrm>
        </p:grpSpPr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BC1F03EA-2CFB-D251-3F94-450ABFBD2498}"/>
                </a:ext>
              </a:extLst>
            </p:cNvPr>
            <p:cNvSpPr/>
            <p:nvPr/>
          </p:nvSpPr>
          <p:spPr>
            <a:xfrm>
              <a:off x="7334411" y="3650805"/>
              <a:ext cx="4437459" cy="4577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00"/>
                </a:lnSpc>
                <a:buNone/>
              </a:pPr>
              <a:r>
                <a:rPr lang="en-US" sz="36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3곳</a:t>
              </a:r>
              <a:endParaRPr lang="en-US" sz="3600" dirty="0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39561FCE-73AB-D7D4-1549-FE930B4DD11D}"/>
                </a:ext>
              </a:extLst>
            </p:cNvPr>
            <p:cNvSpPr/>
            <p:nvPr/>
          </p:nvSpPr>
          <p:spPr>
            <a:xfrm>
              <a:off x="8686008" y="4281837"/>
              <a:ext cx="1734145" cy="2168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지정 취소된 결합기관</a:t>
              </a:r>
              <a:endParaRPr lang="en-US" sz="1350" dirty="0"/>
            </a:p>
          </p:txBody>
        </p:sp>
        <p:sp>
          <p:nvSpPr>
            <p:cNvPr id="32" name="Text 15">
              <a:extLst>
                <a:ext uri="{FF2B5EF4-FFF2-40B4-BE49-F238E27FC236}">
                  <a16:creationId xmlns:a16="http://schemas.microsoft.com/office/drawing/2014/main" id="{579E90C7-E72D-2835-E368-BC038965C0E3}"/>
                </a:ext>
              </a:extLst>
            </p:cNvPr>
            <p:cNvSpPr/>
            <p:nvPr/>
          </p:nvSpPr>
          <p:spPr>
            <a:xfrm>
              <a:off x="7334411" y="4581874"/>
              <a:ext cx="4437459" cy="221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복잡한 절차로 인한 낮은 사업 효율성으로 지정 취소된 결합전문기관 수</a:t>
              </a:r>
              <a:endParaRPr lang="en-US" sz="1050" dirty="0"/>
            </a:p>
          </p:txBody>
        </p:sp>
      </p:grpSp>
      <p:sp>
        <p:nvSpPr>
          <p:cNvPr id="36" name="Text 2">
            <a:extLst>
              <a:ext uri="{FF2B5EF4-FFF2-40B4-BE49-F238E27FC236}">
                <a16:creationId xmlns:a16="http://schemas.microsoft.com/office/drawing/2014/main" id="{F05520CC-E7EA-0E28-2987-A8F7516CB41C}"/>
              </a:ext>
            </a:extLst>
          </p:cNvPr>
          <p:cNvSpPr/>
          <p:nvPr/>
        </p:nvSpPr>
        <p:spPr>
          <a:xfrm>
            <a:off x="1503384" y="2004252"/>
            <a:ext cx="6660475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결합 신청자 간 사전 협의를 통한 결합키 생성 필드 선정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26C1BDE4-2191-91DD-188A-4811C4B4ADD5}"/>
              </a:ext>
            </a:extLst>
          </p:cNvPr>
          <p:cNvSpPr/>
          <p:nvPr/>
        </p:nvSpPr>
        <p:spPr>
          <a:xfrm>
            <a:off x="1503384" y="2646190"/>
            <a:ext cx="6660475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결합 신청 및 결합대상정보 가명처리, 결합키 제출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A9EE1AC1-5063-63EC-254C-5A72CD5B3DEB}"/>
              </a:ext>
            </a:extLst>
          </p:cNvPr>
          <p:cNvSpPr/>
          <p:nvPr/>
        </p:nvSpPr>
        <p:spPr>
          <a:xfrm>
            <a:off x="1503384" y="3288128"/>
            <a:ext cx="6660475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결합연계정보 생성 및 모의 결합, 추가 가명처리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8DCD413E-1E4B-3F0B-F229-C2FD17E82F43}"/>
              </a:ext>
            </a:extLst>
          </p:cNvPr>
          <p:cNvSpPr/>
          <p:nvPr/>
        </p:nvSpPr>
        <p:spPr>
          <a:xfrm>
            <a:off x="1503384" y="3930065"/>
            <a:ext cx="6660475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결합 이후 결과 사전 검토 및 반출 심사, 사후 관리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F8206C8F-C602-7BE4-A21C-D111D9EFEFEF}"/>
              </a:ext>
            </a:extLst>
          </p:cNvPr>
          <p:cNvSpPr/>
          <p:nvPr/>
        </p:nvSpPr>
        <p:spPr>
          <a:xfrm>
            <a:off x="888647" y="4508486"/>
            <a:ext cx="10252900" cy="28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A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결합전문기관과 결합키관리기관을 통해서만 가능한 이원화된 구조로 인해 프로세스 복잡성 </a:t>
            </a:r>
            <a:r>
              <a:rPr lang="en-US" sz="1600" dirty="0" err="1">
                <a:solidFill>
                  <a:srgbClr val="4A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증가</a:t>
            </a:r>
            <a:r>
              <a:rPr lang="en-US" sz="1600" dirty="0">
                <a:solidFill>
                  <a:srgbClr val="4A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4A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및</a:t>
            </a:r>
            <a:r>
              <a:rPr lang="ko-KR" altLang="en-US" sz="1600" dirty="0">
                <a:solidFill>
                  <a:srgbClr val="4A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4A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병목</a:t>
            </a:r>
            <a:r>
              <a:rPr lang="en-US" sz="1600" dirty="0">
                <a:solidFill>
                  <a:srgbClr val="4A47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현상 발생</a:t>
            </a:r>
            <a:endParaRPr lang="en-US" sz="1600" dirty="0">
              <a:solidFill>
                <a:srgbClr val="4A4747"/>
              </a:solidFill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79560636-EF82-FFE7-17E4-A56845246DAD}"/>
              </a:ext>
            </a:extLst>
          </p:cNvPr>
          <p:cNvSpPr/>
          <p:nvPr/>
        </p:nvSpPr>
        <p:spPr>
          <a:xfrm>
            <a:off x="1229895" y="1385864"/>
            <a:ext cx="5436289" cy="4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결합을 위한 절차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슬라이드 번호 개체 틀 45">
            <a:extLst>
              <a:ext uri="{FF2B5EF4-FFF2-40B4-BE49-F238E27FC236}">
                <a16:creationId xmlns:a16="http://schemas.microsoft.com/office/drawing/2014/main" id="{23ADFD84-57E3-E8C4-5DF3-A0B18029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DC7AEACE-976B-75A7-7AD5-14431132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1A6BFEC1-6604-FB81-6DBA-E14F42CF46F5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054B11C9-5702-48E2-5F52-E2598E044AEA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28C2460D-0DB4-0E79-7030-422908BAB0F5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417C445A-5F16-8D68-12DE-4019AA5DAFFC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131155DF-3DA8-3A5A-EAD2-841640839DBF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목표 </a:t>
            </a: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9AA493F1-122B-F9A9-86A3-9D4E3F62DB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940CCC0-1FD6-DDF4-F878-F4663BFF5A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A416CD7-4ACF-A2BD-C32B-C5BDADA2E80B}"/>
              </a:ext>
            </a:extLst>
          </p:cNvPr>
          <p:cNvSpPr txBox="1"/>
          <p:nvPr/>
        </p:nvSpPr>
        <p:spPr>
          <a:xfrm>
            <a:off x="10994065" y="29248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2B0AC7F4-DA54-AF96-EFF6-320EB70D66F6}"/>
              </a:ext>
            </a:extLst>
          </p:cNvPr>
          <p:cNvSpPr/>
          <p:nvPr/>
        </p:nvSpPr>
        <p:spPr>
          <a:xfrm>
            <a:off x="716547" y="1141860"/>
            <a:ext cx="6390419" cy="59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해결방안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ko-KR" altLang="en-US" sz="3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캡스톤디자인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-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자동화된 통합 프로세스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4B3CF26-6889-1CFF-3A2B-10675655A378}"/>
              </a:ext>
            </a:extLst>
          </p:cNvPr>
          <p:cNvGrpSpPr/>
          <p:nvPr/>
        </p:nvGrpSpPr>
        <p:grpSpPr>
          <a:xfrm>
            <a:off x="792394" y="1583532"/>
            <a:ext cx="7834982" cy="962244"/>
            <a:chOff x="856560" y="1533447"/>
            <a:chExt cx="7834982" cy="1376243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98F03E43-37B4-2755-A6BF-D1F8CF6BE331}"/>
                </a:ext>
              </a:extLst>
            </p:cNvPr>
            <p:cNvSpPr/>
            <p:nvPr/>
          </p:nvSpPr>
          <p:spPr>
            <a:xfrm>
              <a:off x="856560" y="1533447"/>
              <a:ext cx="186928" cy="1376243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C319A1FF-0E29-A7F8-EAF5-D1B6DD2426BE}"/>
                </a:ext>
              </a:extLst>
            </p:cNvPr>
            <p:cNvSpPr/>
            <p:nvPr/>
          </p:nvSpPr>
          <p:spPr>
            <a:xfrm>
              <a:off x="1229895" y="1628893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식별정보 탐지</a:t>
              </a:r>
              <a:endParaRPr lang="en-US" sz="1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1D86C1DE-24EC-6F4F-2FE9-FB15CBC769F0}"/>
                </a:ext>
              </a:extLst>
            </p:cNvPr>
            <p:cNvSpPr/>
            <p:nvPr/>
          </p:nvSpPr>
          <p:spPr>
            <a:xfrm>
              <a:off x="1229895" y="2033111"/>
              <a:ext cx="7461647" cy="598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도메인 사전 기반 매핑, NLP 임베딩 모델 기반 의미적 추론, 카디널리티 비율 기반 통계적 추론 방법을 순차적으로 적용</a:t>
              </a:r>
              <a:endParaRPr lang="en-US" sz="145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D0D93B-ECF3-5C05-00E0-CC64B6094286}"/>
              </a:ext>
            </a:extLst>
          </p:cNvPr>
          <p:cNvGrpSpPr/>
          <p:nvPr/>
        </p:nvGrpSpPr>
        <p:grpSpPr>
          <a:xfrm>
            <a:off x="1072265" y="2649319"/>
            <a:ext cx="7555111" cy="877738"/>
            <a:chOff x="1136431" y="2958345"/>
            <a:chExt cx="7555111" cy="1121569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F9E4AC83-1FCD-EAC3-8A82-EEC04D38662A}"/>
                </a:ext>
              </a:extLst>
            </p:cNvPr>
            <p:cNvSpPr/>
            <p:nvPr/>
          </p:nvSpPr>
          <p:spPr>
            <a:xfrm>
              <a:off x="1136431" y="2958345"/>
              <a:ext cx="186928" cy="1121569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DD848B11-5DC9-B914-75BA-44F439F0C1B1}"/>
                </a:ext>
              </a:extLst>
            </p:cNvPr>
            <p:cNvSpPr/>
            <p:nvPr/>
          </p:nvSpPr>
          <p:spPr>
            <a:xfrm>
              <a:off x="1510287" y="3145273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결합키 생성</a:t>
              </a:r>
              <a:endParaRPr lang="en-US" sz="18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89E72490-5EFC-08DE-7A9C-24B072727E0A}"/>
                </a:ext>
              </a:extLst>
            </p:cNvPr>
            <p:cNvSpPr/>
            <p:nvPr/>
          </p:nvSpPr>
          <p:spPr>
            <a:xfrm>
              <a:off x="1510287" y="3549491"/>
              <a:ext cx="7181255" cy="2990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선정된 필드를 기반으로 SHA-256 함수를 적용하여 결합키를 생성하고, 일련번호 추가</a:t>
              </a:r>
              <a:endParaRPr lang="en-US" sz="145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3E8D37C-E218-941F-AFF6-9DBBEEC8C8C9}"/>
              </a:ext>
            </a:extLst>
          </p:cNvPr>
          <p:cNvGrpSpPr/>
          <p:nvPr/>
        </p:nvGrpSpPr>
        <p:grpSpPr>
          <a:xfrm>
            <a:off x="1373493" y="3630600"/>
            <a:ext cx="7274719" cy="989291"/>
            <a:chOff x="1416823" y="4220050"/>
            <a:chExt cx="7274719" cy="1376243"/>
          </a:xfrm>
        </p:grpSpPr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DF1BC7C3-77AC-EA3F-DF4F-95D69B97EEEA}"/>
                </a:ext>
              </a:extLst>
            </p:cNvPr>
            <p:cNvSpPr/>
            <p:nvPr/>
          </p:nvSpPr>
          <p:spPr>
            <a:xfrm>
              <a:off x="1416823" y="4220050"/>
              <a:ext cx="186928" cy="1376243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F1049BE3-3D16-CBC7-ED1C-AE3BC4A7C589}"/>
                </a:ext>
              </a:extLst>
            </p:cNvPr>
            <p:cNvSpPr/>
            <p:nvPr/>
          </p:nvSpPr>
          <p:spPr>
            <a:xfrm>
              <a:off x="1790679" y="4406979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결합 과정</a:t>
              </a:r>
              <a:endParaRPr lang="en-US" sz="18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9C7A9555-0C20-0B61-AD24-4F62A8279873}"/>
                </a:ext>
              </a:extLst>
            </p:cNvPr>
            <p:cNvSpPr/>
            <p:nvPr/>
          </p:nvSpPr>
          <p:spPr>
            <a:xfrm>
              <a:off x="1790679" y="4811196"/>
              <a:ext cx="6900863" cy="598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생성된 결합키를 기반으로 동일 결합키의 일련번호를 매핑하여 결합연계정보 생성 후 실제 결합대상정보 매핑</a:t>
              </a:r>
              <a:endParaRPr lang="en-US" sz="145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8016C9C-FBF7-7FB2-D8A4-A92D6A8BE2B9}"/>
              </a:ext>
            </a:extLst>
          </p:cNvPr>
          <p:cNvGrpSpPr/>
          <p:nvPr/>
        </p:nvGrpSpPr>
        <p:grpSpPr>
          <a:xfrm>
            <a:off x="1706421" y="4723434"/>
            <a:ext cx="6994326" cy="989291"/>
            <a:chOff x="1697215" y="5736431"/>
            <a:chExt cx="6994326" cy="1121569"/>
          </a:xfrm>
        </p:grpSpPr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DA19176D-5714-B949-4CE5-0C8312420842}"/>
                </a:ext>
              </a:extLst>
            </p:cNvPr>
            <p:cNvSpPr/>
            <p:nvPr/>
          </p:nvSpPr>
          <p:spPr>
            <a:xfrm>
              <a:off x="1697215" y="5736431"/>
              <a:ext cx="186928" cy="1121569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B6A252B4-B832-B469-F34E-24FE61DBED64}"/>
                </a:ext>
              </a:extLst>
            </p:cNvPr>
            <p:cNvSpPr/>
            <p:nvPr/>
          </p:nvSpPr>
          <p:spPr>
            <a:xfrm>
              <a:off x="2071071" y="5923359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가명처리</a:t>
              </a:r>
              <a:endParaRPr lang="en-US" sz="18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E2D248C2-CC4F-9097-6FD8-E8FDB1E5F0CE}"/>
                </a:ext>
              </a:extLst>
            </p:cNvPr>
            <p:cNvSpPr/>
            <p:nvPr/>
          </p:nvSpPr>
          <p:spPr>
            <a:xfrm>
              <a:off x="2071071" y="6327576"/>
              <a:ext cx="6620470" cy="2990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가명정보 처리 가이드라인의 기술 적용: 문자열은 마스킹, 숫자는 범주화 기능 제공</a:t>
              </a:r>
              <a:endParaRPr lang="en-US" sz="145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3BDA026-4B2B-D88E-862D-19944DCB5892}"/>
              </a:ext>
            </a:extLst>
          </p:cNvPr>
          <p:cNvGrpSpPr/>
          <p:nvPr/>
        </p:nvGrpSpPr>
        <p:grpSpPr>
          <a:xfrm>
            <a:off x="2125332" y="5748186"/>
            <a:ext cx="8195336" cy="609041"/>
            <a:chOff x="1998332" y="5748186"/>
            <a:chExt cx="8195336" cy="60904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DA9F5C87-D11A-6D19-79C4-B8D52653276C}"/>
                </a:ext>
              </a:extLst>
            </p:cNvPr>
            <p:cNvSpPr/>
            <p:nvPr/>
          </p:nvSpPr>
          <p:spPr>
            <a:xfrm>
              <a:off x="2358165" y="5748186"/>
              <a:ext cx="7835503" cy="598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각 기능은 RESTful API 형태의 마이크로서비스로 구성되었으며, </a:t>
              </a:r>
            </a:p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API Gateway를 통한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이벤트</a:t>
              </a: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기반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통신</a:t>
              </a: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구조를</a:t>
              </a: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채택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하여 직접 구현함</a:t>
              </a:r>
              <a:r>
                <a:rPr lang="en-US" altLang="ko-KR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</a:t>
              </a:r>
              <a:endParaRPr lang="en-US" sz="1450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7D28D1B7-9FE7-594B-5DCE-67192650283F}"/>
                </a:ext>
              </a:extLst>
            </p:cNvPr>
            <p:cNvSpPr/>
            <p:nvPr/>
          </p:nvSpPr>
          <p:spPr>
            <a:xfrm>
              <a:off x="1998332" y="5753927"/>
              <a:ext cx="173368" cy="603300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7413633D-6193-329D-6507-BF681165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0314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185CA1E7-C005-1707-5D84-1234D448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3FB5EC34-E941-3094-0DF7-06B279D062A5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51DD645D-95C4-A327-1429-94BC311BE8AA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EA16E6F3-A62B-8628-0171-8DAE36D99FD3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F4EA7CFF-CD75-B0D9-116D-C24689F68E5E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60DD3575-8033-F705-1C33-DBDF68A3D0FB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목표 </a:t>
            </a: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83A59793-FF41-7E0A-A1DB-F426AEA16F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F2439B6-8FA5-B119-9A1A-D9AB0774B7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FFD038B-D341-ACB6-CC58-D9391188271B}"/>
              </a:ext>
            </a:extLst>
          </p:cNvPr>
          <p:cNvSpPr txBox="1"/>
          <p:nvPr/>
        </p:nvSpPr>
        <p:spPr>
          <a:xfrm>
            <a:off x="10994065" y="29248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A23D181C-A04A-2AE7-F658-3734D3857043}"/>
              </a:ext>
            </a:extLst>
          </p:cNvPr>
          <p:cNvSpPr/>
          <p:nvPr/>
        </p:nvSpPr>
        <p:spPr>
          <a:xfrm>
            <a:off x="716547" y="1141860"/>
            <a:ext cx="6390419" cy="59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문제점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ko-KR" altLang="en-US" sz="3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캡스톤디자인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-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자동화된 통합 프로세스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4726B0D-E37E-A80E-A19C-42532AA767E1}"/>
              </a:ext>
            </a:extLst>
          </p:cNvPr>
          <p:cNvGrpSpPr/>
          <p:nvPr/>
        </p:nvGrpSpPr>
        <p:grpSpPr>
          <a:xfrm>
            <a:off x="792394" y="1583532"/>
            <a:ext cx="7834982" cy="962244"/>
            <a:chOff x="856560" y="1533447"/>
            <a:chExt cx="7834982" cy="1376243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9C2214E4-CBF5-3DC1-EBBC-C294485984C1}"/>
                </a:ext>
              </a:extLst>
            </p:cNvPr>
            <p:cNvSpPr/>
            <p:nvPr/>
          </p:nvSpPr>
          <p:spPr>
            <a:xfrm>
              <a:off x="856560" y="1533447"/>
              <a:ext cx="186928" cy="1376243"/>
            </a:xfrm>
            <a:prstGeom prst="roundRect">
              <a:avLst>
                <a:gd name="adj" fmla="val 15001"/>
              </a:avLst>
            </a:prstGeom>
            <a:solidFill>
              <a:srgbClr val="37512F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B3B017B3-0AF7-618B-821D-9BED89684542}"/>
                </a:ext>
              </a:extLst>
            </p:cNvPr>
            <p:cNvSpPr/>
            <p:nvPr/>
          </p:nvSpPr>
          <p:spPr>
            <a:xfrm>
              <a:off x="1229895" y="1628893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식별정보 탐지</a:t>
              </a:r>
              <a:endParaRPr lang="en-US" sz="1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AE81A3A7-CCE3-31F8-B9D9-A6632DBBEB41}"/>
                </a:ext>
              </a:extLst>
            </p:cNvPr>
            <p:cNvSpPr/>
            <p:nvPr/>
          </p:nvSpPr>
          <p:spPr>
            <a:xfrm>
              <a:off x="1229895" y="2033111"/>
              <a:ext cx="7461647" cy="598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도메인 사전 기반 매핑, NLP 임베딩 모델 기반 의미적 추론, 카디널리티 비율 기반 통계적 추론 방법을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순차적으로</a:t>
              </a: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적용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altLang="ko-KR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-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ko-KR" altLang="en-US" sz="1450" dirty="0">
                  <a:solidFill>
                    <a:srgbClr val="37512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성능문제와 모순발생</a:t>
              </a:r>
              <a:endParaRPr lang="en-US" sz="1450" dirty="0">
                <a:solidFill>
                  <a:srgbClr val="37512F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4EB60A9-6461-3D96-B686-1A5B8DE9EF7A}"/>
              </a:ext>
            </a:extLst>
          </p:cNvPr>
          <p:cNvGrpSpPr/>
          <p:nvPr/>
        </p:nvGrpSpPr>
        <p:grpSpPr>
          <a:xfrm>
            <a:off x="1072265" y="2649319"/>
            <a:ext cx="7555111" cy="877738"/>
            <a:chOff x="1136431" y="2958345"/>
            <a:chExt cx="7555111" cy="1121569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416C14E-6515-A9B1-86B8-1FC5ED4ED507}"/>
                </a:ext>
              </a:extLst>
            </p:cNvPr>
            <p:cNvSpPr/>
            <p:nvPr/>
          </p:nvSpPr>
          <p:spPr>
            <a:xfrm>
              <a:off x="1136431" y="2958345"/>
              <a:ext cx="186928" cy="1121569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8A2B0FC2-5CA8-FD25-54E2-34D27669788C}"/>
                </a:ext>
              </a:extLst>
            </p:cNvPr>
            <p:cNvSpPr/>
            <p:nvPr/>
          </p:nvSpPr>
          <p:spPr>
            <a:xfrm>
              <a:off x="1510287" y="3145273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결합키 생성</a:t>
              </a:r>
              <a:endParaRPr lang="en-US" sz="18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7D9835AD-7425-DE2A-86AC-E133A3D33C1A}"/>
                </a:ext>
              </a:extLst>
            </p:cNvPr>
            <p:cNvSpPr/>
            <p:nvPr/>
          </p:nvSpPr>
          <p:spPr>
            <a:xfrm>
              <a:off x="1510287" y="3549491"/>
              <a:ext cx="7181255" cy="2990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선정된 필드를 기반으로 SHA-256 함수를 적용하여 결합키를 생성하고, 일련번호 추가</a:t>
              </a:r>
              <a:endParaRPr lang="en-US" sz="145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66D1EDA-0BB7-5586-7451-803DABB4677C}"/>
              </a:ext>
            </a:extLst>
          </p:cNvPr>
          <p:cNvGrpSpPr/>
          <p:nvPr/>
        </p:nvGrpSpPr>
        <p:grpSpPr>
          <a:xfrm>
            <a:off x="1373493" y="3630600"/>
            <a:ext cx="7274719" cy="989291"/>
            <a:chOff x="1416823" y="4220050"/>
            <a:chExt cx="7274719" cy="1376243"/>
          </a:xfrm>
        </p:grpSpPr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2E2C8AF7-06FA-7E40-E345-721079CFD282}"/>
                </a:ext>
              </a:extLst>
            </p:cNvPr>
            <p:cNvSpPr/>
            <p:nvPr/>
          </p:nvSpPr>
          <p:spPr>
            <a:xfrm>
              <a:off x="1416823" y="4220050"/>
              <a:ext cx="186928" cy="1376243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12E94D75-35FB-2BBA-FE4C-0F75F4FFE97C}"/>
                </a:ext>
              </a:extLst>
            </p:cNvPr>
            <p:cNvSpPr/>
            <p:nvPr/>
          </p:nvSpPr>
          <p:spPr>
            <a:xfrm>
              <a:off x="1790679" y="4406979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결합 과정</a:t>
              </a:r>
              <a:endParaRPr lang="en-US" sz="18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EFD7111E-E7CC-BCCF-600A-913D4A05E624}"/>
                </a:ext>
              </a:extLst>
            </p:cNvPr>
            <p:cNvSpPr/>
            <p:nvPr/>
          </p:nvSpPr>
          <p:spPr>
            <a:xfrm>
              <a:off x="1790679" y="4811196"/>
              <a:ext cx="6900863" cy="598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생성된 결합키를 기반으로 동일 결합키의 일련번호를 매핑하여 결합연계정보 생성 후 실제 결합대상정보 매핑</a:t>
              </a:r>
              <a:endParaRPr lang="en-US" sz="145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4E559CA-BFC2-1277-065C-D7FADC35F467}"/>
              </a:ext>
            </a:extLst>
          </p:cNvPr>
          <p:cNvGrpSpPr/>
          <p:nvPr/>
        </p:nvGrpSpPr>
        <p:grpSpPr>
          <a:xfrm>
            <a:off x="1706421" y="4723434"/>
            <a:ext cx="6994326" cy="989291"/>
            <a:chOff x="1697215" y="5736431"/>
            <a:chExt cx="6994326" cy="1121569"/>
          </a:xfrm>
        </p:grpSpPr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DBF47C70-B349-6E3F-6545-27F590DAE88C}"/>
                </a:ext>
              </a:extLst>
            </p:cNvPr>
            <p:cNvSpPr/>
            <p:nvPr/>
          </p:nvSpPr>
          <p:spPr>
            <a:xfrm>
              <a:off x="1697215" y="5736431"/>
              <a:ext cx="186928" cy="1121569"/>
            </a:xfrm>
            <a:prstGeom prst="roundRect">
              <a:avLst>
                <a:gd name="adj" fmla="val 15001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BD4B8762-93E8-CD6C-3192-5AA233A4FF4F}"/>
                </a:ext>
              </a:extLst>
            </p:cNvPr>
            <p:cNvSpPr/>
            <p:nvPr/>
          </p:nvSpPr>
          <p:spPr>
            <a:xfrm>
              <a:off x="2071071" y="5923359"/>
              <a:ext cx="2336602" cy="2920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가명처리</a:t>
              </a:r>
              <a:endParaRPr lang="en-US" sz="18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577B0052-8013-1F6C-AD51-AD4224354C1E}"/>
                </a:ext>
              </a:extLst>
            </p:cNvPr>
            <p:cNvSpPr/>
            <p:nvPr/>
          </p:nvSpPr>
          <p:spPr>
            <a:xfrm>
              <a:off x="2071071" y="6327576"/>
              <a:ext cx="6620470" cy="2990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가명정보 처리 가이드라인의 기술 적용: 문자열은 마스킹, 숫자는 범주화 기능 제공</a:t>
              </a:r>
              <a:endParaRPr lang="en-US" sz="145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831F600-F4C1-FBA2-3DEB-6FFF8D643FD0}"/>
              </a:ext>
            </a:extLst>
          </p:cNvPr>
          <p:cNvGrpSpPr/>
          <p:nvPr/>
        </p:nvGrpSpPr>
        <p:grpSpPr>
          <a:xfrm>
            <a:off x="2125332" y="5748186"/>
            <a:ext cx="8195336" cy="609041"/>
            <a:chOff x="1998332" y="5748186"/>
            <a:chExt cx="8195336" cy="609041"/>
          </a:xfrm>
        </p:grpSpPr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DC95F71D-950B-F8C7-8404-BC671BECBE88}"/>
                </a:ext>
              </a:extLst>
            </p:cNvPr>
            <p:cNvSpPr/>
            <p:nvPr/>
          </p:nvSpPr>
          <p:spPr>
            <a:xfrm>
              <a:off x="2358165" y="5748186"/>
              <a:ext cx="7835503" cy="598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각 기능은 RESTful API 형태의 마이크로서비스로 구성되었으며, </a:t>
              </a:r>
            </a:p>
            <a:p>
              <a:pPr marL="0" indent="0" algn="l">
                <a:lnSpc>
                  <a:spcPts val="2350"/>
                </a:lnSpc>
                <a:buNone/>
              </a:pP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API Gateway를 통한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이벤트</a:t>
              </a: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기반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통신</a:t>
              </a: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구조를</a:t>
              </a:r>
              <a:r>
                <a:rPr 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5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채택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하여 직접 구현함</a:t>
              </a:r>
              <a:r>
                <a:rPr lang="en-US" altLang="ko-KR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altLang="ko-KR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–</a:t>
              </a:r>
              <a:r>
                <a:rPr lang="ko-KR" altLang="en-US" sz="145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ko-KR" altLang="en-US" sz="1450" dirty="0">
                  <a:solidFill>
                    <a:srgbClr val="37512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오버헤드 발생</a:t>
              </a:r>
              <a:endParaRPr lang="en-US" sz="1450" dirty="0">
                <a:solidFill>
                  <a:srgbClr val="37512F"/>
                </a:solidFill>
              </a:endParaRPr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13679449-8DC9-0446-97C9-814D0C212D63}"/>
                </a:ext>
              </a:extLst>
            </p:cNvPr>
            <p:cNvSpPr/>
            <p:nvPr/>
          </p:nvSpPr>
          <p:spPr>
            <a:xfrm>
              <a:off x="1998332" y="5753927"/>
              <a:ext cx="173368" cy="603300"/>
            </a:xfrm>
            <a:prstGeom prst="roundRect">
              <a:avLst>
                <a:gd name="adj" fmla="val 15001"/>
              </a:avLst>
            </a:prstGeom>
            <a:solidFill>
              <a:srgbClr val="37512F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5C1794BB-4F6F-A1AE-BA90-B995611D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887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9A34F447-8BE8-2992-612F-ABD2F344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DBCACB58-A424-9CA5-381C-3D0EEAF2A874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D66F1E98-78E2-6953-95D5-20F40DFDEBC4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ECCCB136-EC6F-3A26-4330-48F0E6621BBF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8E059A3E-B0D3-1A1E-CDE8-7503BC4D9EB2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BC38B370-F76B-0DA7-5BDF-6F61BEB53E47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목표 </a:t>
            </a: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4A3F13C4-B56C-34E3-FCE3-DA4647E511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0BDF3A-2AD7-CE6E-5B9F-E3AA730046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A35A106-CA4B-F696-835E-E37C8719DA70}"/>
              </a:ext>
            </a:extLst>
          </p:cNvPr>
          <p:cNvSpPr txBox="1"/>
          <p:nvPr/>
        </p:nvSpPr>
        <p:spPr>
          <a:xfrm>
            <a:off x="10403475" y="24165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72814144-9BC9-E0F5-43D8-7E459DC56EE2}"/>
              </a:ext>
            </a:extLst>
          </p:cNvPr>
          <p:cNvSpPr/>
          <p:nvPr/>
        </p:nvSpPr>
        <p:spPr>
          <a:xfrm>
            <a:off x="709020" y="1152964"/>
            <a:ext cx="6390419" cy="59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해결방안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ko-KR" altLang="en-US" sz="3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캡스톤디자인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-</a:t>
            </a: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자동화된 통합 프로세스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B68F8BF7-8D26-6FED-88D1-9DE2EC30E80E}"/>
              </a:ext>
            </a:extLst>
          </p:cNvPr>
          <p:cNvGrpSpPr/>
          <p:nvPr/>
        </p:nvGrpSpPr>
        <p:grpSpPr>
          <a:xfrm>
            <a:off x="410795" y="2416502"/>
            <a:ext cx="4158615" cy="2893937"/>
            <a:chOff x="410795" y="2416502"/>
            <a:chExt cx="4158615" cy="2893937"/>
          </a:xfrm>
        </p:grpSpPr>
        <p:pic>
          <p:nvPicPr>
            <p:cNvPr id="24" name="Image 0" descr="preencoded.png">
              <a:extLst>
                <a:ext uri="{FF2B5EF4-FFF2-40B4-BE49-F238E27FC236}">
                  <a16:creationId xmlns:a16="http://schemas.microsoft.com/office/drawing/2014/main" id="{DE8E7A2B-8DEE-1A93-9256-FEF99B29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0796" y="2416502"/>
              <a:ext cx="566976" cy="566976"/>
            </a:xfrm>
            <a:prstGeom prst="rect">
              <a:avLst/>
            </a:prstGeom>
          </p:spPr>
        </p:pic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87422A47-4FC3-D687-E131-94654D1B28EA}"/>
                </a:ext>
              </a:extLst>
            </p:cNvPr>
            <p:cNvSpPr/>
            <p:nvPr/>
          </p:nvSpPr>
          <p:spPr>
            <a:xfrm>
              <a:off x="410795" y="308916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성능 개선</a:t>
              </a:r>
              <a:endParaRPr lang="en-US" sz="2000" dirty="0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94F5FAFC-F22D-07EF-9D3E-137E5C1322F1}"/>
                </a:ext>
              </a:extLst>
            </p:cNvPr>
            <p:cNvSpPr/>
            <p:nvPr/>
          </p:nvSpPr>
          <p:spPr>
            <a:xfrm>
              <a:off x="410795" y="3439884"/>
              <a:ext cx="415861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기존 식별정보 탐지의 임베딩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모델이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ko-KR" alt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단 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13개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컬럼 처리에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평균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1.5초 소요되는 성능 문제 해결</a:t>
              </a:r>
              <a:endParaRPr lang="en-US" sz="1200" dirty="0"/>
            </a:p>
          </p:txBody>
        </p:sp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CC971D5A-070F-DF74-264A-7CBD198A4E5F}"/>
                </a:ext>
              </a:extLst>
            </p:cNvPr>
            <p:cNvSpPr/>
            <p:nvPr/>
          </p:nvSpPr>
          <p:spPr>
            <a:xfrm>
              <a:off x="410795" y="4221731"/>
              <a:ext cx="415861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결합키 생성 목적에 적합한 정보 탐지 방식으로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변경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: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일관성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(룰 기반)과 고유성(카디널리티 기반) 만족 정보 탐지</a:t>
              </a:r>
              <a:endParaRPr lang="en-US" sz="1200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FFD171E7-BF0C-E9AA-68C8-EF9152786AAA}"/>
              </a:ext>
            </a:extLst>
          </p:cNvPr>
          <p:cNvGrpSpPr/>
          <p:nvPr/>
        </p:nvGrpSpPr>
        <p:grpSpPr>
          <a:xfrm>
            <a:off x="4778831" y="2416502"/>
            <a:ext cx="4158615" cy="2531034"/>
            <a:chOff x="5020131" y="2416502"/>
            <a:chExt cx="4158615" cy="2531034"/>
          </a:xfrm>
        </p:grpSpPr>
        <p:pic>
          <p:nvPicPr>
            <p:cNvPr id="28" name="Image 1" descr="preencoded.png">
              <a:extLst>
                <a:ext uri="{FF2B5EF4-FFF2-40B4-BE49-F238E27FC236}">
                  <a16:creationId xmlns:a16="http://schemas.microsoft.com/office/drawing/2014/main" id="{AC41B929-1DBB-0D13-0783-8F2D5C05F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0132" y="2416502"/>
              <a:ext cx="566976" cy="566976"/>
            </a:xfrm>
            <a:prstGeom prst="rect">
              <a:avLst/>
            </a:prstGeom>
          </p:spPr>
        </p:pic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AAE46084-1969-17CD-25DD-F5B553CBD978}"/>
                </a:ext>
              </a:extLst>
            </p:cNvPr>
            <p:cNvSpPr/>
            <p:nvPr/>
          </p:nvSpPr>
          <p:spPr>
            <a:xfrm>
              <a:off x="5020132" y="308916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보안 강화</a:t>
              </a:r>
              <a:endParaRPr lang="en-US" sz="2000" dirty="0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3BA78C65-0E61-27EC-F975-62AAD4C1E9FE}"/>
                </a:ext>
              </a:extLst>
            </p:cNvPr>
            <p:cNvSpPr/>
            <p:nvPr/>
          </p:nvSpPr>
          <p:spPr>
            <a:xfrm>
              <a:off x="5020132" y="3439884"/>
              <a:ext cx="261192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gRPC 기반 마이크로서비스 환경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구성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및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TLS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적용으로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ko-KR" alt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통신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과정 암호화</a:t>
              </a:r>
              <a:endParaRPr lang="en-US" sz="1200" dirty="0"/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35E9E8BA-3F87-7F2E-1F6E-BF1DAB39392F}"/>
                </a:ext>
              </a:extLst>
            </p:cNvPr>
            <p:cNvSpPr/>
            <p:nvPr/>
          </p:nvSpPr>
          <p:spPr>
            <a:xfrm>
              <a:off x="5020131" y="4221731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민감정보 데이터셋 전달 시 파일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청크화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및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청크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단위 암호화 적용으로 보안 강화</a:t>
              </a:r>
              <a:endParaRPr lang="en-US" sz="1200" dirty="0"/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262F29C3-BA3E-CF3B-3440-000A319AF614}"/>
              </a:ext>
            </a:extLst>
          </p:cNvPr>
          <p:cNvGrpSpPr/>
          <p:nvPr/>
        </p:nvGrpSpPr>
        <p:grpSpPr>
          <a:xfrm>
            <a:off x="8626658" y="2416502"/>
            <a:ext cx="4158616" cy="2531034"/>
            <a:chOff x="8740958" y="2416502"/>
            <a:chExt cx="4158616" cy="2531034"/>
          </a:xfrm>
        </p:grpSpPr>
        <p:pic>
          <p:nvPicPr>
            <p:cNvPr id="32" name="Image 2" descr="preencoded.png">
              <a:extLst>
                <a:ext uri="{FF2B5EF4-FFF2-40B4-BE49-F238E27FC236}">
                  <a16:creationId xmlns:a16="http://schemas.microsoft.com/office/drawing/2014/main" id="{7FAF2038-E5D8-7731-0779-31E02A4AA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40959" y="2416502"/>
              <a:ext cx="566976" cy="566976"/>
            </a:xfrm>
            <a:prstGeom prst="rect">
              <a:avLst/>
            </a:prstGeom>
          </p:spPr>
        </p:pic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C6549D9B-0B4A-3883-2E64-5D719F3ED073}"/>
                </a:ext>
              </a:extLst>
            </p:cNvPr>
            <p:cNvSpPr/>
            <p:nvPr/>
          </p:nvSpPr>
          <p:spPr>
            <a:xfrm>
              <a:off x="8740959" y="308916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통신 방식 개선</a:t>
              </a:r>
              <a:endParaRPr lang="en-US" sz="2000" dirty="0"/>
            </a:p>
          </p:txBody>
        </p:sp>
        <p:sp>
          <p:nvSpPr>
            <p:cNvPr id="34" name="Text 8">
              <a:extLst>
                <a:ext uri="{FF2B5EF4-FFF2-40B4-BE49-F238E27FC236}">
                  <a16:creationId xmlns:a16="http://schemas.microsoft.com/office/drawing/2014/main" id="{2807CF6C-73BC-A06E-FD77-A7D7FE67E78D}"/>
                </a:ext>
              </a:extLst>
            </p:cNvPr>
            <p:cNvSpPr/>
            <p:nvPr/>
          </p:nvSpPr>
          <p:spPr>
            <a:xfrm>
              <a:off x="8740959" y="3439884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빈번한 HTTP 통신으로 인한 오버헤드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해소를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위해</a:t>
              </a:r>
              <a:endPara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HTTP/2 기반 gRPC 도입</a:t>
              </a:r>
              <a:endParaRPr lang="en-US" sz="1200" dirty="0"/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0A33A7D1-A8D5-639F-05FC-E37FD6475A70}"/>
                </a:ext>
              </a:extLst>
            </p:cNvPr>
            <p:cNvSpPr/>
            <p:nvPr/>
          </p:nvSpPr>
          <p:spPr>
            <a:xfrm>
              <a:off x="8740958" y="4221731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메모리 기반 이벤트 큐에서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디스크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기반</a:t>
              </a:r>
              <a:endPara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메시지 브로커 기술로 전환하여 영속성 확보</a:t>
              </a:r>
              <a:endParaRPr lang="en-US" sz="1200" dirty="0"/>
            </a:p>
          </p:txBody>
        </p:sp>
      </p:grpSp>
      <p:cxnSp>
        <p:nvCxnSpPr>
          <p:cNvPr id="40" name="Google Shape;143;p3">
            <a:extLst>
              <a:ext uri="{FF2B5EF4-FFF2-40B4-BE49-F238E27FC236}">
                <a16:creationId xmlns:a16="http://schemas.microsoft.com/office/drawing/2014/main" id="{F78A70F4-83B0-3F93-850E-401DD85C037F}"/>
              </a:ext>
            </a:extLst>
          </p:cNvPr>
          <p:cNvCxnSpPr>
            <a:cxnSpLocks/>
          </p:cNvCxnSpPr>
          <p:nvPr/>
        </p:nvCxnSpPr>
        <p:spPr>
          <a:xfrm flipV="1">
            <a:off x="158749" y="4271178"/>
            <a:ext cx="11874500" cy="16615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" name="Google Shape;143;p3">
            <a:extLst>
              <a:ext uri="{FF2B5EF4-FFF2-40B4-BE49-F238E27FC236}">
                <a16:creationId xmlns:a16="http://schemas.microsoft.com/office/drawing/2014/main" id="{C52FB5D6-2FDE-7C12-C2EF-3961ABFC18A4}"/>
              </a:ext>
            </a:extLst>
          </p:cNvPr>
          <p:cNvCxnSpPr>
            <a:cxnSpLocks/>
          </p:cNvCxnSpPr>
          <p:nvPr/>
        </p:nvCxnSpPr>
        <p:spPr>
          <a:xfrm flipV="1">
            <a:off x="158749" y="3483277"/>
            <a:ext cx="11874500" cy="16615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슬라이드 번호 개체 틀 148">
            <a:extLst>
              <a:ext uri="{FF2B5EF4-FFF2-40B4-BE49-F238E27FC236}">
                <a16:creationId xmlns:a16="http://schemas.microsoft.com/office/drawing/2014/main" id="{4D29D6BF-AFB3-AF11-54FF-02CC98F4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991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F70DBA86-F4BB-62D4-D789-E1ADCF59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6F64D90B-6376-A999-6DD6-8EEFEFB3A788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594EFF44-1E45-EB34-4A13-631D2DD81BDB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640CBC8C-9A6D-57DD-9716-BF1D0A702280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E141BEBE-8741-0D4D-F688-1EFE1445E92C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660B4B13-F835-DED4-F19F-901992C817CC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내용 </a:t>
            </a: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DC65AD55-FA72-1932-7166-5E4436F951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B49C480-6119-9CE9-89D0-512F47D882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4C328A8-DFC9-F1A7-04EC-9848E4189A79}"/>
              </a:ext>
            </a:extLst>
          </p:cNvPr>
          <p:cNvSpPr txBox="1"/>
          <p:nvPr/>
        </p:nvSpPr>
        <p:spPr>
          <a:xfrm>
            <a:off x="10378950" y="18341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55EE5FC3-D054-ED61-BD2B-BF8BD04D582F}"/>
              </a:ext>
            </a:extLst>
          </p:cNvPr>
          <p:cNvSpPr/>
          <p:nvPr/>
        </p:nvSpPr>
        <p:spPr>
          <a:xfrm>
            <a:off x="709020" y="1152964"/>
            <a:ext cx="6390419" cy="59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캡스톤디자인</a:t>
            </a:r>
            <a:r>
              <a:rPr lang="en-US" altLang="ko-KR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5F0AE66A-9F69-221F-1143-C69E3A08235E}"/>
              </a:ext>
            </a:extLst>
          </p:cNvPr>
          <p:cNvGrpSpPr/>
          <p:nvPr/>
        </p:nvGrpSpPr>
        <p:grpSpPr>
          <a:xfrm>
            <a:off x="386270" y="1834187"/>
            <a:ext cx="4158615" cy="2893937"/>
            <a:chOff x="410795" y="2416502"/>
            <a:chExt cx="4158615" cy="2893937"/>
          </a:xfrm>
        </p:grpSpPr>
        <p:pic>
          <p:nvPicPr>
            <p:cNvPr id="24" name="Image 0" descr="preencoded.png">
              <a:extLst>
                <a:ext uri="{FF2B5EF4-FFF2-40B4-BE49-F238E27FC236}">
                  <a16:creationId xmlns:a16="http://schemas.microsoft.com/office/drawing/2014/main" id="{EABA0164-A9A7-7B30-60FD-E607EABCE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0796" y="2416502"/>
              <a:ext cx="566976" cy="566976"/>
            </a:xfrm>
            <a:prstGeom prst="rect">
              <a:avLst/>
            </a:prstGeom>
          </p:spPr>
        </p:pic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7B686133-C5F0-8C40-D860-B5D85739B883}"/>
                </a:ext>
              </a:extLst>
            </p:cNvPr>
            <p:cNvSpPr/>
            <p:nvPr/>
          </p:nvSpPr>
          <p:spPr>
            <a:xfrm>
              <a:off x="410795" y="308916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성능 개선</a:t>
              </a:r>
              <a:endParaRPr lang="en-US" sz="2000" dirty="0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2127F47F-E1DA-E909-EF89-31F3CDD8431E}"/>
                </a:ext>
              </a:extLst>
            </p:cNvPr>
            <p:cNvSpPr/>
            <p:nvPr/>
          </p:nvSpPr>
          <p:spPr>
            <a:xfrm>
              <a:off x="410795" y="3439884"/>
              <a:ext cx="415861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기존 식별정보 탐지의 임베딩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모델이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ko-KR" alt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단 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13개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컬럼 처리에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평균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1.5초 소요되는 성능 문제 해결</a:t>
              </a:r>
              <a:endParaRPr lang="en-US" sz="1200" dirty="0"/>
            </a:p>
          </p:txBody>
        </p:sp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DDCEC1A8-CA70-728A-6F3D-579A1A105BC4}"/>
                </a:ext>
              </a:extLst>
            </p:cNvPr>
            <p:cNvSpPr/>
            <p:nvPr/>
          </p:nvSpPr>
          <p:spPr>
            <a:xfrm>
              <a:off x="410795" y="4221731"/>
              <a:ext cx="415861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결합키 생성 목적에 적합한 정보 탐지 방식으로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변경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: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일관성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(룰 기반)과 고유성(카디널리티 기반) 만족 정보 탐지</a:t>
              </a:r>
              <a:endParaRPr lang="en-US" sz="1200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4404A034-1A89-55B2-F2C1-BF8AE62D059C}"/>
              </a:ext>
            </a:extLst>
          </p:cNvPr>
          <p:cNvGrpSpPr/>
          <p:nvPr/>
        </p:nvGrpSpPr>
        <p:grpSpPr>
          <a:xfrm>
            <a:off x="4754306" y="1834187"/>
            <a:ext cx="4158615" cy="2531034"/>
            <a:chOff x="5020131" y="2416502"/>
            <a:chExt cx="4158615" cy="2531034"/>
          </a:xfrm>
        </p:grpSpPr>
        <p:pic>
          <p:nvPicPr>
            <p:cNvPr id="28" name="Image 1" descr="preencoded.png">
              <a:extLst>
                <a:ext uri="{FF2B5EF4-FFF2-40B4-BE49-F238E27FC236}">
                  <a16:creationId xmlns:a16="http://schemas.microsoft.com/office/drawing/2014/main" id="{B518A44B-FECB-2F51-A25C-35EE8CA46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0132" y="2416502"/>
              <a:ext cx="566976" cy="566976"/>
            </a:xfrm>
            <a:prstGeom prst="rect">
              <a:avLst/>
            </a:prstGeom>
          </p:spPr>
        </p:pic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A8BA1AD6-951D-4102-1974-1720577A25D2}"/>
                </a:ext>
              </a:extLst>
            </p:cNvPr>
            <p:cNvSpPr/>
            <p:nvPr/>
          </p:nvSpPr>
          <p:spPr>
            <a:xfrm>
              <a:off x="5020132" y="308916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보안 강화</a:t>
              </a:r>
              <a:endParaRPr lang="en-US" sz="2000" dirty="0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22D244F7-CD56-2539-DD4C-10AD72D4D7CA}"/>
                </a:ext>
              </a:extLst>
            </p:cNvPr>
            <p:cNvSpPr/>
            <p:nvPr/>
          </p:nvSpPr>
          <p:spPr>
            <a:xfrm>
              <a:off x="5020132" y="3439884"/>
              <a:ext cx="261192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gRPC 기반 마이크로서비스 환경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구성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및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TLS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적용으로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ko-KR" alt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통신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과정 암호화</a:t>
              </a:r>
              <a:endParaRPr lang="en-US" sz="1200" dirty="0"/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2B471051-D595-2962-F6ED-B6128BC27FAC}"/>
                </a:ext>
              </a:extLst>
            </p:cNvPr>
            <p:cNvSpPr/>
            <p:nvPr/>
          </p:nvSpPr>
          <p:spPr>
            <a:xfrm>
              <a:off x="5020131" y="4221731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민감정보 데이터셋 전달 시 파일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청크화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및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청크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단위 암호화 적용으로 보안 강화</a:t>
              </a:r>
              <a:endParaRPr lang="en-US" sz="1200" dirty="0"/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66E9019-4696-0C20-6C4E-369100EB7631}"/>
              </a:ext>
            </a:extLst>
          </p:cNvPr>
          <p:cNvGrpSpPr/>
          <p:nvPr/>
        </p:nvGrpSpPr>
        <p:grpSpPr>
          <a:xfrm>
            <a:off x="8602133" y="1834187"/>
            <a:ext cx="4158616" cy="2531034"/>
            <a:chOff x="8740958" y="2416502"/>
            <a:chExt cx="4158616" cy="2531034"/>
          </a:xfrm>
        </p:grpSpPr>
        <p:pic>
          <p:nvPicPr>
            <p:cNvPr id="32" name="Image 2" descr="preencoded.png">
              <a:extLst>
                <a:ext uri="{FF2B5EF4-FFF2-40B4-BE49-F238E27FC236}">
                  <a16:creationId xmlns:a16="http://schemas.microsoft.com/office/drawing/2014/main" id="{AAE9BA67-82F8-4F02-B0D7-49E3CD9C0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40959" y="2416502"/>
              <a:ext cx="566976" cy="566976"/>
            </a:xfrm>
            <a:prstGeom prst="rect">
              <a:avLst/>
            </a:prstGeom>
          </p:spPr>
        </p:pic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243AB5F7-03CE-DCA3-2944-5479E5CEA6D6}"/>
                </a:ext>
              </a:extLst>
            </p:cNvPr>
            <p:cNvSpPr/>
            <p:nvPr/>
          </p:nvSpPr>
          <p:spPr>
            <a:xfrm>
              <a:off x="8740959" y="308916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통신 방식 개선</a:t>
              </a:r>
              <a:endParaRPr lang="en-US" sz="2000" dirty="0"/>
            </a:p>
          </p:txBody>
        </p:sp>
        <p:sp>
          <p:nvSpPr>
            <p:cNvPr id="34" name="Text 8">
              <a:extLst>
                <a:ext uri="{FF2B5EF4-FFF2-40B4-BE49-F238E27FC236}">
                  <a16:creationId xmlns:a16="http://schemas.microsoft.com/office/drawing/2014/main" id="{3BE9AAF8-0A36-B19D-FADF-6EBF77132057}"/>
                </a:ext>
              </a:extLst>
            </p:cNvPr>
            <p:cNvSpPr/>
            <p:nvPr/>
          </p:nvSpPr>
          <p:spPr>
            <a:xfrm>
              <a:off x="8740959" y="3439884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빈번한 HTTP 통신으로 인한 오버헤드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해소를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위해</a:t>
              </a:r>
              <a:endPara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HTTP/2 기반 gRPC 도입</a:t>
              </a:r>
              <a:endParaRPr lang="en-US" sz="1200" dirty="0"/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C0A4CE27-14AD-1370-9388-96A975DF4837}"/>
                </a:ext>
              </a:extLst>
            </p:cNvPr>
            <p:cNvSpPr/>
            <p:nvPr/>
          </p:nvSpPr>
          <p:spPr>
            <a:xfrm>
              <a:off x="8740958" y="4221731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메모리 기반 이벤트 큐에서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디스크</a:t>
              </a: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2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기반</a:t>
              </a:r>
              <a:endPara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메시지 브로커 기술로 전환하여 영속성 확보</a:t>
              </a:r>
              <a:endParaRPr lang="en-US" sz="1200" dirty="0"/>
            </a:p>
          </p:txBody>
        </p:sp>
      </p:grpSp>
      <p:cxnSp>
        <p:nvCxnSpPr>
          <p:cNvPr id="40" name="Google Shape;143;p3">
            <a:extLst>
              <a:ext uri="{FF2B5EF4-FFF2-40B4-BE49-F238E27FC236}">
                <a16:creationId xmlns:a16="http://schemas.microsoft.com/office/drawing/2014/main" id="{5CB5A085-9292-1B57-7408-6322C6D475C7}"/>
              </a:ext>
            </a:extLst>
          </p:cNvPr>
          <p:cNvCxnSpPr>
            <a:cxnSpLocks/>
          </p:cNvCxnSpPr>
          <p:nvPr/>
        </p:nvCxnSpPr>
        <p:spPr>
          <a:xfrm flipV="1">
            <a:off x="134224" y="3688863"/>
            <a:ext cx="11874500" cy="16615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" name="Google Shape;143;p3">
            <a:extLst>
              <a:ext uri="{FF2B5EF4-FFF2-40B4-BE49-F238E27FC236}">
                <a16:creationId xmlns:a16="http://schemas.microsoft.com/office/drawing/2014/main" id="{72EBF71F-10B7-E93B-5114-C2FDBA6B83F9}"/>
              </a:ext>
            </a:extLst>
          </p:cNvPr>
          <p:cNvCxnSpPr>
            <a:cxnSpLocks/>
          </p:cNvCxnSpPr>
          <p:nvPr/>
        </p:nvCxnSpPr>
        <p:spPr>
          <a:xfrm flipV="1">
            <a:off x="134224" y="2900962"/>
            <a:ext cx="11874500" cy="16615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70F783-4283-97C3-2E13-C9F7A4E8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817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D9EF5CEE-6BA9-3B8F-DF41-8F91C0A4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9565702E-A8AE-5DAE-648F-84E688E33B0C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8EE128E0-96A3-F19A-D931-D7262F4DDF31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5BA665FC-B0BE-3AED-7751-6048FD03A7D6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920329DA-6026-6975-576A-A0EC7E442ED5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D6BE4B80-B759-10AD-333B-CE91CA54B0B9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목표 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변경사항</a:t>
            </a: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B11995CC-ED36-BA79-F30B-4CFEB324A9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8518316-284A-1183-0AC7-8F12A01CDD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9" name="Text 2">
            <a:extLst>
              <a:ext uri="{FF2B5EF4-FFF2-40B4-BE49-F238E27FC236}">
                <a16:creationId xmlns:a16="http://schemas.microsoft.com/office/drawing/2014/main" id="{92A3AACC-AD14-B979-8D28-3481D021A8A2}"/>
              </a:ext>
            </a:extLst>
          </p:cNvPr>
          <p:cNvSpPr/>
          <p:nvPr/>
        </p:nvSpPr>
        <p:spPr>
          <a:xfrm>
            <a:off x="888647" y="1288858"/>
            <a:ext cx="6390419" cy="59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변경사항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46C3B7-ED61-9A6B-85B2-D77807184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428000"/>
              </p:ext>
            </p:extLst>
          </p:nvPr>
        </p:nvGraphicFramePr>
        <p:xfrm>
          <a:off x="888647" y="2075058"/>
          <a:ext cx="10198100" cy="3932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291">
                  <a:extLst>
                    <a:ext uri="{9D8B030D-6E8A-4147-A177-3AD203B41FA5}">
                      <a16:colId xmlns:a16="http://schemas.microsoft.com/office/drawing/2014/main" val="2254175485"/>
                    </a:ext>
                  </a:extLst>
                </a:gridCol>
                <a:gridCol w="2607609">
                  <a:extLst>
                    <a:ext uri="{9D8B030D-6E8A-4147-A177-3AD203B41FA5}">
                      <a16:colId xmlns:a16="http://schemas.microsoft.com/office/drawing/2014/main" val="2616154649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3468827249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1516511489"/>
                    </a:ext>
                  </a:extLst>
                </a:gridCol>
              </a:tblGrid>
              <a:tr h="410617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ysClr val="windowText" lastClr="000000"/>
                          </a:solidFill>
                        </a:rPr>
                        <a:t>캡스톤디자인</a:t>
                      </a:r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ysClr val="windowText" lastClr="000000"/>
                          </a:solidFill>
                        </a:rPr>
                        <a:t>캡스톤디자인</a:t>
                      </a:r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수정근거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520"/>
                  </a:ext>
                </a:extLst>
              </a:tr>
              <a:tr h="943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결합키 대상 항목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식별정보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일관성과 고유성을 동시 만족하는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ysClr val="windowText" lastClr="000000"/>
                          </a:solidFill>
                        </a:rPr>
                        <a:t>임베딩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 모델의 성능적 문제로 인한 실시간성 보장 문제 존재 판단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129351"/>
                  </a:ext>
                </a:extLst>
              </a:tr>
              <a:tr h="9550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통신방법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RESTful API 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형태 구성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ysClr val="windowText" lastClr="000000"/>
                          </a:solidFill>
                        </a:rPr>
                        <a:t>gRCP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 적용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HTTP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통신으로 인한 불필요한 오버헤드 발생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239921"/>
                  </a:ext>
                </a:extLst>
              </a:tr>
              <a:tr h="9550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보안형태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TLS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적용 및 </a:t>
                      </a:r>
                      <a:r>
                        <a:rPr lang="ko-KR" altLang="en-US" dirty="0" err="1">
                          <a:solidFill>
                            <a:sysClr val="windowText" lastClr="000000"/>
                          </a:solidFill>
                        </a:rPr>
                        <a:t>청크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 단위 </a:t>
                      </a:r>
                      <a:endParaRPr lang="en-US" altLang="ko-KR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암호화</a:t>
                      </a:r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payload</a:t>
                      </a:r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구성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보안적 사항 부재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202154"/>
                  </a:ext>
                </a:extLst>
              </a:tr>
              <a:tr h="668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GUI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EE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임시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적용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사용자 인터페이스 부재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111212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AACF9F-F8E0-7F39-5E1C-2E1072B0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025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3FCA934C-8251-4AFC-4A4C-7A5EBA1E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7512BD19-29F1-1494-6816-2E4CFBE18CDE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4C7C86BD-1B5A-34DA-39D1-BC54A5D8C3ED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939E2D3A-9EDF-22DD-D9D1-AD1A9DC7E387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77A01D5A-860B-B04A-1ED1-011EFFB25244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5E30EA70-DA45-184C-1C8C-D42E1B7BABA0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목표 </a:t>
            </a:r>
            <a:r>
              <a:rPr lang="en-US" altLang="ko-K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변경사항</a:t>
            </a: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3C723DBD-85C6-82A8-3E14-5C4AC9EF9D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4B7DB6E-A962-3568-0FEA-3BFCFBFF46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9" name="Text 2">
            <a:extLst>
              <a:ext uri="{FF2B5EF4-FFF2-40B4-BE49-F238E27FC236}">
                <a16:creationId xmlns:a16="http://schemas.microsoft.com/office/drawing/2014/main" id="{2960DD8F-71C9-0396-86A1-5075522D1A78}"/>
              </a:ext>
            </a:extLst>
          </p:cNvPr>
          <p:cNvSpPr/>
          <p:nvPr/>
        </p:nvSpPr>
        <p:spPr>
          <a:xfrm>
            <a:off x="888647" y="1288858"/>
            <a:ext cx="6390419" cy="59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ko-KR" altLang="en-US" sz="3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기대효과</a:t>
            </a:r>
            <a:endParaRPr lang="en-US" sz="3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F0ED58B-B93F-8BA2-F3AD-D5D89FBC4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860" y="2075611"/>
            <a:ext cx="11384036" cy="3736578"/>
          </a:xfrm>
          <a:prstGeom prst="rect">
            <a:avLst/>
          </a:prstGeom>
        </p:spPr>
      </p:pic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1CEC4A4B-F6F5-DBBB-1924-99684C14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196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7326CF66-B589-A5FD-B549-718E3069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3">
            <a:extLst>
              <a:ext uri="{FF2B5EF4-FFF2-40B4-BE49-F238E27FC236}">
                <a16:creationId xmlns:a16="http://schemas.microsoft.com/office/drawing/2014/main" id="{7BD735B1-FD78-5850-49DB-C5BEB0AD9C0C}"/>
              </a:ext>
            </a:extLst>
          </p:cNvPr>
          <p:cNvCxnSpPr/>
          <p:nvPr/>
        </p:nvCxnSpPr>
        <p:spPr>
          <a:xfrm rot="10800000" flipH="1">
            <a:off x="410795" y="780996"/>
            <a:ext cx="10770552" cy="10750"/>
          </a:xfrm>
          <a:prstGeom prst="straightConnector1">
            <a:avLst/>
          </a:prstGeom>
          <a:noFill/>
          <a:ln w="12700" cap="flat" cmpd="sng">
            <a:solidFill>
              <a:srgbClr val="D0D0D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0BD9AB7A-8C23-5D14-ECE5-75679E18F9EA}"/>
              </a:ext>
            </a:extLst>
          </p:cNvPr>
          <p:cNvSpPr/>
          <p:nvPr/>
        </p:nvSpPr>
        <p:spPr>
          <a:xfrm>
            <a:off x="203200" y="780997"/>
            <a:ext cx="1026695" cy="470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endParaRPr sz="24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3">
            <a:extLst>
              <a:ext uri="{FF2B5EF4-FFF2-40B4-BE49-F238E27FC236}">
                <a16:creationId xmlns:a16="http://schemas.microsoft.com/office/drawing/2014/main" id="{B30D4A14-EF04-C613-E558-C9E206C03C3A}"/>
              </a:ext>
            </a:extLst>
          </p:cNvPr>
          <p:cNvCxnSpPr/>
          <p:nvPr/>
        </p:nvCxnSpPr>
        <p:spPr>
          <a:xfrm>
            <a:off x="327860" y="6432880"/>
            <a:ext cx="11536279" cy="0"/>
          </a:xfrm>
          <a:prstGeom prst="straightConnector1">
            <a:avLst/>
          </a:prstGeom>
          <a:noFill/>
          <a:ln w="9525" cap="flat" cmpd="sng">
            <a:solidFill>
              <a:srgbClr val="FEF5E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750C7AAA-662D-BCE3-4997-6F6F6B13D80B}"/>
              </a:ext>
            </a:extLst>
          </p:cNvPr>
          <p:cNvSpPr txBox="1"/>
          <p:nvPr/>
        </p:nvSpPr>
        <p:spPr>
          <a:xfrm>
            <a:off x="203200" y="194286"/>
            <a:ext cx="7836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US" altLang="ko-K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>
            <a:extLst>
              <a:ext uri="{FF2B5EF4-FFF2-40B4-BE49-F238E27FC236}">
                <a16:creationId xmlns:a16="http://schemas.microsoft.com/office/drawing/2014/main" id="{C0A3E251-C0B5-C9F8-5449-E3BF0BADE477}"/>
              </a:ext>
            </a:extLst>
          </p:cNvPr>
          <p:cNvSpPr txBox="1"/>
          <p:nvPr/>
        </p:nvSpPr>
        <p:spPr>
          <a:xfrm>
            <a:off x="888647" y="319330"/>
            <a:ext cx="7713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</a:p>
        </p:txBody>
      </p:sp>
      <p:pic>
        <p:nvPicPr>
          <p:cNvPr id="148" name="Google Shape;148;p3">
            <a:extLst>
              <a:ext uri="{FF2B5EF4-FFF2-40B4-BE49-F238E27FC236}">
                <a16:creationId xmlns:a16="http://schemas.microsoft.com/office/drawing/2014/main" id="{AF82A450-48CF-1E03-0960-BB898D16AB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0186" y="209741"/>
            <a:ext cx="616888" cy="61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191ADA5-6DB6-96DC-EF11-AAD32CA3D8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40" b="79574" l="22764" r="79213"/>
                    </a14:imgEffect>
                  </a14:imgLayer>
                </a14:imgProps>
              </a:ext>
            </a:extLst>
          </a:blip>
          <a:srcRect l="15708" t="8323" r="13731" b="12509"/>
          <a:stretch/>
        </p:blipFill>
        <p:spPr>
          <a:xfrm>
            <a:off x="11199355" y="6019086"/>
            <a:ext cx="747719" cy="83891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B2E9C32-9403-2789-FDD9-277267D10B35}"/>
              </a:ext>
            </a:extLst>
          </p:cNvPr>
          <p:cNvSpPr txBox="1"/>
          <p:nvPr/>
        </p:nvSpPr>
        <p:spPr>
          <a:xfrm>
            <a:off x="10994065" y="29248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Google Shape;147;p3">
            <a:extLst>
              <a:ext uri="{FF2B5EF4-FFF2-40B4-BE49-F238E27FC236}">
                <a16:creationId xmlns:a16="http://schemas.microsoft.com/office/drawing/2014/main" id="{6B8187C4-720C-BF67-1E91-C23026D469A9}"/>
              </a:ext>
            </a:extLst>
          </p:cNvPr>
          <p:cNvSpPr txBox="1"/>
          <p:nvPr/>
        </p:nvSpPr>
        <p:spPr>
          <a:xfrm>
            <a:off x="3616700" y="2924855"/>
            <a:ext cx="7713486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2400"/>
            </a:pPr>
            <a:r>
              <a:rPr lang="ko-KR" altLang="en-US" sz="6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r>
              <a:rPr lang="en-US" altLang="ko-KR" sz="6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en-US" sz="6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A3851-8640-1FD4-BB30-96EE77EE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E9CF-8E55-4942-94F4-5C5509B6FAD8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282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10873</TotalTime>
  <Words>1487</Words>
  <Application>Microsoft Macintosh PowerPoint</Application>
  <PresentationFormat>와이드스크린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Gulim</vt:lpstr>
      <vt:lpstr>Malgun Gothic</vt:lpstr>
      <vt:lpstr>Malgun Gothic</vt:lpstr>
      <vt:lpstr>Arial</vt:lpstr>
      <vt:lpstr>DM Sans Medium</vt:lpstr>
      <vt:lpstr>Inter</vt:lpstr>
      <vt:lpstr>Lora</vt:lpstr>
      <vt:lpstr>Poppins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권정은</dc:creator>
  <cp:lastModifiedBy>권정은</cp:lastModifiedBy>
  <cp:revision>39</cp:revision>
  <cp:lastPrinted>2025-07-07T05:30:05Z</cp:lastPrinted>
  <dcterms:created xsi:type="dcterms:W3CDTF">2025-03-05T08:24:53Z</dcterms:created>
  <dcterms:modified xsi:type="dcterms:W3CDTF">2025-07-07T06:48:01Z</dcterms:modified>
</cp:coreProperties>
</file>