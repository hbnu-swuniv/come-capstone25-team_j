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71" r:id="rId5"/>
    <p:sldId id="278" r:id="rId6"/>
    <p:sldId id="281" r:id="rId7"/>
    <p:sldId id="282" r:id="rId8"/>
    <p:sldId id="283" r:id="rId9"/>
    <p:sldId id="284" r:id="rId10"/>
    <p:sldId id="272" r:id="rId11"/>
    <p:sldId id="273" r:id="rId12"/>
    <p:sldId id="277" r:id="rId13"/>
    <p:sldId id="274" r:id="rId14"/>
    <p:sldId id="276" r:id="rId15"/>
    <p:sldId id="275" r:id="rId16"/>
    <p:sldId id="279" r:id="rId17"/>
    <p:sldId id="280" r:id="rId18"/>
    <p:sldId id="286" r:id="rId19"/>
    <p:sldId id="28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12F"/>
    <a:srgbClr val="F4E7D4"/>
    <a:srgbClr val="FEF5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0"/>
    <p:restoredTop sz="75121"/>
  </p:normalViewPr>
  <p:slideViewPr>
    <p:cSldViewPr snapToGrid="0">
      <p:cViewPr varScale="1">
        <p:scale>
          <a:sx n="107" d="100"/>
          <a:sy n="107" d="100"/>
        </p:scale>
        <p:origin x="225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483F3-01E4-534F-BC0C-19FD01E9F1B8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7B7B7-82AF-C848-8A9C-D6A3FC539BB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227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배경 하얀색으로 바꿔줘</a:t>
            </a:r>
            <a:endParaRPr lang="en-US" altLang="ko-KR"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834EA4D-2684-F6D6-4761-0A79648AB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6BE8F862-C8EB-A32B-D894-238502301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C1E49596-7478-4373-62FE-B5C29AF2D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322715D7-8F9D-AD90-07AF-A48233617F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543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A7F6941-D0CB-D4A7-0B3F-6EF3015B4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77E5D49B-7F68-FD27-2FD8-8FA48EFE85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A6FEF75D-8773-196B-188E-9D101F876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AACE783E-7A70-984B-472C-AA183242AA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1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9AFCDC1-6C62-89FF-B233-9D5964105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4DD80616-DD23-74C1-D0CF-09D0258BD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27F4AEB5-EE0B-E9F8-04DB-3D19F2B42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8823951B-379A-3EAB-DEE9-7863ECD89C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3020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06C70D2-1DAF-A3A2-1255-96A35EB36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9FFC4477-C80E-9485-1D73-0334E1F83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9F3691F9-5E4A-E728-F5C0-35A418E601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606A4C46-60CF-EF69-E5C2-58BC831EB2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0406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505831C6-F7CB-36F7-3FE8-8F44D17C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90F71353-AE11-A3F0-88E0-877C06FF25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AD35FA5A-AAD9-73D7-22F4-E73AB95132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6F130DA2-0FFB-B5E5-4D22-8EF16B80B3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359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032B830-EA07-F0CC-18A2-325D58F8E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DCB76132-D924-EEFA-C4DF-1952A85DA8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338E6F10-FF45-AD75-1AC7-9B0AAE9D5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2035406A-8329-D57E-3EAB-9D49A63175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0664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3F8490E-BD1E-BC0F-6A84-726096902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85A2B1CD-EFD7-FAE6-E2B0-482DBD3DBD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B43F6BF4-D9CB-3A57-658D-62B73B60FD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23C50ED1-8848-924A-2ECF-F99B320BE8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307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413F307-D879-6D43-1ABE-BDB86506C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5C845DF1-B3E1-9306-D5E0-AA509279C3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AABE0285-FF68-9620-9A83-CC1002944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030837E3-826C-75AA-C78B-41D9ADCEB2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344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560056FD-A883-ED2F-F473-FB2548456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3029EE80-7CC9-16AE-8733-054D1F0808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630C86F0-9AAD-DBE5-718F-1B53406AC7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59C5FB2F-E2DF-B1A2-9456-90680B7805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5721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C5A6A01-BB26-656F-14E7-B18ABADE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346302F4-CB79-7E0A-781A-E5DEDDAC0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4B2DD983-E9F3-04C0-F767-586A3D436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E78EAEE6-75E5-A5EC-7E47-CED2F2BDEB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81191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358137D-CB8F-6F3A-4BA7-7830AB51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9C4E29D5-2671-A18C-63E6-455CA27A65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290EC462-9B93-0617-0B2E-8853C22CF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93A54614-26DB-CA8A-0DF0-117DA059B7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8281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E2EC9F4-8B9B-7B39-6681-F7AA86718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617EA504-CEE4-6D48-CDD9-BDFB245A3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47688422-8459-3374-48A8-EBE453A00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4256E1CD-6B7F-9632-32F9-F76CEC4EDD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53238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C2D0B58-6D74-A2A8-BC3A-B663A8791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2F5A3644-988B-B2F0-8DE7-654B42C1EE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F1D421F7-9553-41FD-FD6C-951FB182E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E0F82665-3555-CB14-3A28-892E1C75B5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32965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7392DC5-C02C-51BC-EABB-3E8904308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4C682F31-8A44-C122-CE82-470030FE1E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81519A81-84E6-568F-450E-0E59798ED2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7FD288EA-982A-1F5F-942E-70CEE07F49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52111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8AD53CE-62C7-AA90-9256-9708543D5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FEABE837-B109-0AC0-1D50-458A2D897F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CB70A91D-3CDC-3FB7-FDBA-272AAAE1B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5824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8701FAE-0B44-81E7-2A95-DA1C27D16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BA2AC8DB-8C22-46DC-491E-B31BE9E5FE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149F325C-DD1C-F744-EAC2-172A39AF9B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1301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75616A-7C42-9A98-6821-4D44C6E5F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73A34C-38E8-6C9F-FCBF-99C74B9BE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83BDA8-834D-2587-AE90-EB33AF3D1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099-4816-FD4B-B619-EA635C321887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C678F7-A65C-B21F-C8E3-53B330E7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A7186A-674E-9D27-1866-060ED4C8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2777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E9831-0632-7A09-A6E2-7938B227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9090DE-48C9-8674-926C-4EC25A821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6BCC39-74BF-A0A2-375F-5EE5DDE3C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099-4816-FD4B-B619-EA635C321887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638242-3FA9-3CA1-86FD-C1C59D6C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3AB1E1-65B4-8C34-732F-979CE32D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5848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8D721-FCBF-F36D-A282-275818AA8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F207FA-E34E-99FF-41C7-06CFC3A3E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47DCE7-F418-17DC-50DB-DDEE504D9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099-4816-FD4B-B619-EA635C321887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E8059-AFD1-1FDB-4D76-A141D0FC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BEEB01-DC9C-D06F-C47A-88C16DAB5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866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0F0C3-EEAB-10F1-41E0-8CAD8EDD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7D1FA1-E568-46AB-E8DC-265C1699F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7A9E45-0AF3-AF84-BF73-F7866AD49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2A7320-B82C-428F-18E1-9C08DC68E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099-4816-FD4B-B619-EA635C321887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6D8F51-ECEE-D4B8-C02F-971FBE2A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9B8786-A87C-56F5-902E-2C24FDEE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4975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26D87F-8128-9434-F2F3-3FDD86A9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7CF889-84FB-FBA2-8BF4-350207391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D46641-29F5-5E71-98E5-258210FED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4F88176-FA9F-28EB-2ED2-5BC8E018F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309427-8978-3B1B-512C-DE262FBDDF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F412569-610A-0D3E-546D-72142A71A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099-4816-FD4B-B619-EA635C321887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DE005C-39AE-6329-9FFE-0B27CD74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C01832-767F-0CC1-AC15-2F0B6A02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5268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45EA77-3102-56ED-6740-23B842FF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E620A9-7EBA-84C5-91D6-BE2A10EB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099-4816-FD4B-B619-EA635C321887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EBB4BE-38B6-2A77-55C7-15A5C15F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E77ABC-D642-C3D8-5B57-7E1F3AED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7872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76D2D4-BEBE-C3A0-D774-EEF00650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099-4816-FD4B-B619-EA635C321887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1BBF96-732E-49EB-7225-5A704A86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2F3FB9-F530-7015-5464-B72143D9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32676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C20D5-C076-AF01-E0E4-5A87231A5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6BC899-8D37-E38C-B5C6-D2B9F80DF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0027AE-4EC9-458E-ABA9-611FA5C28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64B7AC-E9A4-A34D-378B-EEC2C1511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099-4816-FD4B-B619-EA635C321887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4EEB9D-50EF-775C-7D79-0F3EB66B1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5FF12F-028B-B7B4-DCE3-6AB56767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634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E9CC5-12EC-BB1F-C936-E108FFA17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939CB5-080D-B036-0905-1F8B679AF9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058B84-B0CF-F6D0-7AEF-03C08B504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9FBAAA-F92F-4E8B-FEC0-203B0229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099-4816-FD4B-B619-EA635C321887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10D787-AF48-4266-3C19-B6E64BD8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51D620-2A75-EB2B-9EB0-F5F5B3DA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978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2D4E3-AFFB-468F-7DB8-7839A9E12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DAF28D-DA36-D886-D233-90DDA2BDB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9EEE8A-94CD-934C-B79A-FB6F5A63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099-4816-FD4B-B619-EA635C321887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7B947D-E812-F178-6170-85E8885D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23CBCA-CAF5-1CCC-BE30-68481F5E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6587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5F0D9A9-D975-8710-3BA3-E6ED2307A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B51851-F31F-1C0B-FBB4-7E539B3E8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8811EF-79C8-48E8-C4A5-62488319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099-4816-FD4B-B619-EA635C321887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88169B-D729-7541-AB52-A54CF58F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2B9C22-4B1E-552B-2CC9-B7AC89A6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9784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67854C-0A41-0B37-A400-F2B148D5C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919C77-ED21-6345-D576-1F408975F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4270E-BAA1-51B1-9A16-887DC71579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46099-4816-FD4B-B619-EA635C321887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D0A7F1-F5E9-F6A8-3AD1-85750E577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1D8C94-CA4D-0A33-624C-27AFFAFF3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086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5.wdp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microsoft.com/office/2007/relationships/hdphoto" Target="../media/hdphoto6.wdp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microsoft.com/office/2007/relationships/hdphoto" Target="../media/hdphoto7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microsoft.com/office/2007/relationships/hdphoto" Target="../media/hdphoto8.wdp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97570DA-7748-0E19-D7FC-06D0F68BAA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0548053" y="5021439"/>
            <a:ext cx="1643947" cy="1844449"/>
          </a:xfrm>
          <a:prstGeom prst="rect">
            <a:avLst/>
          </a:prstGeom>
        </p:spPr>
      </p:pic>
      <p:sp>
        <p:nvSpPr>
          <p:cNvPr id="92" name="Google Shape;92;p1"/>
          <p:cNvSpPr txBox="1"/>
          <p:nvPr/>
        </p:nvSpPr>
        <p:spPr>
          <a:xfrm>
            <a:off x="1865993" y="3672840"/>
            <a:ext cx="941463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2000" b="1" dirty="0">
                <a:solidFill>
                  <a:srgbClr val="37512F"/>
                </a:solidFill>
              </a:rPr>
              <a:t>로컬</a:t>
            </a:r>
            <a:r>
              <a:rPr lang="en-US" altLang="ko-KR" sz="2000" b="1" dirty="0">
                <a:solidFill>
                  <a:srgbClr val="37512F"/>
                </a:solidFill>
              </a:rPr>
              <a:t>·</a:t>
            </a:r>
            <a:r>
              <a:rPr lang="ko-KR" altLang="en-US" sz="2000" b="1" dirty="0" err="1">
                <a:solidFill>
                  <a:srgbClr val="37512F"/>
                </a:solidFill>
              </a:rPr>
              <a:t>엣지</a:t>
            </a:r>
            <a:r>
              <a:rPr lang="ko-KR" altLang="en-US" sz="2000" b="1" dirty="0">
                <a:solidFill>
                  <a:srgbClr val="37512F"/>
                </a:solidFill>
              </a:rPr>
              <a:t> 환경 내 외부 시스템 실시간 배치 및 운용 플랫폼 개발</a:t>
            </a:r>
          </a:p>
        </p:txBody>
      </p:sp>
      <p:sp>
        <p:nvSpPr>
          <p:cNvPr id="94" name="Google Shape;94;p1"/>
          <p:cNvSpPr/>
          <p:nvPr/>
        </p:nvSpPr>
        <p:spPr>
          <a:xfrm>
            <a:off x="1682173" y="1901723"/>
            <a:ext cx="8603887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캡스톤</a:t>
            </a:r>
            <a:r>
              <a:rPr lang="ko-KR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디자인</a:t>
            </a:r>
            <a:r>
              <a:rPr lang="ko-KR" altLang="en-US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계획 발표</a:t>
            </a:r>
            <a:endParaRPr dirty="0"/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9388381" y="5456981"/>
            <a:ext cx="2319343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7512F"/>
                </a:solidFill>
                <a:latin typeface="Arial"/>
                <a:ea typeface="Arial"/>
                <a:cs typeface="Arial"/>
                <a:sym typeface="Arial"/>
              </a:rPr>
              <a:t>20201753 </a:t>
            </a:r>
            <a:r>
              <a:rPr lang="ko-KR" altLang="en-US" sz="1400" b="1" dirty="0">
                <a:solidFill>
                  <a:srgbClr val="37512F"/>
                </a:solidFill>
                <a:latin typeface="Arial"/>
                <a:ea typeface="Arial"/>
                <a:cs typeface="Arial"/>
                <a:sym typeface="Arial"/>
              </a:rPr>
              <a:t>장재혁</a:t>
            </a:r>
            <a:endParaRPr lang="en-US" altLang="ko-KR" sz="1400" b="1" dirty="0">
              <a:solidFill>
                <a:srgbClr val="37512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b="1" dirty="0">
                <a:solidFill>
                  <a:srgbClr val="37512F"/>
                </a:solidFill>
                <a:latin typeface="Arial"/>
                <a:ea typeface="Arial"/>
                <a:cs typeface="Arial"/>
                <a:sym typeface="Arial"/>
              </a:rPr>
              <a:t>20211868</a:t>
            </a:r>
            <a:r>
              <a:rPr lang="ko-KR" altLang="en-US" sz="1400" b="1" dirty="0">
                <a:solidFill>
                  <a:srgbClr val="37512F"/>
                </a:solidFill>
                <a:latin typeface="Arial"/>
                <a:ea typeface="Arial"/>
                <a:cs typeface="Arial"/>
                <a:sym typeface="Arial"/>
              </a:rPr>
              <a:t> 권정은</a:t>
            </a:r>
            <a:endParaRPr sz="1400" b="1" dirty="0">
              <a:solidFill>
                <a:srgbClr val="3751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02FE84-C432-E5AE-B926-D9FF01263E89}"/>
              </a:ext>
            </a:extLst>
          </p:cNvPr>
          <p:cNvSpPr txBox="1"/>
          <p:nvPr/>
        </p:nvSpPr>
        <p:spPr>
          <a:xfrm>
            <a:off x="4318000" y="492760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  <a:p>
            <a:endParaRPr kumimoji="1" lang="ko-KR" altLang="en-US" dirty="0"/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662DAD85-BA01-861B-BB06-41FE15223A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F611362-3A9F-8026-3490-C1C17472F556}"/>
              </a:ext>
            </a:extLst>
          </p:cNvPr>
          <p:cNvGrpSpPr/>
          <p:nvPr/>
        </p:nvGrpSpPr>
        <p:grpSpPr>
          <a:xfrm>
            <a:off x="-13254" y="-88356"/>
            <a:ext cx="1015040" cy="7032716"/>
            <a:chOff x="-13254" y="-88356"/>
            <a:chExt cx="1015040" cy="7032716"/>
          </a:xfrm>
        </p:grpSpPr>
        <p:sp>
          <p:nvSpPr>
            <p:cNvPr id="3" name="직각 삼각형[R] 2">
              <a:extLst>
                <a:ext uri="{FF2B5EF4-FFF2-40B4-BE49-F238E27FC236}">
                  <a16:creationId xmlns:a16="http://schemas.microsoft.com/office/drawing/2014/main" id="{9E992E61-2AD0-9120-408D-ABAE4AC82FCA}"/>
                </a:ext>
              </a:extLst>
            </p:cNvPr>
            <p:cNvSpPr/>
            <p:nvPr/>
          </p:nvSpPr>
          <p:spPr>
            <a:xfrm>
              <a:off x="-13254" y="-88356"/>
              <a:ext cx="977273" cy="6959600"/>
            </a:xfrm>
            <a:prstGeom prst="rtTriangle">
              <a:avLst/>
            </a:prstGeom>
            <a:solidFill>
              <a:srgbClr val="F4E7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직각 삼각형[R] 3">
              <a:extLst>
                <a:ext uri="{FF2B5EF4-FFF2-40B4-BE49-F238E27FC236}">
                  <a16:creationId xmlns:a16="http://schemas.microsoft.com/office/drawing/2014/main" id="{8E89A9F5-819C-7C41-6615-04D116C49525}"/>
                </a:ext>
              </a:extLst>
            </p:cNvPr>
            <p:cNvSpPr/>
            <p:nvPr/>
          </p:nvSpPr>
          <p:spPr>
            <a:xfrm rot="10800000">
              <a:off x="24513" y="-15240"/>
              <a:ext cx="977273" cy="6959600"/>
            </a:xfrm>
            <a:prstGeom prst="rtTriangle">
              <a:avLst/>
            </a:prstGeom>
            <a:solidFill>
              <a:srgbClr val="3751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2"/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37512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4D63623-9AC2-D19D-7E11-A4C2C918B7BD}"/>
              </a:ext>
            </a:extLst>
          </p:cNvPr>
          <p:cNvGrpSpPr/>
          <p:nvPr/>
        </p:nvGrpSpPr>
        <p:grpSpPr>
          <a:xfrm>
            <a:off x="3578343" y="1460730"/>
            <a:ext cx="5055203" cy="967680"/>
            <a:chOff x="5085407" y="1172863"/>
            <a:chExt cx="5055203" cy="967680"/>
          </a:xfrm>
        </p:grpSpPr>
        <p:sp>
          <p:nvSpPr>
            <p:cNvPr id="107" name="Google Shape;107;p2"/>
            <p:cNvSpPr/>
            <p:nvPr/>
          </p:nvSpPr>
          <p:spPr>
            <a:xfrm>
              <a:off x="5085407" y="1172863"/>
              <a:ext cx="904222" cy="933086"/>
            </a:xfrm>
            <a:prstGeom prst="ellipse">
              <a:avLst/>
            </a:prstGeom>
            <a:solidFill>
              <a:srgbClr val="F4E7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2E224A"/>
                </a:solidFill>
                <a:latin typeface="Poppins Black"/>
                <a:ea typeface="Poppins Black"/>
                <a:cs typeface="Poppins Black"/>
                <a:sym typeface="Poppins Black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95AEA0B-B24E-B5BA-CEA1-87DC8D0BB934}"/>
                </a:ext>
              </a:extLst>
            </p:cNvPr>
            <p:cNvGrpSpPr/>
            <p:nvPr/>
          </p:nvGrpSpPr>
          <p:grpSpPr>
            <a:xfrm>
              <a:off x="5412480" y="1173651"/>
              <a:ext cx="4728130" cy="966892"/>
              <a:chOff x="5412480" y="1173651"/>
              <a:chExt cx="4728130" cy="966892"/>
            </a:xfrm>
          </p:grpSpPr>
          <p:grpSp>
            <p:nvGrpSpPr>
              <p:cNvPr id="108" name="Google Shape;108;p2"/>
              <p:cNvGrpSpPr/>
              <p:nvPr/>
            </p:nvGrpSpPr>
            <p:grpSpPr>
              <a:xfrm>
                <a:off x="5412480" y="1457706"/>
                <a:ext cx="250076" cy="344134"/>
                <a:chOff x="3471472" y="902398"/>
                <a:chExt cx="295275" cy="393763"/>
              </a:xfrm>
            </p:grpSpPr>
            <p:sp>
              <p:nvSpPr>
                <p:cNvPr id="109" name="Google Shape;109;p2"/>
                <p:cNvSpPr/>
                <p:nvPr/>
              </p:nvSpPr>
              <p:spPr>
                <a:xfrm>
                  <a:off x="3549482" y="902398"/>
                  <a:ext cx="1428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6200" extrusionOk="0">
                      <a:moveTo>
                        <a:pt x="107442" y="7144"/>
                      </a:moveTo>
                      <a:lnTo>
                        <a:pt x="40577" y="7144"/>
                      </a:lnTo>
                      <a:cubicBezTo>
                        <a:pt x="22098" y="7144"/>
                        <a:pt x="7144" y="22098"/>
                        <a:pt x="7144" y="40577"/>
                      </a:cubicBezTo>
                      <a:cubicBezTo>
                        <a:pt x="7144" y="59055"/>
                        <a:pt x="22098" y="74009"/>
                        <a:pt x="40577" y="74009"/>
                      </a:cubicBezTo>
                      <a:lnTo>
                        <a:pt x="107442" y="74009"/>
                      </a:lnTo>
                      <a:cubicBezTo>
                        <a:pt x="125921" y="74009"/>
                        <a:pt x="140875" y="59055"/>
                        <a:pt x="140875" y="40577"/>
                      </a:cubicBezTo>
                      <a:cubicBezTo>
                        <a:pt x="140875" y="22098"/>
                        <a:pt x="125825" y="7144"/>
                        <a:pt x="107442" y="714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 Black"/>
                    <a:ea typeface="Poppins Black"/>
                    <a:cs typeface="Poppins Black"/>
                    <a:sym typeface="Poppins Black"/>
                  </a:endParaRPr>
                </a:p>
              </p:txBody>
            </p:sp>
            <p:sp>
              <p:nvSpPr>
                <p:cNvPr id="110" name="Google Shape;110;p2"/>
                <p:cNvSpPr/>
                <p:nvPr/>
              </p:nvSpPr>
              <p:spPr>
                <a:xfrm>
                  <a:off x="3471472" y="924686"/>
                  <a:ext cx="2952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" h="371475" extrusionOk="0">
                      <a:moveTo>
                        <a:pt x="263462" y="7144"/>
                      </a:moveTo>
                      <a:lnTo>
                        <a:pt x="240030" y="7144"/>
                      </a:lnTo>
                      <a:cubicBezTo>
                        <a:pt x="240792" y="10763"/>
                        <a:pt x="241173" y="14478"/>
                        <a:pt x="241173" y="18288"/>
                      </a:cubicBezTo>
                      <a:cubicBezTo>
                        <a:pt x="241173" y="49054"/>
                        <a:pt x="216218" y="74009"/>
                        <a:pt x="185452" y="74009"/>
                      </a:cubicBezTo>
                      <a:lnTo>
                        <a:pt x="118586" y="74009"/>
                      </a:lnTo>
                      <a:cubicBezTo>
                        <a:pt x="87821" y="74009"/>
                        <a:pt x="62865" y="49054"/>
                        <a:pt x="62865" y="18288"/>
                      </a:cubicBezTo>
                      <a:cubicBezTo>
                        <a:pt x="62865" y="14478"/>
                        <a:pt x="63246" y="10763"/>
                        <a:pt x="64008" y="7144"/>
                      </a:cubicBezTo>
                      <a:lnTo>
                        <a:pt x="40577" y="7144"/>
                      </a:lnTo>
                      <a:cubicBezTo>
                        <a:pt x="22098" y="7144"/>
                        <a:pt x="7144" y="22098"/>
                        <a:pt x="7144" y="40577"/>
                      </a:cubicBezTo>
                      <a:lnTo>
                        <a:pt x="7144" y="331851"/>
                      </a:lnTo>
                      <a:cubicBezTo>
                        <a:pt x="7144" y="350330"/>
                        <a:pt x="22098" y="365284"/>
                        <a:pt x="40577" y="365284"/>
                      </a:cubicBezTo>
                      <a:lnTo>
                        <a:pt x="263462" y="365284"/>
                      </a:lnTo>
                      <a:cubicBezTo>
                        <a:pt x="281940" y="365284"/>
                        <a:pt x="296894" y="350330"/>
                        <a:pt x="296894" y="331851"/>
                      </a:cubicBezTo>
                      <a:lnTo>
                        <a:pt x="296894" y="40577"/>
                      </a:lnTo>
                      <a:cubicBezTo>
                        <a:pt x="296894" y="22098"/>
                        <a:pt x="281845" y="7144"/>
                        <a:pt x="263462" y="7144"/>
                      </a:cubicBezTo>
                      <a:close/>
                      <a:moveTo>
                        <a:pt x="115253" y="295085"/>
                      </a:moveTo>
                      <a:lnTo>
                        <a:pt x="81820" y="328517"/>
                      </a:lnTo>
                      <a:cubicBezTo>
                        <a:pt x="77438" y="332899"/>
                        <a:pt x="70390" y="332899"/>
                        <a:pt x="66104" y="328517"/>
                      </a:cubicBezTo>
                      <a:lnTo>
                        <a:pt x="54959" y="317373"/>
                      </a:lnTo>
                      <a:cubicBezTo>
                        <a:pt x="50578" y="312992"/>
                        <a:pt x="50578" y="305943"/>
                        <a:pt x="54959" y="301657"/>
                      </a:cubicBezTo>
                      <a:cubicBezTo>
                        <a:pt x="59341" y="297275"/>
                        <a:pt x="66389" y="297275"/>
                        <a:pt x="70676" y="301657"/>
                      </a:cubicBezTo>
                      <a:lnTo>
                        <a:pt x="73914" y="304895"/>
                      </a:lnTo>
                      <a:lnTo>
                        <a:pt x="99441" y="279368"/>
                      </a:lnTo>
                      <a:cubicBezTo>
                        <a:pt x="103822" y="274987"/>
                        <a:pt x="110871" y="274987"/>
                        <a:pt x="115157" y="279368"/>
                      </a:cubicBezTo>
                      <a:cubicBezTo>
                        <a:pt x="119634" y="283750"/>
                        <a:pt x="119634" y="290798"/>
                        <a:pt x="115253" y="295085"/>
                      </a:cubicBezTo>
                      <a:close/>
                      <a:moveTo>
                        <a:pt x="115253" y="205264"/>
                      </a:moveTo>
                      <a:lnTo>
                        <a:pt x="81820" y="238697"/>
                      </a:lnTo>
                      <a:cubicBezTo>
                        <a:pt x="77438" y="243078"/>
                        <a:pt x="70390" y="243078"/>
                        <a:pt x="66104" y="238697"/>
                      </a:cubicBezTo>
                      <a:lnTo>
                        <a:pt x="54959" y="227552"/>
                      </a:lnTo>
                      <a:cubicBezTo>
                        <a:pt x="50578" y="223171"/>
                        <a:pt x="50578" y="216122"/>
                        <a:pt x="54959" y="211836"/>
                      </a:cubicBezTo>
                      <a:cubicBezTo>
                        <a:pt x="59341" y="207455"/>
                        <a:pt x="66389" y="207455"/>
                        <a:pt x="70676" y="211836"/>
                      </a:cubicBezTo>
                      <a:lnTo>
                        <a:pt x="73914" y="215075"/>
                      </a:lnTo>
                      <a:lnTo>
                        <a:pt x="99441" y="189548"/>
                      </a:lnTo>
                      <a:cubicBezTo>
                        <a:pt x="103822" y="185166"/>
                        <a:pt x="110871" y="185166"/>
                        <a:pt x="115157" y="189548"/>
                      </a:cubicBezTo>
                      <a:cubicBezTo>
                        <a:pt x="119634" y="193834"/>
                        <a:pt x="119634" y="200882"/>
                        <a:pt x="115253" y="205264"/>
                      </a:cubicBezTo>
                      <a:close/>
                      <a:moveTo>
                        <a:pt x="115253" y="115348"/>
                      </a:moveTo>
                      <a:lnTo>
                        <a:pt x="81820" y="148781"/>
                      </a:lnTo>
                      <a:cubicBezTo>
                        <a:pt x="79629" y="150971"/>
                        <a:pt x="76771" y="152019"/>
                        <a:pt x="73914" y="152019"/>
                      </a:cubicBezTo>
                      <a:cubicBezTo>
                        <a:pt x="71056" y="152019"/>
                        <a:pt x="68199" y="150971"/>
                        <a:pt x="66008" y="148781"/>
                      </a:cubicBezTo>
                      <a:lnTo>
                        <a:pt x="54864" y="137636"/>
                      </a:lnTo>
                      <a:cubicBezTo>
                        <a:pt x="50483" y="133255"/>
                        <a:pt x="50483" y="126206"/>
                        <a:pt x="54864" y="121920"/>
                      </a:cubicBezTo>
                      <a:cubicBezTo>
                        <a:pt x="59246" y="117539"/>
                        <a:pt x="66294" y="117539"/>
                        <a:pt x="70580" y="121920"/>
                      </a:cubicBezTo>
                      <a:lnTo>
                        <a:pt x="73819" y="125159"/>
                      </a:lnTo>
                      <a:lnTo>
                        <a:pt x="99346" y="99632"/>
                      </a:lnTo>
                      <a:cubicBezTo>
                        <a:pt x="103727" y="95250"/>
                        <a:pt x="110776" y="95250"/>
                        <a:pt x="115062" y="99632"/>
                      </a:cubicBezTo>
                      <a:cubicBezTo>
                        <a:pt x="119634" y="103918"/>
                        <a:pt x="119634" y="110966"/>
                        <a:pt x="115253" y="115348"/>
                      </a:cubicBezTo>
                      <a:close/>
                      <a:moveTo>
                        <a:pt x="241173" y="320707"/>
                      </a:moveTo>
                      <a:lnTo>
                        <a:pt x="152019" y="320707"/>
                      </a:lnTo>
                      <a:cubicBezTo>
                        <a:pt x="145828" y="320707"/>
                        <a:pt x="140875" y="315754"/>
                        <a:pt x="140875" y="309563"/>
                      </a:cubicBezTo>
                      <a:cubicBezTo>
                        <a:pt x="140875" y="303371"/>
                        <a:pt x="145828" y="298418"/>
                        <a:pt x="152019" y="298418"/>
                      </a:cubicBezTo>
                      <a:lnTo>
                        <a:pt x="241173" y="298418"/>
                      </a:lnTo>
                      <a:cubicBezTo>
                        <a:pt x="247364" y="298418"/>
                        <a:pt x="252317" y="303371"/>
                        <a:pt x="252317" y="309563"/>
                      </a:cubicBezTo>
                      <a:cubicBezTo>
                        <a:pt x="252317" y="315754"/>
                        <a:pt x="247269" y="320707"/>
                        <a:pt x="241173" y="320707"/>
                      </a:cubicBezTo>
                      <a:close/>
                      <a:moveTo>
                        <a:pt x="241173" y="230791"/>
                      </a:moveTo>
                      <a:lnTo>
                        <a:pt x="152019" y="230791"/>
                      </a:lnTo>
                      <a:cubicBezTo>
                        <a:pt x="145828" y="230791"/>
                        <a:pt x="140875" y="225838"/>
                        <a:pt x="140875" y="219647"/>
                      </a:cubicBezTo>
                      <a:cubicBezTo>
                        <a:pt x="140875" y="213455"/>
                        <a:pt x="145828" y="208502"/>
                        <a:pt x="152019" y="208502"/>
                      </a:cubicBezTo>
                      <a:lnTo>
                        <a:pt x="241173" y="208502"/>
                      </a:lnTo>
                      <a:cubicBezTo>
                        <a:pt x="247364" y="208502"/>
                        <a:pt x="252317" y="213455"/>
                        <a:pt x="252317" y="219647"/>
                      </a:cubicBezTo>
                      <a:cubicBezTo>
                        <a:pt x="252317" y="225838"/>
                        <a:pt x="247269" y="230791"/>
                        <a:pt x="241173" y="230791"/>
                      </a:cubicBezTo>
                      <a:close/>
                      <a:moveTo>
                        <a:pt x="241173" y="140875"/>
                      </a:moveTo>
                      <a:lnTo>
                        <a:pt x="152019" y="140875"/>
                      </a:lnTo>
                      <a:cubicBezTo>
                        <a:pt x="145828" y="140875"/>
                        <a:pt x="140875" y="135922"/>
                        <a:pt x="140875" y="129731"/>
                      </a:cubicBezTo>
                      <a:cubicBezTo>
                        <a:pt x="140875" y="123539"/>
                        <a:pt x="145828" y="118586"/>
                        <a:pt x="152019" y="118586"/>
                      </a:cubicBezTo>
                      <a:lnTo>
                        <a:pt x="241173" y="118586"/>
                      </a:lnTo>
                      <a:cubicBezTo>
                        <a:pt x="247364" y="118586"/>
                        <a:pt x="252317" y="123539"/>
                        <a:pt x="252317" y="129731"/>
                      </a:cubicBezTo>
                      <a:cubicBezTo>
                        <a:pt x="252317" y="135922"/>
                        <a:pt x="247269" y="140875"/>
                        <a:pt x="241173" y="14087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 Black"/>
                    <a:ea typeface="Poppins Black"/>
                    <a:cs typeface="Poppins Black"/>
                    <a:sym typeface="Poppins Black"/>
                  </a:endParaRPr>
                </a:p>
              </p:txBody>
            </p:sp>
          </p:grpSp>
          <p:sp>
            <p:nvSpPr>
              <p:cNvPr id="111" name="Google Shape;111;p2"/>
              <p:cNvSpPr txBox="1"/>
              <p:nvPr/>
            </p:nvSpPr>
            <p:spPr>
              <a:xfrm>
                <a:off x="6202940" y="1540419"/>
                <a:ext cx="3937670" cy="6001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28600" marR="0" lvl="0" indent="-2286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AutoNum type="arabicParenR"/>
                </a:pPr>
                <a:r>
                  <a:rPr lang="ko-KR" altLang="en-US" sz="1100" dirty="0">
                    <a:solidFill>
                      <a:schemeClr val="bg2">
                        <a:lumMod val="50000"/>
                      </a:schemeClr>
                    </a:solidFill>
                    <a:latin typeface="Arial"/>
                    <a:ea typeface="Arial"/>
                    <a:cs typeface="Arial"/>
                    <a:sym typeface="Arial"/>
                  </a:rPr>
                  <a:t>개발 배경</a:t>
                </a:r>
                <a:endParaRPr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228600" marR="0" lvl="0" indent="-2286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AutoNum type="arabicParenR"/>
                </a:pPr>
                <a:r>
                  <a:rPr lang="ko-KR" altLang="en-US" sz="1100" dirty="0">
                    <a:solidFill>
                      <a:schemeClr val="bg2">
                        <a:lumMod val="50000"/>
                      </a:schemeClr>
                    </a:solidFill>
                    <a:latin typeface="Arial"/>
                    <a:ea typeface="Arial"/>
                    <a:cs typeface="Arial"/>
                    <a:sym typeface="Arial"/>
                  </a:rPr>
                  <a:t>해결 과제</a:t>
                </a:r>
                <a:endParaRPr lang="en-US" altLang="ko-KR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228600" marR="0" lvl="0" indent="-2286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AutoNum type="arabicParenR"/>
                </a:pPr>
                <a:r>
                  <a:rPr lang="ko-KR" altLang="en-US" sz="1100" dirty="0">
                    <a:solidFill>
                      <a:schemeClr val="bg2">
                        <a:lumMod val="50000"/>
                      </a:schemeClr>
                    </a:solidFill>
                    <a:latin typeface="Arial"/>
                    <a:ea typeface="Arial"/>
                    <a:cs typeface="Arial"/>
                    <a:sym typeface="Arial"/>
                  </a:rPr>
                  <a:t>개발 현황</a:t>
                </a:r>
                <a:endParaRPr lang="en-US" altLang="ko-KR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6202938" y="1173651"/>
                <a:ext cx="392913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b="1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프로젝트 배경 및 목적</a:t>
                </a:r>
                <a:endParaRPr dirty="0"/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9355823-BBB4-7A74-B677-607662F7AAD2}"/>
              </a:ext>
            </a:extLst>
          </p:cNvPr>
          <p:cNvGrpSpPr/>
          <p:nvPr/>
        </p:nvGrpSpPr>
        <p:grpSpPr>
          <a:xfrm>
            <a:off x="3623047" y="2911583"/>
            <a:ext cx="5055203" cy="1138733"/>
            <a:chOff x="5130111" y="2623716"/>
            <a:chExt cx="5055203" cy="1138733"/>
          </a:xfrm>
        </p:grpSpPr>
        <p:sp>
          <p:nvSpPr>
            <p:cNvPr id="113" name="Google Shape;113;p2"/>
            <p:cNvSpPr/>
            <p:nvPr/>
          </p:nvSpPr>
          <p:spPr>
            <a:xfrm>
              <a:off x="5130111" y="2623716"/>
              <a:ext cx="904222" cy="933086"/>
            </a:xfrm>
            <a:prstGeom prst="ellipse">
              <a:avLst/>
            </a:prstGeom>
            <a:solidFill>
              <a:srgbClr val="F4E7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2E224A"/>
                </a:solidFill>
                <a:latin typeface="Poppins Black"/>
                <a:ea typeface="Poppins Black"/>
                <a:cs typeface="Poppins Black"/>
                <a:sym typeface="Poppins Black"/>
              </a:endParaRPr>
            </a:p>
          </p:txBody>
        </p:sp>
        <p:grpSp>
          <p:nvGrpSpPr>
            <p:cNvPr id="114" name="Google Shape;114;p2"/>
            <p:cNvGrpSpPr/>
            <p:nvPr/>
          </p:nvGrpSpPr>
          <p:grpSpPr>
            <a:xfrm>
              <a:off x="5409663" y="2910667"/>
              <a:ext cx="318614" cy="337268"/>
              <a:chOff x="2772242" y="1560385"/>
              <a:chExt cx="376198" cy="385905"/>
            </a:xfrm>
          </p:grpSpPr>
          <p:sp>
            <p:nvSpPr>
              <p:cNvPr id="115" name="Google Shape;115;p2"/>
              <p:cNvSpPr/>
              <p:nvPr/>
            </p:nvSpPr>
            <p:spPr>
              <a:xfrm>
                <a:off x="2976990" y="156038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 extrusionOk="0">
                    <a:moveTo>
                      <a:pt x="171489" y="136684"/>
                    </a:moveTo>
                    <a:cubicBezTo>
                      <a:pt x="165203" y="99250"/>
                      <a:pt x="145867" y="66961"/>
                      <a:pt x="118626" y="43910"/>
                    </a:cubicBezTo>
                    <a:cubicBezTo>
                      <a:pt x="91384" y="20860"/>
                      <a:pt x="56237" y="7144"/>
                      <a:pt x="18328" y="7144"/>
                    </a:cubicBezTo>
                    <a:lnTo>
                      <a:pt x="18328" y="7144"/>
                    </a:lnTo>
                    <a:cubicBezTo>
                      <a:pt x="12136" y="7144"/>
                      <a:pt x="7183" y="12097"/>
                      <a:pt x="7183" y="18288"/>
                    </a:cubicBezTo>
                    <a:lnTo>
                      <a:pt x="7183" y="161735"/>
                    </a:lnTo>
                    <a:cubicBezTo>
                      <a:pt x="7088" y="162592"/>
                      <a:pt x="7183" y="163449"/>
                      <a:pt x="7279" y="164306"/>
                    </a:cubicBezTo>
                    <a:cubicBezTo>
                      <a:pt x="8326" y="170402"/>
                      <a:pt x="14041" y="174498"/>
                      <a:pt x="20137" y="173450"/>
                    </a:cubicBezTo>
                    <a:lnTo>
                      <a:pt x="162250" y="149447"/>
                    </a:lnTo>
                    <a:cubicBezTo>
                      <a:pt x="168346" y="148495"/>
                      <a:pt x="172537" y="142780"/>
                      <a:pt x="171489" y="1366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2830203" y="1774840"/>
                <a:ext cx="2381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71450" extrusionOk="0">
                    <a:moveTo>
                      <a:pt x="12143" y="110347"/>
                    </a:moveTo>
                    <a:cubicBezTo>
                      <a:pt x="4999" y="117491"/>
                      <a:pt x="5571" y="129302"/>
                      <a:pt x="13477" y="135684"/>
                    </a:cubicBezTo>
                    <a:cubicBezTo>
                      <a:pt x="43004" y="159306"/>
                      <a:pt x="80533" y="173593"/>
                      <a:pt x="121300" y="173593"/>
                    </a:cubicBezTo>
                    <a:lnTo>
                      <a:pt x="121300" y="173498"/>
                    </a:lnTo>
                    <a:lnTo>
                      <a:pt x="121395" y="173498"/>
                    </a:lnTo>
                    <a:cubicBezTo>
                      <a:pt x="160638" y="173498"/>
                      <a:pt x="199786" y="160163"/>
                      <a:pt x="231694" y="133588"/>
                    </a:cubicBezTo>
                    <a:cubicBezTo>
                      <a:pt x="238076" y="128254"/>
                      <a:pt x="238552" y="118539"/>
                      <a:pt x="232647" y="112633"/>
                    </a:cubicBezTo>
                    <a:lnTo>
                      <a:pt x="131301" y="11287"/>
                    </a:lnTo>
                    <a:cubicBezTo>
                      <a:pt x="125776" y="5763"/>
                      <a:pt x="116728" y="5763"/>
                      <a:pt x="111203" y="11287"/>
                    </a:cubicBezTo>
                    <a:lnTo>
                      <a:pt x="12143" y="11034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2986086" y="1739645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 extrusionOk="0">
                    <a:moveTo>
                      <a:pt x="137058" y="18479"/>
                    </a:moveTo>
                    <a:cubicBezTo>
                      <a:pt x="136391" y="11906"/>
                      <a:pt x="130866" y="7144"/>
                      <a:pt x="124485" y="7144"/>
                    </a:cubicBezTo>
                    <a:cubicBezTo>
                      <a:pt x="123723" y="7144"/>
                      <a:pt x="122961" y="7239"/>
                      <a:pt x="122199" y="7334"/>
                    </a:cubicBezTo>
                    <a:lnTo>
                      <a:pt x="18757" y="26479"/>
                    </a:lnTo>
                    <a:cubicBezTo>
                      <a:pt x="7518" y="28575"/>
                      <a:pt x="3231" y="42386"/>
                      <a:pt x="11328" y="50483"/>
                    </a:cubicBezTo>
                    <a:lnTo>
                      <a:pt x="90195" y="129350"/>
                    </a:lnTo>
                    <a:cubicBezTo>
                      <a:pt x="96672" y="135827"/>
                      <a:pt x="107530" y="134493"/>
                      <a:pt x="112388" y="126683"/>
                    </a:cubicBezTo>
                    <a:cubicBezTo>
                      <a:pt x="121627" y="111728"/>
                      <a:pt x="128580" y="95250"/>
                      <a:pt x="132962" y="77819"/>
                    </a:cubicBezTo>
                    <a:cubicBezTo>
                      <a:pt x="133057" y="77533"/>
                      <a:pt x="133057" y="77248"/>
                      <a:pt x="133152" y="76962"/>
                    </a:cubicBezTo>
                    <a:cubicBezTo>
                      <a:pt x="134010" y="73533"/>
                      <a:pt x="134676" y="70104"/>
                      <a:pt x="135343" y="66580"/>
                    </a:cubicBezTo>
                    <a:cubicBezTo>
                      <a:pt x="138105" y="50959"/>
                      <a:pt x="138772" y="34862"/>
                      <a:pt x="137058" y="1847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2772242" y="1597152"/>
                <a:ext cx="180975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76225" extrusionOk="0">
                    <a:moveTo>
                      <a:pt x="163449" y="162973"/>
                    </a:moveTo>
                    <a:lnTo>
                      <a:pt x="175070" y="151352"/>
                    </a:lnTo>
                    <a:cubicBezTo>
                      <a:pt x="177737" y="148685"/>
                      <a:pt x="179261" y="145066"/>
                      <a:pt x="179261" y="141351"/>
                    </a:cubicBezTo>
                    <a:lnTo>
                      <a:pt x="179261" y="19812"/>
                    </a:lnTo>
                    <a:cubicBezTo>
                      <a:pt x="179261" y="12763"/>
                      <a:pt x="173546" y="7144"/>
                      <a:pt x="166688" y="7144"/>
                    </a:cubicBezTo>
                    <a:cubicBezTo>
                      <a:pt x="166402" y="7144"/>
                      <a:pt x="166021" y="7144"/>
                      <a:pt x="165735" y="7144"/>
                    </a:cubicBezTo>
                    <a:cubicBezTo>
                      <a:pt x="76962" y="14097"/>
                      <a:pt x="7144" y="88297"/>
                      <a:pt x="7144" y="178784"/>
                    </a:cubicBezTo>
                    <a:cubicBezTo>
                      <a:pt x="7144" y="211931"/>
                      <a:pt x="16478" y="242888"/>
                      <a:pt x="32671" y="269081"/>
                    </a:cubicBezTo>
                    <a:cubicBezTo>
                      <a:pt x="37433" y="276892"/>
                      <a:pt x="48292" y="278035"/>
                      <a:pt x="54769" y="271558"/>
                    </a:cubicBezTo>
                    <a:lnTo>
                      <a:pt x="163449" y="16297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</p:grpSp>
        <p:sp>
          <p:nvSpPr>
            <p:cNvPr id="119" name="Google Shape;119;p2"/>
            <p:cNvSpPr txBox="1"/>
            <p:nvPr/>
          </p:nvSpPr>
          <p:spPr>
            <a:xfrm>
              <a:off x="6247644" y="2993048"/>
              <a:ext cx="3937670" cy="769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28600" marR="0" lvl="0" indent="-228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arenR"/>
              </a:pPr>
              <a:r>
                <a:rPr lang="ko-KR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요구사항 정의서</a:t>
              </a:r>
              <a:endParaRPr lang="en-US" altLang="ko-KR" sz="110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28600" marR="0" lvl="0" indent="-228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arenR"/>
              </a:pPr>
              <a:r>
                <a:rPr lang="ko-KR" altLang="en-US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목표 및 비전</a:t>
              </a:r>
              <a:endParaRPr sz="110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28600" marR="0" lvl="0" indent="-228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arenR"/>
              </a:pPr>
              <a:r>
                <a:rPr lang="ko-KR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시스템</a:t>
              </a:r>
              <a:r>
                <a:rPr lang="ko-KR" altLang="en-US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 아키텍처</a:t>
              </a:r>
              <a:endParaRPr sz="110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6247644" y="2623716"/>
              <a:ext cx="3929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개발 계획</a:t>
              </a:r>
              <a:endParaRPr dirty="0"/>
            </a:p>
          </p:txBody>
        </p:sp>
      </p:grpSp>
      <p:pic>
        <p:nvPicPr>
          <p:cNvPr id="130" name="Google Shape;13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CD7B2725-8951-5239-54E3-F0C135366C03}"/>
              </a:ext>
            </a:extLst>
          </p:cNvPr>
          <p:cNvGrpSpPr/>
          <p:nvPr/>
        </p:nvGrpSpPr>
        <p:grpSpPr>
          <a:xfrm>
            <a:off x="3623047" y="4239088"/>
            <a:ext cx="5063736" cy="1171049"/>
            <a:chOff x="5130111" y="3951221"/>
            <a:chExt cx="5063736" cy="1171049"/>
          </a:xfrm>
        </p:grpSpPr>
        <p:sp>
          <p:nvSpPr>
            <p:cNvPr id="121" name="Google Shape;121;p2"/>
            <p:cNvSpPr/>
            <p:nvPr/>
          </p:nvSpPr>
          <p:spPr>
            <a:xfrm>
              <a:off x="5130111" y="3951221"/>
              <a:ext cx="904222" cy="933086"/>
            </a:xfrm>
            <a:prstGeom prst="ellipse">
              <a:avLst/>
            </a:prstGeom>
            <a:solidFill>
              <a:srgbClr val="F4E7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2E224A"/>
                </a:solidFill>
                <a:latin typeface="Poppins Black"/>
                <a:ea typeface="Poppins Black"/>
                <a:cs typeface="Poppins Black"/>
                <a:sym typeface="Poppins Black"/>
              </a:endParaRPr>
            </a:p>
          </p:txBody>
        </p:sp>
        <p:grpSp>
          <p:nvGrpSpPr>
            <p:cNvPr id="122" name="Google Shape;122;p2"/>
            <p:cNvGrpSpPr/>
            <p:nvPr/>
          </p:nvGrpSpPr>
          <p:grpSpPr>
            <a:xfrm>
              <a:off x="5416849" y="4247111"/>
              <a:ext cx="330746" cy="341304"/>
              <a:chOff x="752656" y="1562597"/>
              <a:chExt cx="390525" cy="390525"/>
            </a:xfrm>
          </p:grpSpPr>
          <p:sp>
            <p:nvSpPr>
              <p:cNvPr id="123" name="Google Shape;123;p2"/>
              <p:cNvSpPr/>
              <p:nvPr/>
            </p:nvSpPr>
            <p:spPr>
              <a:xfrm>
                <a:off x="797621" y="1607153"/>
                <a:ext cx="2095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61925" extrusionOk="0">
                    <a:moveTo>
                      <a:pt x="26568" y="159925"/>
                    </a:moveTo>
                    <a:lnTo>
                      <a:pt x="85528" y="100965"/>
                    </a:lnTo>
                    <a:lnTo>
                      <a:pt x="102292" y="117729"/>
                    </a:lnTo>
                    <a:cubicBezTo>
                      <a:pt x="105340" y="120777"/>
                      <a:pt x="110388" y="120777"/>
                      <a:pt x="113437" y="117729"/>
                    </a:cubicBezTo>
                    <a:lnTo>
                      <a:pt x="185922" y="45244"/>
                    </a:lnTo>
                    <a:lnTo>
                      <a:pt x="185922" y="64770"/>
                    </a:lnTo>
                    <a:cubicBezTo>
                      <a:pt x="185922" y="67246"/>
                      <a:pt x="187065" y="69723"/>
                      <a:pt x="189065" y="71152"/>
                    </a:cubicBezTo>
                    <a:cubicBezTo>
                      <a:pt x="198209" y="77915"/>
                      <a:pt x="208210" y="71533"/>
                      <a:pt x="208210" y="62865"/>
                    </a:cubicBezTo>
                    <a:lnTo>
                      <a:pt x="208210" y="18288"/>
                    </a:lnTo>
                    <a:cubicBezTo>
                      <a:pt x="208210" y="12097"/>
                      <a:pt x="203162" y="7144"/>
                      <a:pt x="197066" y="7144"/>
                    </a:cubicBezTo>
                    <a:lnTo>
                      <a:pt x="150584" y="7144"/>
                    </a:lnTo>
                    <a:cubicBezTo>
                      <a:pt x="148107" y="7144"/>
                      <a:pt x="145631" y="8287"/>
                      <a:pt x="144202" y="10287"/>
                    </a:cubicBezTo>
                    <a:cubicBezTo>
                      <a:pt x="137439" y="19431"/>
                      <a:pt x="143821" y="29432"/>
                      <a:pt x="152489" y="29432"/>
                    </a:cubicBezTo>
                    <a:lnTo>
                      <a:pt x="170205" y="29432"/>
                    </a:lnTo>
                    <a:lnTo>
                      <a:pt x="107912" y="91726"/>
                    </a:lnTo>
                    <a:lnTo>
                      <a:pt x="91148" y="74962"/>
                    </a:lnTo>
                    <a:cubicBezTo>
                      <a:pt x="88100" y="71914"/>
                      <a:pt x="83052" y="71914"/>
                      <a:pt x="80004" y="74962"/>
                    </a:cubicBezTo>
                    <a:lnTo>
                      <a:pt x="9519" y="145447"/>
                    </a:lnTo>
                    <a:cubicBezTo>
                      <a:pt x="7709" y="147256"/>
                      <a:pt x="6852" y="149733"/>
                      <a:pt x="7233" y="152209"/>
                    </a:cubicBezTo>
                    <a:cubicBezTo>
                      <a:pt x="8852" y="163544"/>
                      <a:pt x="20377" y="166116"/>
                      <a:pt x="26568" y="15992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797995" y="1807749"/>
                <a:ext cx="952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04775" extrusionOk="0">
                    <a:moveTo>
                      <a:pt x="18288" y="97822"/>
                    </a:moveTo>
                    <a:lnTo>
                      <a:pt x="85154" y="97822"/>
                    </a:lnTo>
                    <a:cubicBezTo>
                      <a:pt x="91345" y="97822"/>
                      <a:pt x="96298" y="92869"/>
                      <a:pt x="96298" y="86677"/>
                    </a:cubicBezTo>
                    <a:lnTo>
                      <a:pt x="96298" y="18288"/>
                    </a:lnTo>
                    <a:cubicBezTo>
                      <a:pt x="96298" y="12097"/>
                      <a:pt x="91345" y="7144"/>
                      <a:pt x="85154" y="7144"/>
                    </a:cubicBezTo>
                    <a:lnTo>
                      <a:pt x="18288" y="7144"/>
                    </a:lnTo>
                    <a:cubicBezTo>
                      <a:pt x="12097" y="7144"/>
                      <a:pt x="7144" y="12097"/>
                      <a:pt x="7144" y="18288"/>
                    </a:cubicBezTo>
                    <a:lnTo>
                      <a:pt x="7144" y="86677"/>
                    </a:lnTo>
                    <a:cubicBezTo>
                      <a:pt x="7144" y="92773"/>
                      <a:pt x="12097" y="97822"/>
                      <a:pt x="18288" y="978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909438" y="1740884"/>
                <a:ext cx="952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71450" extrusionOk="0">
                    <a:moveTo>
                      <a:pt x="85153" y="7144"/>
                    </a:moveTo>
                    <a:lnTo>
                      <a:pt x="18288" y="7144"/>
                    </a:lnTo>
                    <a:cubicBezTo>
                      <a:pt x="12097" y="7144"/>
                      <a:pt x="7144" y="12097"/>
                      <a:pt x="7144" y="18288"/>
                    </a:cubicBezTo>
                    <a:lnTo>
                      <a:pt x="7144" y="153543"/>
                    </a:lnTo>
                    <a:cubicBezTo>
                      <a:pt x="7144" y="159734"/>
                      <a:pt x="12097" y="164687"/>
                      <a:pt x="18288" y="164687"/>
                    </a:cubicBezTo>
                    <a:lnTo>
                      <a:pt x="85153" y="164687"/>
                    </a:lnTo>
                    <a:cubicBezTo>
                      <a:pt x="91345" y="164687"/>
                      <a:pt x="96298" y="159734"/>
                      <a:pt x="96298" y="153543"/>
                    </a:cubicBezTo>
                    <a:lnTo>
                      <a:pt x="96298" y="18288"/>
                    </a:lnTo>
                    <a:cubicBezTo>
                      <a:pt x="96298" y="12192"/>
                      <a:pt x="91345" y="7144"/>
                      <a:pt x="85153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998589" y="1607534"/>
                <a:ext cx="14287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04800" extrusionOk="0">
                    <a:moveTo>
                      <a:pt x="18291" y="118205"/>
                    </a:moveTo>
                    <a:lnTo>
                      <a:pt x="29435" y="118205"/>
                    </a:lnTo>
                    <a:lnTo>
                      <a:pt x="29435" y="286893"/>
                    </a:lnTo>
                    <a:cubicBezTo>
                      <a:pt x="29435" y="293084"/>
                      <a:pt x="34388" y="298037"/>
                      <a:pt x="40580" y="298037"/>
                    </a:cubicBezTo>
                    <a:lnTo>
                      <a:pt x="108207" y="298037"/>
                    </a:lnTo>
                    <a:cubicBezTo>
                      <a:pt x="114398" y="298037"/>
                      <a:pt x="119352" y="293084"/>
                      <a:pt x="119352" y="286893"/>
                    </a:cubicBezTo>
                    <a:lnTo>
                      <a:pt x="119352" y="118205"/>
                    </a:lnTo>
                    <a:lnTo>
                      <a:pt x="130496" y="118205"/>
                    </a:lnTo>
                    <a:cubicBezTo>
                      <a:pt x="134591" y="118205"/>
                      <a:pt x="138306" y="116014"/>
                      <a:pt x="140211" y="112490"/>
                    </a:cubicBezTo>
                    <a:cubicBezTo>
                      <a:pt x="142212" y="108966"/>
                      <a:pt x="142021" y="104585"/>
                      <a:pt x="139926" y="101156"/>
                    </a:cubicBezTo>
                    <a:lnTo>
                      <a:pt x="83442" y="12002"/>
                    </a:lnTo>
                    <a:cubicBezTo>
                      <a:pt x="79346" y="5524"/>
                      <a:pt x="68583" y="5524"/>
                      <a:pt x="64583" y="12002"/>
                    </a:cubicBezTo>
                    <a:lnTo>
                      <a:pt x="8861" y="101156"/>
                    </a:lnTo>
                    <a:cubicBezTo>
                      <a:pt x="6671" y="104585"/>
                      <a:pt x="6575" y="108966"/>
                      <a:pt x="8576" y="112490"/>
                    </a:cubicBezTo>
                    <a:cubicBezTo>
                      <a:pt x="10481" y="116014"/>
                      <a:pt x="14291" y="118205"/>
                      <a:pt x="18291" y="11820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752656" y="1562597"/>
                <a:ext cx="390525" cy="390525"/>
              </a:xfrm>
              <a:custGeom>
                <a:avLst/>
                <a:gdLst/>
                <a:ahLst/>
                <a:cxnLst/>
                <a:rect l="l" t="t" r="r" b="b"/>
                <a:pathLst>
                  <a:path w="390525" h="390525" extrusionOk="0">
                    <a:moveTo>
                      <a:pt x="376142" y="365262"/>
                    </a:moveTo>
                    <a:lnTo>
                      <a:pt x="29432" y="365262"/>
                    </a:lnTo>
                    <a:lnTo>
                      <a:pt x="29432" y="18552"/>
                    </a:lnTo>
                    <a:cubicBezTo>
                      <a:pt x="29432" y="12837"/>
                      <a:pt x="25241" y="7789"/>
                      <a:pt x="19526" y="7218"/>
                    </a:cubicBezTo>
                    <a:cubicBezTo>
                      <a:pt x="12764" y="6456"/>
                      <a:pt x="7144" y="11694"/>
                      <a:pt x="7144" y="18267"/>
                    </a:cubicBezTo>
                    <a:lnTo>
                      <a:pt x="7144" y="376407"/>
                    </a:lnTo>
                    <a:cubicBezTo>
                      <a:pt x="7144" y="382598"/>
                      <a:pt x="12097" y="387551"/>
                      <a:pt x="18288" y="387551"/>
                    </a:cubicBezTo>
                    <a:lnTo>
                      <a:pt x="376428" y="387551"/>
                    </a:lnTo>
                    <a:cubicBezTo>
                      <a:pt x="383000" y="387551"/>
                      <a:pt x="388239" y="381836"/>
                      <a:pt x="387477" y="375168"/>
                    </a:cubicBezTo>
                    <a:cubicBezTo>
                      <a:pt x="386906" y="369453"/>
                      <a:pt x="381857" y="365262"/>
                      <a:pt x="376142" y="3652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</p:grpSp>
        <p:sp>
          <p:nvSpPr>
            <p:cNvPr id="128" name="Google Shape;128;p2"/>
            <p:cNvSpPr/>
            <p:nvPr/>
          </p:nvSpPr>
          <p:spPr>
            <a:xfrm>
              <a:off x="6256177" y="3997275"/>
              <a:ext cx="3929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추진전략 및 기대효과</a:t>
              </a:r>
              <a:endParaRPr/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6256177" y="4352829"/>
              <a:ext cx="3937670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28600" marR="0" lvl="0" indent="-228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arenR"/>
              </a:pPr>
              <a:r>
                <a:rPr lang="ko-KR" altLang="en-US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추진전략</a:t>
              </a:r>
            </a:p>
            <a:p>
              <a:pPr marL="228600" marR="0" lvl="0" indent="-228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arenR"/>
              </a:pPr>
              <a:r>
                <a:rPr lang="ko-KR" altLang="en-US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역할분담</a:t>
              </a:r>
            </a:p>
            <a:p>
              <a:pPr marL="228600" marR="0" lvl="0" indent="-228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arenR"/>
              </a:pPr>
              <a:r>
                <a:rPr lang="ko-KR" altLang="en-US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진행계획</a:t>
              </a:r>
            </a:p>
            <a:p>
              <a:pPr marL="228600" marR="0" lvl="0" indent="-228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arenR"/>
              </a:pPr>
              <a:r>
                <a:rPr lang="ko-KR" altLang="en-US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기대효과 및 활용방안</a:t>
              </a:r>
              <a:endParaRPr lang="ko-KR" altLang="en-US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4E7C70DE-7281-0195-9ECF-8FF3EA2425C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/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/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endParaRPr sz="2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/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/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888647" y="319330"/>
            <a:ext cx="77134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배경 및 목적 </a:t>
            </a:r>
            <a:r>
              <a:rPr lang="en-US" altLang="ko-KR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개발배경</a:t>
            </a:r>
            <a:r>
              <a:rPr lang="ko-KR" alt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및 해결과제 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D15C46C0-37B6-5A88-A4BC-C428C1932373}"/>
              </a:ext>
            </a:extLst>
          </p:cNvPr>
          <p:cNvGrpSpPr/>
          <p:nvPr/>
        </p:nvGrpSpPr>
        <p:grpSpPr>
          <a:xfrm>
            <a:off x="5833297" y="2234829"/>
            <a:ext cx="3898861" cy="1700502"/>
            <a:chOff x="1085734" y="2216241"/>
            <a:chExt cx="3898861" cy="1700502"/>
          </a:xfrm>
        </p:grpSpPr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086C000A-4A59-5926-26AF-16C571F11CA4}"/>
                </a:ext>
              </a:extLst>
            </p:cNvPr>
            <p:cNvSpPr/>
            <p:nvPr/>
          </p:nvSpPr>
          <p:spPr>
            <a:xfrm>
              <a:off x="1384825" y="2216241"/>
              <a:ext cx="3599770" cy="1700502"/>
            </a:xfrm>
            <a:prstGeom prst="roundRect">
              <a:avLst/>
            </a:prstGeom>
            <a:noFill/>
            <a:ln>
              <a:solidFill>
                <a:srgbClr val="F4E7D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E737E79C-D0D8-F106-D8A8-79346E0780B2}"/>
                </a:ext>
              </a:extLst>
            </p:cNvPr>
            <p:cNvGrpSpPr/>
            <p:nvPr/>
          </p:nvGrpSpPr>
          <p:grpSpPr>
            <a:xfrm>
              <a:off x="1085734" y="2320697"/>
              <a:ext cx="3672250" cy="1467269"/>
              <a:chOff x="1085734" y="2320697"/>
              <a:chExt cx="3672250" cy="1467269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91B42D85-36EC-A5AA-F0C0-83EAB0970531}"/>
                  </a:ext>
                </a:extLst>
              </p:cNvPr>
              <p:cNvSpPr/>
              <p:nvPr/>
            </p:nvSpPr>
            <p:spPr>
              <a:xfrm>
                <a:off x="1085734" y="2354148"/>
                <a:ext cx="641466" cy="655729"/>
              </a:xfrm>
              <a:prstGeom prst="rect">
                <a:avLst/>
              </a:prstGeom>
              <a:solidFill>
                <a:srgbClr val="F4E7D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3200" b="1" dirty="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rPr>
                  <a:t>2</a:t>
                </a:r>
                <a:endParaRPr kumimoji="1" lang="ko-KR" altLang="en-US" sz="3200" b="1" dirty="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6" name="Google Shape;150;p3">
                <a:extLst>
                  <a:ext uri="{FF2B5EF4-FFF2-40B4-BE49-F238E27FC236}">
                    <a16:creationId xmlns:a16="http://schemas.microsoft.com/office/drawing/2014/main" id="{806C5DD1-B4B0-BCFE-ED3B-4482768D39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2565" y="2320697"/>
                <a:ext cx="2248252" cy="4883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>
                    <a:schemeClr val="dk1"/>
                  </a:buClr>
                  <a:buSzPts val="1400"/>
                  <a:buFont typeface="Arial" panose="020B0604020202020204" pitchFamily="34" charset="0"/>
                  <a:buNone/>
                </a:pPr>
                <a:r>
                  <a:rPr lang="ko-KR" altLang="en-US" sz="1800" dirty="0">
                    <a:latin typeface="Arial"/>
                    <a:ea typeface="Arial"/>
                    <a:cs typeface="Arial"/>
                    <a:sym typeface="Arial"/>
                  </a:rPr>
                  <a:t>개인정보 유출 증가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A7A989-2CBB-7A4C-10C7-D925296592E4}"/>
                  </a:ext>
                </a:extLst>
              </p:cNvPr>
              <p:cNvSpPr txBox="1"/>
              <p:nvPr/>
            </p:nvSpPr>
            <p:spPr>
              <a:xfrm>
                <a:off x="1822565" y="2956969"/>
                <a:ext cx="293541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1600" dirty="0">
                    <a:solidFill>
                      <a:srgbClr val="37512F"/>
                    </a:solidFill>
                  </a:rPr>
                  <a:t>전세계 기업 평균 데이터 유출</a:t>
                </a:r>
                <a:endParaRPr kumimoji="1" lang="en-US" altLang="ko-KR" sz="1600" dirty="0">
                  <a:solidFill>
                    <a:srgbClr val="37512F"/>
                  </a:solidFill>
                </a:endParaRPr>
              </a:p>
              <a:p>
                <a:r>
                  <a:rPr kumimoji="1" lang="ko-KR" altLang="en-US" sz="1600" dirty="0">
                    <a:solidFill>
                      <a:srgbClr val="37512F"/>
                    </a:solidFill>
                  </a:rPr>
                  <a:t>비용은 </a:t>
                </a:r>
                <a:r>
                  <a:rPr kumimoji="1" lang="en-US" altLang="ko-KR" sz="1600" dirty="0">
                    <a:solidFill>
                      <a:srgbClr val="37512F"/>
                    </a:solidFill>
                  </a:rPr>
                  <a:t>2024</a:t>
                </a:r>
                <a:r>
                  <a:rPr kumimoji="1" lang="ko-KR" altLang="en-US" sz="1600" dirty="0">
                    <a:solidFill>
                      <a:srgbClr val="37512F"/>
                    </a:solidFill>
                  </a:rPr>
                  <a:t>년 기준 </a:t>
                </a:r>
                <a:r>
                  <a:rPr kumimoji="1" lang="en-US" altLang="ko-KR" sz="1600" dirty="0">
                    <a:solidFill>
                      <a:srgbClr val="37512F"/>
                    </a:solidFill>
                  </a:rPr>
                  <a:t>488</a:t>
                </a:r>
                <a:r>
                  <a:rPr kumimoji="1" lang="ko-KR" altLang="en-US" sz="1600" dirty="0">
                    <a:solidFill>
                      <a:srgbClr val="37512F"/>
                    </a:solidFill>
                  </a:rPr>
                  <a:t>만</a:t>
                </a:r>
                <a:endParaRPr kumimoji="1" lang="en-US" altLang="ko-KR" sz="1600" dirty="0">
                  <a:solidFill>
                    <a:srgbClr val="37512F"/>
                  </a:solidFill>
                </a:endParaRPr>
              </a:p>
              <a:p>
                <a:r>
                  <a:rPr kumimoji="1" lang="ko-KR" altLang="en-US" sz="1600" dirty="0">
                    <a:solidFill>
                      <a:srgbClr val="37512F"/>
                    </a:solidFill>
                  </a:rPr>
                  <a:t>달러로 사상 최고치 기록</a:t>
                </a:r>
              </a:p>
            </p:txBody>
          </p:sp>
        </p:grpSp>
      </p:grp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755A6965-0902-6ADA-7967-BC5F943D57CE}"/>
              </a:ext>
            </a:extLst>
          </p:cNvPr>
          <p:cNvSpPr/>
          <p:nvPr/>
        </p:nvSpPr>
        <p:spPr>
          <a:xfrm>
            <a:off x="1782553" y="4152839"/>
            <a:ext cx="8004495" cy="1700502"/>
          </a:xfrm>
          <a:prstGeom prst="roundRect">
            <a:avLst/>
          </a:prstGeom>
          <a:noFill/>
          <a:ln>
            <a:solidFill>
              <a:srgbClr val="F4E7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088ADDC-D5EC-D348-0B20-07EB91A6A890}"/>
              </a:ext>
            </a:extLst>
          </p:cNvPr>
          <p:cNvGrpSpPr/>
          <p:nvPr/>
        </p:nvGrpSpPr>
        <p:grpSpPr>
          <a:xfrm>
            <a:off x="1487177" y="4341864"/>
            <a:ext cx="6023067" cy="1262190"/>
            <a:chOff x="1085734" y="4341864"/>
            <a:chExt cx="6023067" cy="126219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297CF81-FDCE-125B-BF0E-1A7C35CE3481}"/>
                </a:ext>
              </a:extLst>
            </p:cNvPr>
            <p:cNvSpPr/>
            <p:nvPr/>
          </p:nvSpPr>
          <p:spPr>
            <a:xfrm>
              <a:off x="1085734" y="4341864"/>
              <a:ext cx="641466" cy="655729"/>
            </a:xfrm>
            <a:prstGeom prst="rect">
              <a:avLst/>
            </a:prstGeom>
            <a:solidFill>
              <a:srgbClr val="F4E7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3200" b="1" dirty="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rPr>
                <a:t>3</a:t>
              </a:r>
              <a:endParaRPr kumimoji="1" lang="ko-KR" altLang="en-US" sz="3200" b="1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13" name="Google Shape;150;p3">
              <a:extLst>
                <a:ext uri="{FF2B5EF4-FFF2-40B4-BE49-F238E27FC236}">
                  <a16:creationId xmlns:a16="http://schemas.microsoft.com/office/drawing/2014/main" id="{0F4BEF43-C179-2494-535A-5B055DEACFC4}"/>
                </a:ext>
              </a:extLst>
            </p:cNvPr>
            <p:cNvSpPr txBox="1">
              <a:spLocks/>
            </p:cNvSpPr>
            <p:nvPr/>
          </p:nvSpPr>
          <p:spPr>
            <a:xfrm>
              <a:off x="1828798" y="4341864"/>
              <a:ext cx="2248252" cy="4883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rmAutofit lnSpcReduction="1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spcBef>
                  <a:spcPts val="0"/>
                </a:spcBef>
                <a:buClr>
                  <a:schemeClr val="dk1"/>
                </a:buClr>
                <a:buSzPts val="1400"/>
                <a:buFont typeface="Arial" panose="020B0604020202020204" pitchFamily="34" charset="0"/>
                <a:buNone/>
              </a:pPr>
              <a:r>
                <a:rPr lang="ko-KR" altLang="en-US" sz="1800" dirty="0">
                  <a:latin typeface="Arial"/>
                  <a:ea typeface="Arial"/>
                  <a:cs typeface="Arial"/>
                  <a:sym typeface="Arial"/>
                </a:rPr>
                <a:t>새로운 접근 필요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CFF4434-2B5A-FC83-0EDF-9CDB3823F0AA}"/>
                </a:ext>
              </a:extLst>
            </p:cNvPr>
            <p:cNvSpPr txBox="1"/>
            <p:nvPr/>
          </p:nvSpPr>
          <p:spPr>
            <a:xfrm>
              <a:off x="1727200" y="5019279"/>
              <a:ext cx="53816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600" dirty="0">
                  <a:solidFill>
                    <a:srgbClr val="37512F"/>
                  </a:solidFill>
                </a:rPr>
                <a:t>기술적</a:t>
              </a:r>
              <a:r>
                <a:rPr lang="en-US" altLang="ko-KR" sz="1600" dirty="0">
                  <a:solidFill>
                    <a:srgbClr val="37512F"/>
                  </a:solidFill>
                </a:rPr>
                <a:t>·</a:t>
              </a:r>
              <a:r>
                <a:rPr kumimoji="1" lang="ko-KR" altLang="en-US" sz="1600" dirty="0">
                  <a:solidFill>
                    <a:srgbClr val="37512F"/>
                  </a:solidFill>
                </a:rPr>
                <a:t>구조적 차원에서 개인정보 보호와 데이터 활용을 </a:t>
              </a:r>
              <a:endParaRPr kumimoji="1" lang="en-US" altLang="ko-KR" sz="1600" dirty="0">
                <a:solidFill>
                  <a:srgbClr val="37512F"/>
                </a:solidFill>
              </a:endParaRPr>
            </a:p>
            <a:p>
              <a:r>
                <a:rPr kumimoji="1" lang="ko-KR" altLang="en-US" sz="1600" dirty="0">
                  <a:solidFill>
                    <a:srgbClr val="37512F"/>
                  </a:solidFill>
                </a:rPr>
                <a:t>동시에 만족시킬 수 있는 방식 필요</a:t>
              </a: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9D6FBDF4-BF50-E85B-0AF2-867ED839217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77046DB5-1C29-6FFC-98CF-691DE8441995}"/>
              </a:ext>
            </a:extLst>
          </p:cNvPr>
          <p:cNvSpPr/>
          <p:nvPr/>
        </p:nvSpPr>
        <p:spPr>
          <a:xfrm>
            <a:off x="1487177" y="1428694"/>
            <a:ext cx="5436289" cy="4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3300" b="1" dirty="0">
                <a:solidFill>
                  <a:srgbClr val="37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개인정보 보호의 현황과 한계</a:t>
            </a:r>
            <a:endParaRPr lang="en-US" sz="3300" b="1" dirty="0">
              <a:solidFill>
                <a:srgbClr val="37512F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32B4269-FA8F-17C6-7D53-59EA74C8D715}"/>
              </a:ext>
            </a:extLst>
          </p:cNvPr>
          <p:cNvGrpSpPr/>
          <p:nvPr/>
        </p:nvGrpSpPr>
        <p:grpSpPr>
          <a:xfrm>
            <a:off x="1487177" y="2208142"/>
            <a:ext cx="3915119" cy="1700502"/>
            <a:chOff x="5476458" y="2234829"/>
            <a:chExt cx="3915119" cy="1700502"/>
          </a:xfrm>
        </p:grpSpPr>
        <p:sp>
          <p:nvSpPr>
            <p:cNvPr id="28" name="모서리가 둥근 직사각형 27">
              <a:extLst>
                <a:ext uri="{FF2B5EF4-FFF2-40B4-BE49-F238E27FC236}">
                  <a16:creationId xmlns:a16="http://schemas.microsoft.com/office/drawing/2014/main" id="{B756D090-5C4B-8920-C2C3-00613008FF20}"/>
                </a:ext>
              </a:extLst>
            </p:cNvPr>
            <p:cNvSpPr/>
            <p:nvPr/>
          </p:nvSpPr>
          <p:spPr>
            <a:xfrm>
              <a:off x="5785836" y="2234829"/>
              <a:ext cx="3599770" cy="1700502"/>
            </a:xfrm>
            <a:prstGeom prst="roundRect">
              <a:avLst/>
            </a:prstGeom>
            <a:noFill/>
            <a:ln>
              <a:solidFill>
                <a:srgbClr val="F4E7D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0EE0275D-73EE-E08B-7CA3-FEC2D4A442BD}"/>
                </a:ext>
              </a:extLst>
            </p:cNvPr>
            <p:cNvGrpSpPr/>
            <p:nvPr/>
          </p:nvGrpSpPr>
          <p:grpSpPr>
            <a:xfrm>
              <a:off x="5476458" y="2320697"/>
              <a:ext cx="3915119" cy="1518068"/>
              <a:chOff x="4834184" y="2320697"/>
              <a:chExt cx="3915119" cy="1518068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848F869F-EC6F-D179-F7F0-388910E4C824}"/>
                  </a:ext>
                </a:extLst>
              </p:cNvPr>
              <p:cNvSpPr/>
              <p:nvPr/>
            </p:nvSpPr>
            <p:spPr>
              <a:xfrm>
                <a:off x="4834184" y="2354148"/>
                <a:ext cx="641466" cy="655729"/>
              </a:xfrm>
              <a:prstGeom prst="rect">
                <a:avLst/>
              </a:prstGeom>
              <a:solidFill>
                <a:srgbClr val="F4E7D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3200" b="1" dirty="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rPr>
                  <a:t>1</a:t>
                </a:r>
                <a:endParaRPr kumimoji="1" lang="ko-KR" altLang="en-US" sz="3200" b="1" dirty="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31" name="Google Shape;150;p3">
                <a:extLst>
                  <a:ext uri="{FF2B5EF4-FFF2-40B4-BE49-F238E27FC236}">
                    <a16:creationId xmlns:a16="http://schemas.microsoft.com/office/drawing/2014/main" id="{66EF4A83-8800-CF6A-1271-28BE95D1DF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92226" y="2320697"/>
                <a:ext cx="2248252" cy="4883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>
                    <a:schemeClr val="dk1"/>
                  </a:buClr>
                  <a:buSzPts val="1400"/>
                  <a:buFont typeface="Arial" panose="020B0604020202020204" pitchFamily="34" charset="0"/>
                  <a:buNone/>
                </a:pPr>
                <a:r>
                  <a:rPr lang="ko-KR" altLang="en-US" sz="1800" dirty="0">
                    <a:latin typeface="Arial"/>
                    <a:ea typeface="Arial"/>
                    <a:cs typeface="Arial"/>
                    <a:sym typeface="Arial"/>
                  </a:rPr>
                  <a:t>규제 강화의 한계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0F96E1-CFCD-9424-7F4F-7061786B9E41}"/>
                  </a:ext>
                </a:extLst>
              </p:cNvPr>
              <p:cNvSpPr txBox="1"/>
              <p:nvPr/>
            </p:nvSpPr>
            <p:spPr>
              <a:xfrm>
                <a:off x="5475650" y="3007768"/>
                <a:ext cx="327365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1600" dirty="0">
                    <a:solidFill>
                      <a:srgbClr val="37512F"/>
                    </a:solidFill>
                  </a:rPr>
                  <a:t>데이터 </a:t>
                </a:r>
                <a:r>
                  <a:rPr kumimoji="1" lang="en-US" altLang="ko-KR" sz="1600" dirty="0">
                    <a:solidFill>
                      <a:srgbClr val="37512F"/>
                    </a:solidFill>
                  </a:rPr>
                  <a:t>3</a:t>
                </a:r>
                <a:r>
                  <a:rPr kumimoji="1" lang="ko-KR" altLang="en-US" sz="1600" dirty="0">
                    <a:solidFill>
                      <a:srgbClr val="37512F"/>
                    </a:solidFill>
                  </a:rPr>
                  <a:t>법</a:t>
                </a:r>
                <a:r>
                  <a:rPr kumimoji="1" lang="en-US" altLang="ko-KR" sz="1600" dirty="0">
                    <a:solidFill>
                      <a:srgbClr val="37512F"/>
                    </a:solidFill>
                  </a:rPr>
                  <a:t>,</a:t>
                </a:r>
                <a:r>
                  <a:rPr kumimoji="1" lang="ko-KR" altLang="en-US" sz="1600" dirty="0">
                    <a:solidFill>
                      <a:srgbClr val="37512F"/>
                    </a:solidFill>
                  </a:rPr>
                  <a:t> </a:t>
                </a:r>
                <a:r>
                  <a:rPr kumimoji="1" lang="en-US" altLang="ko-KR" sz="1600" dirty="0">
                    <a:solidFill>
                      <a:srgbClr val="37512F"/>
                    </a:solidFill>
                  </a:rPr>
                  <a:t>GDPR</a:t>
                </a:r>
                <a:r>
                  <a:rPr kumimoji="1" lang="ko-KR" altLang="en-US" sz="1600" dirty="0">
                    <a:solidFill>
                      <a:srgbClr val="37512F"/>
                    </a:solidFill>
                  </a:rPr>
                  <a:t>등 규제</a:t>
                </a:r>
                <a:endParaRPr kumimoji="1" lang="en-US" altLang="ko-KR" sz="1600" dirty="0">
                  <a:solidFill>
                    <a:srgbClr val="37512F"/>
                  </a:solidFill>
                </a:endParaRPr>
              </a:p>
              <a:p>
                <a:r>
                  <a:rPr kumimoji="1" lang="ko-KR" altLang="en-US" sz="1600" dirty="0">
                    <a:solidFill>
                      <a:srgbClr val="37512F"/>
                    </a:solidFill>
                  </a:rPr>
                  <a:t>강화에도 불구하고 개인정보 유출</a:t>
                </a:r>
                <a:endParaRPr kumimoji="1" lang="en-US" altLang="ko-KR" sz="1600" dirty="0">
                  <a:solidFill>
                    <a:srgbClr val="37512F"/>
                  </a:solidFill>
                </a:endParaRPr>
              </a:p>
              <a:p>
                <a:r>
                  <a:rPr kumimoji="1" lang="ko-KR" altLang="en-US" sz="1600" dirty="0">
                    <a:solidFill>
                      <a:srgbClr val="37512F"/>
                    </a:solidFill>
                  </a:rPr>
                  <a:t>피해 급증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2">
          <a:extLst>
            <a:ext uri="{FF2B5EF4-FFF2-40B4-BE49-F238E27FC236}">
              <a16:creationId xmlns:a16="http://schemas.microsoft.com/office/drawing/2014/main" id="{78AC8C8D-0E26-90DF-11F1-49D9D0D2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A9D99FF2-13C8-C061-8330-3F63909CB32C}"/>
              </a:ext>
            </a:extLst>
          </p:cNvPr>
          <p:cNvCxnSpPr>
            <a:cxnSpLocks/>
          </p:cNvCxnSpPr>
          <p:nvPr/>
        </p:nvCxnSpPr>
        <p:spPr>
          <a:xfrm>
            <a:off x="1880599" y="1791350"/>
            <a:ext cx="0" cy="4594516"/>
          </a:xfrm>
          <a:prstGeom prst="line">
            <a:avLst/>
          </a:prstGeom>
          <a:ln>
            <a:solidFill>
              <a:srgbClr val="F4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F73957E0-C164-D64C-A603-D4D4BD9491F0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7F41E8E6-6BF6-A915-4193-206B3469F87A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F760C8F1-3C57-4B13-6A12-F2308806DFE7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55506968-F10D-84C6-A276-6E30831C0298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part1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B9E5E817-BC67-DCAA-089C-A9959495921B}"/>
              </a:ext>
            </a:extLst>
          </p:cNvPr>
          <p:cNvSpPr txBox="1"/>
          <p:nvPr/>
        </p:nvSpPr>
        <p:spPr>
          <a:xfrm>
            <a:off x="888646" y="319330"/>
            <a:ext cx="749335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프로젝트 배경 및 목적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개발배경 및 한계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86AECB83-5FFC-762B-2A3F-1F72403FD9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12CF6E4C-CC25-A38A-8932-64A53A84A632}"/>
              </a:ext>
            </a:extLst>
          </p:cNvPr>
          <p:cNvGrpSpPr/>
          <p:nvPr/>
        </p:nvGrpSpPr>
        <p:grpSpPr>
          <a:xfrm>
            <a:off x="3410421" y="2034988"/>
            <a:ext cx="6829114" cy="1002546"/>
            <a:chOff x="3410421" y="1967256"/>
            <a:chExt cx="6829114" cy="1002546"/>
          </a:xfrm>
        </p:grpSpPr>
        <p:sp>
          <p:nvSpPr>
            <p:cNvPr id="6" name="Google Shape;150;p3">
              <a:extLst>
                <a:ext uri="{FF2B5EF4-FFF2-40B4-BE49-F238E27FC236}">
                  <a16:creationId xmlns:a16="http://schemas.microsoft.com/office/drawing/2014/main" id="{F9C7B8B5-1D4C-E32B-BAEB-7347E1BB2393}"/>
                </a:ext>
              </a:extLst>
            </p:cNvPr>
            <p:cNvSpPr txBox="1">
              <a:spLocks/>
            </p:cNvSpPr>
            <p:nvPr/>
          </p:nvSpPr>
          <p:spPr>
            <a:xfrm>
              <a:off x="3410421" y="1967256"/>
              <a:ext cx="2248252" cy="4883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rmAutofit lnSpcReduction="1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Arial" panose="020B0604020202020204" pitchFamily="34" charset="0"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6B3AE4-4437-D914-C2F0-F883E76FFB6F}"/>
                </a:ext>
              </a:extLst>
            </p:cNvPr>
            <p:cNvSpPr txBox="1"/>
            <p:nvPr/>
          </p:nvSpPr>
          <p:spPr>
            <a:xfrm>
              <a:off x="3410421" y="2385027"/>
              <a:ext cx="6829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600" dirty="0">
                  <a:solidFill>
                    <a:schemeClr val="bg2">
                      <a:lumMod val="50000"/>
                    </a:schemeClr>
                  </a:solidFill>
                  <a:latin typeface="맑은 고딕" panose="02110004020202020204"/>
                  <a:ea typeface="맑은 고딕" panose="020B0503020000020004" pitchFamily="34" charset="-127"/>
                </a:rPr>
                <a:t>외부 네트워크 통신으로 </a:t>
              </a:r>
              <a:r>
                <a:rPr kumimoji="1" lang="ko-KR" altLang="en-US" sz="1600" dirty="0" err="1">
                  <a:solidFill>
                    <a:schemeClr val="bg2">
                      <a:lumMod val="50000"/>
                    </a:schemeClr>
                  </a:solidFill>
                  <a:latin typeface="맑은 고딕" panose="02110004020202020204"/>
                  <a:ea typeface="맑은 고딕" panose="020B0503020000020004" pitchFamily="34" charset="-127"/>
                </a:rPr>
                <a:t>프라이빗</a:t>
              </a:r>
              <a:r>
                <a:rPr kumimoji="1" lang="ko-KR" altLang="en-US" sz="1600" dirty="0">
                  <a:solidFill>
                    <a:schemeClr val="bg2">
                      <a:lumMod val="50000"/>
                    </a:schemeClr>
                  </a:solidFill>
                  <a:latin typeface="맑은 고딕" panose="02110004020202020204"/>
                  <a:ea typeface="맑은 고딕" panose="020B0503020000020004" pitchFamily="34" charset="-127"/>
                </a:rPr>
                <a:t> 데이터를 송수신 시</a:t>
              </a:r>
              <a:r>
                <a:rPr kumimoji="1" lang="en-US" altLang="ko-KR" sz="1600" dirty="0">
                  <a:solidFill>
                    <a:schemeClr val="bg2">
                      <a:lumMod val="50000"/>
                    </a:schemeClr>
                  </a:solidFill>
                  <a:latin typeface="맑은 고딕" panose="02110004020202020204"/>
                  <a:ea typeface="맑은 고딕" panose="020B0503020000020004" pitchFamily="34" charset="-127"/>
                </a:rPr>
                <a:t>,</a:t>
              </a:r>
              <a:r>
                <a:rPr kumimoji="1" lang="ko-KR" altLang="en-US" sz="1600" dirty="0">
                  <a:solidFill>
                    <a:schemeClr val="bg2">
                      <a:lumMod val="50000"/>
                    </a:schemeClr>
                  </a:solidFill>
                  <a:latin typeface="맑은 고딕" panose="02110004020202020204"/>
                  <a:ea typeface="맑은 고딕" panose="020B0503020000020004" pitchFamily="34" charset="-127"/>
                </a:rPr>
                <a:t> 보안 취약점 발생</a:t>
              </a:r>
              <a:endParaRPr kumimoji="1" lang="en-US" altLang="ko-KR" sz="1600" dirty="0">
                <a:solidFill>
                  <a:schemeClr val="bg2">
                    <a:lumMod val="50000"/>
                  </a:schemeClr>
                </a:solidFill>
                <a:latin typeface="맑은 고딕" panose="02110004020202020204"/>
                <a:ea typeface="맑은 고딕" panose="020B0503020000020004" pitchFamily="34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예</a:t>
              </a:r>
              <a:r>
                <a:rPr kumimoji="1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)</a:t>
              </a:r>
              <a:r>
                <a:rPr kumimoji="1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 중간자 공격 등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FE24090-F786-73CD-3F7D-1826493CFFDE}"/>
              </a:ext>
            </a:extLst>
          </p:cNvPr>
          <p:cNvGrpSpPr/>
          <p:nvPr/>
        </p:nvGrpSpPr>
        <p:grpSpPr>
          <a:xfrm>
            <a:off x="3410421" y="3640515"/>
            <a:ext cx="8007320" cy="820472"/>
            <a:chOff x="3410421" y="3335715"/>
            <a:chExt cx="8007320" cy="820472"/>
          </a:xfrm>
        </p:grpSpPr>
        <p:sp>
          <p:nvSpPr>
            <p:cNvPr id="10" name="Google Shape;150;p3">
              <a:extLst>
                <a:ext uri="{FF2B5EF4-FFF2-40B4-BE49-F238E27FC236}">
                  <a16:creationId xmlns:a16="http://schemas.microsoft.com/office/drawing/2014/main" id="{6E9D3D68-27BB-97F9-ACF7-0421B420951B}"/>
                </a:ext>
              </a:extLst>
            </p:cNvPr>
            <p:cNvSpPr txBox="1">
              <a:spLocks/>
            </p:cNvSpPr>
            <p:nvPr/>
          </p:nvSpPr>
          <p:spPr>
            <a:xfrm>
              <a:off x="3410421" y="3335715"/>
              <a:ext cx="2248252" cy="4883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rmAutofit lnSpcReduction="1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Arial" panose="020B0604020202020204" pitchFamily="34" charset="0"/>
                <a:buNone/>
                <a:tabLst/>
                <a:defRPr/>
              </a:pPr>
              <a:r>
                <a:rPr lang="ko-KR" altLang="en-US" sz="1800" dirty="0">
                  <a:solidFill>
                    <a:prstClr val="black"/>
                  </a:solidFill>
                  <a:latin typeface="Arial"/>
                  <a:ea typeface="Arial"/>
                  <a:cs typeface="Arial"/>
                  <a:sym typeface="Arial"/>
                </a:rPr>
                <a:t>해결 방안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E1A6D7-F548-7BCB-2B25-A3A5484F2D22}"/>
                </a:ext>
              </a:extLst>
            </p:cNvPr>
            <p:cNvSpPr txBox="1"/>
            <p:nvPr/>
          </p:nvSpPr>
          <p:spPr>
            <a:xfrm>
              <a:off x="3410421" y="3817633"/>
              <a:ext cx="80073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외부 시스템을 내부로 가져와 </a:t>
              </a:r>
              <a:r>
                <a:rPr kumimoji="1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(</a:t>
              </a:r>
              <a:r>
                <a:rPr kumimoji="1" lang="ko-KR" altLang="en-US" sz="1600" dirty="0">
                  <a:solidFill>
                    <a:schemeClr val="bg2">
                      <a:lumMod val="50000"/>
                    </a:schemeClr>
                  </a:solidFill>
                  <a:latin typeface="맑은 고딕" panose="02110004020202020204"/>
                  <a:ea typeface="맑은 고딕" panose="020B0503020000020004" pitchFamily="34" charset="-127"/>
                </a:rPr>
                <a:t>로컬영역</a:t>
              </a:r>
              <a:r>
                <a:rPr kumimoji="1" lang="en-US" altLang="ko-KR" sz="1600" dirty="0">
                  <a:solidFill>
                    <a:schemeClr val="bg2">
                      <a:lumMod val="50000"/>
                    </a:schemeClr>
                  </a:solidFill>
                  <a:latin typeface="맑은 고딕" panose="02110004020202020204"/>
                  <a:ea typeface="맑은 고딕" panose="020B0503020000020004" pitchFamily="34" charset="-127"/>
                </a:rPr>
                <a:t>)</a:t>
              </a:r>
              <a:r>
                <a:rPr kumimoji="1" lang="ko-KR" altLang="en-US" sz="1600" dirty="0">
                  <a:solidFill>
                    <a:schemeClr val="bg2">
                      <a:lumMod val="50000"/>
                    </a:schemeClr>
                  </a:solidFill>
                  <a:latin typeface="맑은 고딕" panose="02110004020202020204"/>
                  <a:ea typeface="맑은 고딕" panose="020B0503020000020004" pitchFamily="34" charset="-127"/>
                </a:rPr>
                <a:t> </a:t>
              </a:r>
              <a:r>
                <a:rPr kumimoji="1" lang="ko-KR" altLang="en-US" sz="1600" dirty="0" err="1">
                  <a:solidFill>
                    <a:schemeClr val="bg2">
                      <a:lumMod val="50000"/>
                    </a:schemeClr>
                  </a:solidFill>
                  <a:latin typeface="맑은 고딕" panose="02110004020202020204"/>
                  <a:ea typeface="맑은 고딕" panose="020B0503020000020004" pitchFamily="34" charset="-127"/>
                </a:rPr>
                <a:t>프라이빗</a:t>
              </a:r>
              <a:r>
                <a:rPr kumimoji="1" lang="ko-KR" altLang="en-US" sz="1600" dirty="0">
                  <a:solidFill>
                    <a:schemeClr val="bg2">
                      <a:lumMod val="50000"/>
                    </a:schemeClr>
                  </a:solidFill>
                  <a:latin typeface="맑은 고딕" panose="02110004020202020204"/>
                  <a:ea typeface="맑은 고딕" panose="020B0503020000020004" pitchFamily="34" charset="-127"/>
                </a:rPr>
                <a:t> 데이터를 외부에 노출 시키지 않음</a:t>
              </a:r>
              <a:endPara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B1FCFF-8077-D97B-D5C6-4E8E21DF3981}"/>
              </a:ext>
            </a:extLst>
          </p:cNvPr>
          <p:cNvGrpSpPr/>
          <p:nvPr/>
        </p:nvGrpSpPr>
        <p:grpSpPr>
          <a:xfrm>
            <a:off x="3407838" y="5038589"/>
            <a:ext cx="4588115" cy="859136"/>
            <a:chOff x="3407838" y="5038589"/>
            <a:chExt cx="4588115" cy="859136"/>
          </a:xfrm>
        </p:grpSpPr>
        <p:sp>
          <p:nvSpPr>
            <p:cNvPr id="13" name="Google Shape;150;p3">
              <a:extLst>
                <a:ext uri="{FF2B5EF4-FFF2-40B4-BE49-F238E27FC236}">
                  <a16:creationId xmlns:a16="http://schemas.microsoft.com/office/drawing/2014/main" id="{C09841C4-5DD4-0117-E5B9-F7A8BAA0E12A}"/>
                </a:ext>
              </a:extLst>
            </p:cNvPr>
            <p:cNvSpPr txBox="1">
              <a:spLocks/>
            </p:cNvSpPr>
            <p:nvPr/>
          </p:nvSpPr>
          <p:spPr>
            <a:xfrm>
              <a:off x="3410421" y="5038589"/>
              <a:ext cx="2248252" cy="4883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rmAutofit lnSpcReduction="1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기대 효과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27DF66-6F87-BD79-E626-0B04F77CF894}"/>
                </a:ext>
              </a:extLst>
            </p:cNvPr>
            <p:cNvSpPr txBox="1"/>
            <p:nvPr/>
          </p:nvSpPr>
          <p:spPr>
            <a:xfrm>
              <a:off x="3407838" y="5559171"/>
              <a:ext cx="45881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개인정보 보호 강화</a:t>
              </a:r>
              <a:r>
                <a:rPr kumimoji="1" lang="ko-KR" altLang="en-US" sz="1600" dirty="0">
                  <a:solidFill>
                    <a:schemeClr val="bg2">
                      <a:lumMod val="50000"/>
                    </a:schemeClr>
                  </a:solidFill>
                  <a:latin typeface="맑은 고딕" panose="02110004020202020204"/>
                  <a:ea typeface="맑은 고딕" panose="020B0503020000020004" pitchFamily="34" charset="-127"/>
                </a:rPr>
                <a:t> 및 데이터 유출 위험 최소화</a:t>
              </a:r>
              <a:endPara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</p:grp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CC39DD7B-E2C7-3B75-4EAF-51DD6C5BF043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1984195" y="2446554"/>
            <a:ext cx="1209089" cy="6205"/>
          </a:xfrm>
          <a:prstGeom prst="line">
            <a:avLst/>
          </a:prstGeom>
          <a:ln>
            <a:solidFill>
              <a:srgbClr val="F4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84ED518F-0A97-46D8-B0D5-FA9356EB9EDF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1984195" y="5617039"/>
            <a:ext cx="1209089" cy="12529"/>
          </a:xfrm>
          <a:prstGeom prst="line">
            <a:avLst/>
          </a:prstGeom>
          <a:ln>
            <a:solidFill>
              <a:srgbClr val="F4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014F8F7C-8679-06C0-4968-774986BD696F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984195" y="4031797"/>
            <a:ext cx="1209089" cy="15589"/>
          </a:xfrm>
          <a:prstGeom prst="line">
            <a:avLst/>
          </a:prstGeom>
          <a:ln>
            <a:solidFill>
              <a:srgbClr val="F4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utoShape 2">
            <a:extLst>
              <a:ext uri="{FF2B5EF4-FFF2-40B4-BE49-F238E27FC236}">
                <a16:creationId xmlns:a16="http://schemas.microsoft.com/office/drawing/2014/main" id="{C877108C-C219-D10F-931D-B182B89F77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B73C1B58-76A3-4BBE-DEE6-C327B261BD8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39285EA1-506D-DEBD-18B5-0754F6E19A66}"/>
              </a:ext>
            </a:extLst>
          </p:cNvPr>
          <p:cNvSpPr/>
          <p:nvPr/>
        </p:nvSpPr>
        <p:spPr>
          <a:xfrm>
            <a:off x="1750671" y="2335144"/>
            <a:ext cx="233524" cy="222819"/>
          </a:xfrm>
          <a:prstGeom prst="ellipse">
            <a:avLst/>
          </a:prstGeom>
          <a:solidFill>
            <a:srgbClr val="F4E7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5ECFBC8-78E9-4EBA-F0FF-356C7475D1F2}"/>
              </a:ext>
            </a:extLst>
          </p:cNvPr>
          <p:cNvSpPr/>
          <p:nvPr/>
        </p:nvSpPr>
        <p:spPr>
          <a:xfrm>
            <a:off x="1750671" y="3920387"/>
            <a:ext cx="233524" cy="222819"/>
          </a:xfrm>
          <a:prstGeom prst="ellipse">
            <a:avLst/>
          </a:prstGeom>
          <a:solidFill>
            <a:srgbClr val="F4E7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897ECA1-FD0B-B764-3991-7F0AD235704F}"/>
              </a:ext>
            </a:extLst>
          </p:cNvPr>
          <p:cNvSpPr/>
          <p:nvPr/>
        </p:nvSpPr>
        <p:spPr>
          <a:xfrm>
            <a:off x="1750671" y="5505629"/>
            <a:ext cx="233524" cy="222819"/>
          </a:xfrm>
          <a:prstGeom prst="ellipse">
            <a:avLst/>
          </a:prstGeom>
          <a:solidFill>
            <a:srgbClr val="F4E7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0A279357-788C-C3C0-C488-B1687626E023}"/>
              </a:ext>
            </a:extLst>
          </p:cNvPr>
          <p:cNvSpPr/>
          <p:nvPr/>
        </p:nvSpPr>
        <p:spPr>
          <a:xfrm>
            <a:off x="986813" y="1326501"/>
            <a:ext cx="5436289" cy="4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3300" b="1" dirty="0">
                <a:solidFill>
                  <a:srgbClr val="37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기존 클라우드 시스템의 한계</a:t>
            </a:r>
            <a:endParaRPr lang="en-US" sz="3300" b="1" dirty="0">
              <a:solidFill>
                <a:srgbClr val="37512F"/>
              </a:solidFill>
            </a:endParaRPr>
          </a:p>
        </p:txBody>
      </p:sp>
      <p:sp>
        <p:nvSpPr>
          <p:cNvPr id="29" name="Google Shape;150;p3">
            <a:extLst>
              <a:ext uri="{FF2B5EF4-FFF2-40B4-BE49-F238E27FC236}">
                <a16:creationId xmlns:a16="http://schemas.microsoft.com/office/drawing/2014/main" id="{080DF79C-8BEF-3B8B-85FF-8EC5534FD4F5}"/>
              </a:ext>
            </a:extLst>
          </p:cNvPr>
          <p:cNvSpPr txBox="1">
            <a:spLocks/>
          </p:cNvSpPr>
          <p:nvPr/>
        </p:nvSpPr>
        <p:spPr>
          <a:xfrm>
            <a:off x="3417858" y="2008721"/>
            <a:ext cx="2248252" cy="4883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Arial" panose="020B0604020202020204" pitchFamily="34" charset="0"/>
              <a:buNone/>
              <a:tabLst/>
              <a:defRPr/>
            </a:pPr>
            <a:r>
              <a:rPr lang="ko-KR" altLang="en-US" sz="1800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보안 취약점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9312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8A939947-C36E-1477-25E7-E773B4252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D7CBA018-5941-5824-F71B-BA969C231D9B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5CEB7902-9ED6-B3F8-001E-D5A142A44342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65115A0E-C4F3-5F07-47A3-70C95EA58682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6380AFC4-1617-E372-320A-30AA92251193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part1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73420CBE-CA5D-67AD-9716-A49CF35299EE}"/>
              </a:ext>
            </a:extLst>
          </p:cNvPr>
          <p:cNvSpPr txBox="1"/>
          <p:nvPr/>
        </p:nvSpPr>
        <p:spPr>
          <a:xfrm>
            <a:off x="888646" y="319330"/>
            <a:ext cx="617255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배경 및 목적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ko-KR" alt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개발 현황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19B4F129-3A93-ADDA-4055-1BB74E12AC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5EF706AA-AB70-454A-AF70-2FC1C59447EA}"/>
              </a:ext>
            </a:extLst>
          </p:cNvPr>
          <p:cNvSpPr/>
          <p:nvPr/>
        </p:nvSpPr>
        <p:spPr>
          <a:xfrm>
            <a:off x="6216725" y="2073937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endParaRPr lang="en-US" sz="1833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1AEA95E-D3C5-2099-14E9-23803B4F169B}"/>
              </a:ext>
            </a:extLst>
          </p:cNvPr>
          <p:cNvSpPr/>
          <p:nvPr/>
        </p:nvSpPr>
        <p:spPr>
          <a:xfrm>
            <a:off x="2805684" y="4131171"/>
            <a:ext cx="6223794" cy="1450182"/>
          </a:xfrm>
          <a:prstGeom prst="roundRect">
            <a:avLst>
              <a:gd name="adj" fmla="val 0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ko-KR" altLang="en-US"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525C22F-7DA8-0002-2DA8-288EFA2470E3}"/>
              </a:ext>
            </a:extLst>
          </p:cNvPr>
          <p:cNvSpPr/>
          <p:nvPr/>
        </p:nvSpPr>
        <p:spPr>
          <a:xfrm>
            <a:off x="3005113" y="4330601"/>
            <a:ext cx="37079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2000" dirty="0"/>
              <a:t>→</a:t>
            </a:r>
            <a:r>
              <a:rPr lang="en-US" altLang="ko-KR" sz="2000" dirty="0"/>
              <a:t> </a:t>
            </a:r>
            <a:r>
              <a:rPr lang="ko-KR" altLang="en-US" sz="1833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플랫폼 검증</a:t>
            </a:r>
            <a:endParaRPr lang="en-US" sz="1833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5BE062B-040D-D0E4-A36A-E410C41A4967}"/>
              </a:ext>
            </a:extLst>
          </p:cNvPr>
          <p:cNvSpPr/>
          <p:nvPr/>
        </p:nvSpPr>
        <p:spPr>
          <a:xfrm>
            <a:off x="3140044" y="4823322"/>
            <a:ext cx="582493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ko-KR" altLang="en-US" sz="1400" dirty="0"/>
              <a:t>가명처리 시스템을 플랫폼 검증용으로 활용예정</a:t>
            </a:r>
            <a:endParaRPr lang="en-US" sz="1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3E37A25-2C7B-2F0E-C0C8-815033C630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68817906-178A-DE59-3C5D-3ADFE90683F2}"/>
              </a:ext>
            </a:extLst>
          </p:cNvPr>
          <p:cNvGrpSpPr/>
          <p:nvPr/>
        </p:nvGrpSpPr>
        <p:grpSpPr>
          <a:xfrm>
            <a:off x="5972621" y="1874507"/>
            <a:ext cx="3012182" cy="1961912"/>
            <a:chOff x="5270103" y="1874507"/>
            <a:chExt cx="3012182" cy="1961912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1884CD6D-63C3-918A-031F-55512E1E729E}"/>
                </a:ext>
              </a:extLst>
            </p:cNvPr>
            <p:cNvSpPr/>
            <p:nvPr/>
          </p:nvSpPr>
          <p:spPr>
            <a:xfrm>
              <a:off x="5270103" y="1874507"/>
              <a:ext cx="3012182" cy="1961912"/>
            </a:xfrm>
            <a:prstGeom prst="roundRect">
              <a:avLst>
                <a:gd name="adj" fmla="val 0"/>
              </a:avLst>
            </a:prstGeom>
            <a:solidFill>
              <a:srgbClr val="F3E7D4"/>
            </a:solidFill>
            <a:ln/>
          </p:spPr>
          <p:txBody>
            <a:bodyPr/>
            <a:lstStyle/>
            <a:p>
              <a:endParaRPr lang="ko-KR" altLang="en-US" sz="1500" dirty="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B24B1A3F-C529-2138-F5F5-84A0E70ACC6A}"/>
                </a:ext>
              </a:extLst>
            </p:cNvPr>
            <p:cNvSpPr/>
            <p:nvPr/>
          </p:nvSpPr>
          <p:spPr>
            <a:xfrm>
              <a:off x="5469533" y="2486885"/>
              <a:ext cx="2613323" cy="12766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ts val="2500"/>
                </a:lnSpc>
                <a:buAutoNum type="arabicPeriod"/>
              </a:pPr>
              <a:r>
                <a:rPr lang="ko-KR" altLang="en-US" sz="1200" dirty="0"/>
                <a:t>이미지 및 동영상 데이터 로딩</a:t>
              </a:r>
              <a:endParaRPr lang="en-US" altLang="ko-KR" sz="1200" dirty="0"/>
            </a:p>
            <a:p>
              <a:pPr marL="342900" indent="-342900">
                <a:lnSpc>
                  <a:spcPts val="2500"/>
                </a:lnSpc>
                <a:buAutoNum type="arabicPeriod"/>
              </a:pPr>
              <a:r>
                <a:rPr lang="en-US" altLang="ko-KR" sz="1200" dirty="0"/>
                <a:t>YOLO</a:t>
              </a:r>
              <a:r>
                <a:rPr lang="ko-KR" altLang="en-US" sz="1200" dirty="0"/>
                <a:t> 모델을 이용한 객체 탐지</a:t>
              </a:r>
              <a:endParaRPr lang="en-US" altLang="ko-KR" sz="1200" dirty="0"/>
            </a:p>
            <a:p>
              <a:pPr marL="342900" indent="-342900">
                <a:lnSpc>
                  <a:spcPts val="2500"/>
                </a:lnSpc>
                <a:buAutoNum type="arabicPeriod"/>
              </a:pPr>
              <a:r>
                <a:rPr lang="ko-KR" altLang="en-US" sz="1200" dirty="0"/>
                <a:t>탐지된 객체 </a:t>
              </a:r>
              <a:r>
                <a:rPr lang="ko-KR" altLang="en-US" sz="1200" dirty="0" err="1"/>
                <a:t>마스킹</a:t>
              </a:r>
              <a:r>
                <a:rPr lang="ko-KR" altLang="en-US" sz="1200" dirty="0"/>
                <a:t> 및 삭제</a:t>
              </a:r>
              <a:endParaRPr lang="en-US" altLang="ko-KR" sz="1200" dirty="0"/>
            </a:p>
            <a:p>
              <a:pPr marL="342900" indent="-342900">
                <a:lnSpc>
                  <a:spcPts val="2500"/>
                </a:lnSpc>
                <a:buAutoNum type="arabicPeriod"/>
              </a:pPr>
              <a:r>
                <a:rPr lang="ko-KR" altLang="en-US" sz="1200" dirty="0"/>
                <a:t>결과 이미지 저장</a:t>
              </a:r>
              <a:endParaRPr lang="en-US" altLang="ko-KR" sz="1200" dirty="0"/>
            </a:p>
            <a:p>
              <a:pPr marL="342900" indent="-342900">
                <a:lnSpc>
                  <a:spcPts val="2500"/>
                </a:lnSpc>
                <a:buAutoNum type="arabicPeriod"/>
              </a:pPr>
              <a:endParaRPr lang="en-US" altLang="ko-KR" sz="1542" dirty="0"/>
            </a:p>
          </p:txBody>
        </p:sp>
        <p:sp>
          <p:nvSpPr>
            <p:cNvPr id="2" name="Text 8">
              <a:extLst>
                <a:ext uri="{FF2B5EF4-FFF2-40B4-BE49-F238E27FC236}">
                  <a16:creationId xmlns:a16="http://schemas.microsoft.com/office/drawing/2014/main" id="{D151E04F-97FB-3335-AB50-25A6C8224158}"/>
                </a:ext>
              </a:extLst>
            </p:cNvPr>
            <p:cNvSpPr/>
            <p:nvPr/>
          </p:nvSpPr>
          <p:spPr>
            <a:xfrm>
              <a:off x="5465817" y="2096645"/>
              <a:ext cx="2346821" cy="293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ko-KR" altLang="en-US" sz="1833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비정형데이터 가명처리</a:t>
              </a:r>
              <a:endParaRPr lang="en-US" sz="1833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A3C8AA8-8F31-1290-3472-13688FCB91E5}"/>
              </a:ext>
            </a:extLst>
          </p:cNvPr>
          <p:cNvGrpSpPr/>
          <p:nvPr/>
        </p:nvGrpSpPr>
        <p:grpSpPr>
          <a:xfrm>
            <a:off x="2816900" y="1874507"/>
            <a:ext cx="3012182" cy="1961912"/>
            <a:chOff x="8481715" y="1874507"/>
            <a:chExt cx="3012182" cy="1961912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F50388C8-CC7B-293B-DA84-FB4F1B1B77E1}"/>
                </a:ext>
              </a:extLst>
            </p:cNvPr>
            <p:cNvSpPr/>
            <p:nvPr/>
          </p:nvSpPr>
          <p:spPr>
            <a:xfrm>
              <a:off x="8481715" y="1874507"/>
              <a:ext cx="3012182" cy="1961912"/>
            </a:xfrm>
            <a:prstGeom prst="roundRect">
              <a:avLst>
                <a:gd name="adj" fmla="val 0"/>
              </a:avLst>
            </a:prstGeom>
            <a:solidFill>
              <a:srgbClr val="F3E7D4"/>
            </a:solidFill>
            <a:ln/>
          </p:spPr>
          <p:txBody>
            <a:bodyPr/>
            <a:lstStyle/>
            <a:p>
              <a:endParaRPr lang="ko-KR" altLang="en-US" sz="15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CB699ED5-8805-B8D3-D658-4C45D1F945F1}"/>
                </a:ext>
              </a:extLst>
            </p:cNvPr>
            <p:cNvSpPr/>
            <p:nvPr/>
          </p:nvSpPr>
          <p:spPr>
            <a:xfrm>
              <a:off x="8681144" y="2486884"/>
              <a:ext cx="2613323" cy="12766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ts val="2500"/>
                </a:lnSpc>
                <a:buAutoNum type="arabicPeriod"/>
              </a:pPr>
              <a:r>
                <a:rPr lang="ko-KR" altLang="en-US" sz="12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데이터 로딩 및 파싱</a:t>
              </a:r>
              <a:endParaRPr lang="en-US" altLang="ko-KR" sz="12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endParaRPr>
            </a:p>
            <a:p>
              <a:pPr marL="342900" indent="-342900">
                <a:lnSpc>
                  <a:spcPts val="2500"/>
                </a:lnSpc>
                <a:buAutoNum type="arabicPeriod"/>
              </a:pPr>
              <a:r>
                <a:rPr lang="ko-KR" altLang="en-US" sz="1200" dirty="0">
                  <a:solidFill>
                    <a:srgbClr val="3A3630"/>
                  </a:solidFill>
                  <a:latin typeface="Source Sans Pro" pitchFamily="34" charset="0"/>
                </a:rPr>
                <a:t>개인정보 식별 및 분류</a:t>
              </a:r>
              <a:endParaRPr lang="en-US" altLang="ko-KR" sz="1200" dirty="0">
                <a:solidFill>
                  <a:srgbClr val="3A3630"/>
                </a:solidFill>
                <a:latin typeface="Source Sans Pro" pitchFamily="34" charset="0"/>
              </a:endParaRPr>
            </a:p>
            <a:p>
              <a:pPr marL="342900" indent="-342900">
                <a:lnSpc>
                  <a:spcPts val="2500"/>
                </a:lnSpc>
                <a:buAutoNum type="arabicPeriod"/>
              </a:pPr>
              <a:r>
                <a:rPr lang="ko-KR" altLang="en-US" sz="1200" dirty="0">
                  <a:solidFill>
                    <a:srgbClr val="3A3630"/>
                  </a:solidFill>
                  <a:latin typeface="Source Sans Pro" pitchFamily="34" charset="0"/>
                </a:rPr>
                <a:t>가명처리 기법 적용</a:t>
              </a:r>
              <a:endParaRPr lang="en-US" altLang="ko-KR" sz="1200" dirty="0">
                <a:solidFill>
                  <a:srgbClr val="3A3630"/>
                </a:solidFill>
                <a:latin typeface="Source Sans Pro" pitchFamily="34" charset="0"/>
              </a:endParaRPr>
            </a:p>
            <a:p>
              <a:pPr marL="342900" indent="-342900">
                <a:lnSpc>
                  <a:spcPts val="2500"/>
                </a:lnSpc>
                <a:buAutoNum type="arabicPeriod"/>
              </a:pPr>
              <a:r>
                <a:rPr lang="ko-KR" altLang="en-US" sz="1200" dirty="0">
                  <a:solidFill>
                    <a:srgbClr val="3A3630"/>
                  </a:solidFill>
                  <a:latin typeface="Source Sans Pro" pitchFamily="34" charset="0"/>
                </a:rPr>
                <a:t>결과 데이터 저장</a:t>
              </a:r>
              <a:endParaRPr lang="en-US" sz="1200" dirty="0"/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E7F7B669-B218-328E-CD18-EAFE17588EAC}"/>
                </a:ext>
              </a:extLst>
            </p:cNvPr>
            <p:cNvSpPr/>
            <p:nvPr/>
          </p:nvSpPr>
          <p:spPr>
            <a:xfrm>
              <a:off x="8651345" y="2104082"/>
              <a:ext cx="2346821" cy="293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ko-KR" altLang="en-US" sz="1833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정형데이터 가명처리</a:t>
              </a:r>
              <a:endParaRPr lang="en-US" sz="1833" dirty="0"/>
            </a:p>
          </p:txBody>
        </p:sp>
      </p:grpSp>
    </p:spTree>
    <p:extLst>
      <p:ext uri="{BB962C8B-B14F-4D97-AF65-F5344CB8AC3E}">
        <p14:creationId xmlns:p14="http://schemas.microsoft.com/office/powerpoint/2010/main" val="2932705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E2B3E1A9-F272-A85E-8914-392586D50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75ED52B4-E562-3D3F-337A-D3A7ABD44ED0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429E7829-59CD-1851-C1A9-D1654ADCDB3B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71ACFCAA-9303-B306-C507-CAA3C287FE26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F336D4EA-5FC0-EDE2-4EAE-F8B147ECA25F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part2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6E546EC3-5846-C0B2-D2AB-F31CB8E76467}"/>
              </a:ext>
            </a:extLst>
          </p:cNvPr>
          <p:cNvSpPr txBox="1"/>
          <p:nvPr/>
        </p:nvSpPr>
        <p:spPr>
          <a:xfrm>
            <a:off x="888647" y="319330"/>
            <a:ext cx="470568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개발계획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요구사항 정의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A392B59C-709D-0E3E-1281-BE7B93B342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A9856659-0EFD-FC89-B9E8-8A3E7852C3A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graphicFrame>
        <p:nvGraphicFramePr>
          <p:cNvPr id="2" name="Google Shape;212;p6">
            <a:extLst>
              <a:ext uri="{FF2B5EF4-FFF2-40B4-BE49-F238E27FC236}">
                <a16:creationId xmlns:a16="http://schemas.microsoft.com/office/drawing/2014/main" id="{4EB2C166-6C46-AE71-7FC7-1760C1446C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6518202"/>
              </p:ext>
            </p:extLst>
          </p:nvPr>
        </p:nvGraphicFramePr>
        <p:xfrm>
          <a:off x="888646" y="2145262"/>
          <a:ext cx="10278725" cy="29619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8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/>
                          <a:sym typeface="Arial"/>
                        </a:rPr>
                        <a:t>요구사항 명</a:t>
                      </a:r>
                      <a:endParaRPr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/>
                          <a:sym typeface="Arial"/>
                        </a:rPr>
                        <a:t>요구사항 설명</a:t>
                      </a:r>
                      <a:endParaRPr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/>
                          <a:sym typeface="Arial"/>
                        </a:rPr>
                        <a:t>요구사항 ID</a:t>
                      </a:r>
                      <a:endParaRPr sz="1200" b="1" u="none" strike="noStrike" cap="none" dirty="0"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650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Agent 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관리 및 서비스</a:t>
                      </a: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사용자 로컬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·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엣지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내에서 외부 시스템을 획득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배치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실행 하는 기능 제공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REQ-001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6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스케일링</a:t>
                      </a: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Agent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를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통해 수동 혹은 자동으로 외부 시스템의 수를 조정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REQ-002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6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네트워킹</a:t>
                      </a: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Agent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와 외부 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Middle Server, Metadata Server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간 통신 기능 제공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REQ-003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6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사용자 인터페이스</a:t>
                      </a: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Agent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를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통해 외부 시스템 요청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사용 등의 기능을 제공하고 모니터링 할 수 있는 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직관적인 웹 기반 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GUI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제공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REQ-004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6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테스트</a:t>
                      </a: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가명처리 시스템을 개발 및 적용하여 실시간 가명처리 기능 검증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REQ-005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EA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7353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50BA699F-292B-8A9C-35AF-BA52E8285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1EE66568-7EC1-8580-7379-11805D393373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EE4FBCDA-3BF3-F5A2-316A-73FCA828943A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14AB0942-6BE2-0FBE-F45E-19D40F7573B6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0DF51703-3899-7A11-13D0-FAA8A82B48F7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part2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C0CF5B06-9E19-C0B5-A22A-C3CBE1F10B25}"/>
              </a:ext>
            </a:extLst>
          </p:cNvPr>
          <p:cNvSpPr txBox="1"/>
          <p:nvPr/>
        </p:nvSpPr>
        <p:spPr>
          <a:xfrm>
            <a:off x="888647" y="319330"/>
            <a:ext cx="470568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개발계획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ko-KR" alt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요구사항 정의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309FA09F-2AD9-8293-54FD-A94DE48148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FBFED3A6-BE55-891E-E723-147573D35E2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E43468E-5FAF-E8D4-F461-FE77B6AD7EAF}"/>
              </a:ext>
            </a:extLst>
          </p:cNvPr>
          <p:cNvGrpSpPr/>
          <p:nvPr/>
        </p:nvGrpSpPr>
        <p:grpSpPr>
          <a:xfrm>
            <a:off x="808451" y="1762385"/>
            <a:ext cx="10278725" cy="3717160"/>
            <a:chOff x="888646" y="2100628"/>
            <a:chExt cx="10278725" cy="3717160"/>
          </a:xfrm>
        </p:grpSpPr>
        <p:graphicFrame>
          <p:nvGraphicFramePr>
            <p:cNvPr id="3" name="Google Shape;212;p6">
              <a:extLst>
                <a:ext uri="{FF2B5EF4-FFF2-40B4-BE49-F238E27FC236}">
                  <a16:creationId xmlns:a16="http://schemas.microsoft.com/office/drawing/2014/main" id="{EC4B0743-A4C5-9FFE-B1D9-DCEA49B12C6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59231097"/>
                </p:ext>
              </p:extLst>
            </p:nvPr>
          </p:nvGraphicFramePr>
          <p:xfrm>
            <a:off x="888646" y="2362238"/>
            <a:ext cx="10278725" cy="3455550"/>
          </p:xfrm>
          <a:graphic>
            <a:graphicData uri="http://schemas.openxmlformats.org/drawingml/2006/table">
              <a:tbl>
                <a:tblPr firstRow="1" bandRow="1">
                  <a:noFill/>
                </a:tblPr>
                <a:tblGrid>
                  <a:gridCol w="18887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783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4117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493650"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명</a:t>
                        </a:r>
                        <a:endParaRPr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endParaRPr>
                      </a:p>
                    </a:txBody>
                    <a:tcPr marL="91450" marR="91450" marT="45725" marB="45725" anchor="ctr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설명</a:t>
                        </a:r>
                        <a:endParaRPr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endParaRPr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ID</a:t>
                        </a:r>
                        <a:endParaRPr sz="1200" b="1" u="none" strike="noStrike" cap="none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/>
                          <a:sym typeface="Arial"/>
                        </a:endParaRPr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Metadata </a:t>
                        </a:r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해석</a:t>
                        </a:r>
                      </a:p>
                    </a:txBody>
                    <a:tcPr marL="9525" marR="9525" marT="9525" marB="0" anchor="ctr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네트워킹을 통해 획득한 외부 시스템의 </a:t>
                        </a:r>
                        <a:r>
                          <a:rPr lang="en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Metadata </a:t>
                        </a:r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해석 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REQ-001-001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외부 시스템 배치</a:t>
                        </a:r>
                      </a:p>
                    </a:txBody>
                    <a:tcPr marL="9525" marR="9525" marT="9525" marB="0" anchor="ctr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해석한 </a:t>
                        </a:r>
                        <a:r>
                          <a:rPr lang="en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Metadata</a:t>
                        </a:r>
                        <a:r>
                          <a:rPr lang="ko-KR" altLang="en-US" sz="1200" b="0" i="0" u="none" strike="noStrike" dirty="0" err="1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를</a:t>
                        </a:r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 통해 사용자 로컬</a:t>
                        </a:r>
                        <a:r>
                          <a:rPr lang="en-US" altLang="ko-KR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·</a:t>
                        </a:r>
                        <a:r>
                          <a:rPr lang="ko-KR" altLang="en-US" sz="1200" b="0" i="0" u="none" strike="noStrike" dirty="0" err="1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엣지</a:t>
                        </a:r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 내에 실시간 배치</a:t>
                        </a:r>
                        <a:r>
                          <a:rPr lang="en-US" altLang="ko-KR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(</a:t>
                        </a:r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설치</a:t>
                        </a:r>
                        <a:r>
                          <a:rPr lang="en-US" altLang="ko-KR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) </a:t>
                        </a:r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REQ-001-002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ko-KR" altLang="en-US" sz="1200" b="1" i="0" u="none" strike="noStrike" dirty="0" err="1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프라이빗</a:t>
                        </a:r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 데이터 연결</a:t>
                        </a:r>
                      </a:p>
                    </a:txBody>
                    <a:tcPr marL="9525" marR="9525" marT="9525" marB="0" anchor="ctr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배치된 외부 시스템에 로컬 영역에 있는 </a:t>
                        </a:r>
                        <a:r>
                          <a:rPr lang="ko-KR" altLang="en-US" sz="1200" b="0" i="0" u="none" strike="noStrike" dirty="0" err="1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프라이빗</a:t>
                        </a:r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 데이터에 접근 권한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REQ-001-003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시스템 실행</a:t>
                        </a:r>
                      </a:p>
                    </a:txBody>
                    <a:tcPr marL="9525" marR="9525" marT="9525" marB="0" anchor="ctr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배치된 외부 시스템을 실행하여 </a:t>
                        </a:r>
                        <a:r>
                          <a:rPr lang="ko-KR" altLang="en-US" sz="1200" b="0" i="0" u="none" strike="noStrike" dirty="0" err="1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프라이빗</a:t>
                        </a:r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 데이터 처리 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REQ-001-004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외부 시스템 삭제</a:t>
                        </a:r>
                      </a:p>
                    </a:txBody>
                    <a:tcPr marL="9525" marR="9525" marT="9525" marB="0" anchor="ctr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배치된 외부 시스템을 삭제하는 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REQ-001-005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네트워크 통신 </a:t>
                        </a:r>
                        <a:endPara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endParaRPr>
                      </a:p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모니터링 및 차단</a:t>
                        </a:r>
                      </a:p>
                    </a:txBody>
                    <a:tcPr marL="9525" marR="9525" marT="9525" marB="0" anchor="ctr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실행 중인 외부 시스템이 </a:t>
                        </a:r>
                        <a:r>
                          <a:rPr lang="ko-KR" altLang="en-US" sz="1200" b="0" i="0" u="none" strike="noStrike" dirty="0" err="1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프라이빗</a:t>
                        </a:r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 데이터를 외부 네트워크로 통신하려는 시도를 모니터링 하고</a:t>
                        </a:r>
                        <a:r>
                          <a:rPr lang="en-US" altLang="ko-KR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, </a:t>
                        </a:r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차단하는 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REQ-001-006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4290256323"/>
                    </a:ext>
                  </a:extLst>
                </a:tr>
              </a:tbl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F99646A-010E-7EE9-1CDD-B58424606E32}"/>
                </a:ext>
              </a:extLst>
            </p:cNvPr>
            <p:cNvSpPr txBox="1"/>
            <p:nvPr/>
          </p:nvSpPr>
          <p:spPr>
            <a:xfrm>
              <a:off x="888646" y="2100628"/>
              <a:ext cx="22653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ko-KR" sz="11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34" charset="-127"/>
                  <a:ea typeface="맑은 고딕" panose="020B0503020000020004" pitchFamily="34" charset="-127"/>
                </a:rPr>
                <a:t>Agent </a:t>
              </a:r>
              <a:r>
                <a:rPr lang="ko-KR" altLang="en-US" sz="11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34" charset="-127"/>
                  <a:ea typeface="맑은 고딕" panose="020B0503020000020004" pitchFamily="34" charset="-127"/>
                </a:rPr>
                <a:t>관리 및 서비스</a:t>
              </a:r>
              <a:r>
                <a:rPr lang="en-US" altLang="ko-KR" sz="1100" b="1" dirty="0">
                  <a:solidFill>
                    <a:srgbClr val="000000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rPr>
                <a:t>(REQ-001)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6657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29E20778-41F3-9DEA-E54C-2B69CEB8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E082B32D-30E8-7C23-5901-A0EFDFB5C283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4D344843-D93B-1C89-EB7D-FA3FE8CB129E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9DC38E7B-8D0A-4FB8-E98A-0705908B472A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325B4344-B400-0902-D637-DE79C93D34F0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part2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594DF4D0-39C4-6089-5D45-C27BD13537F7}"/>
              </a:ext>
            </a:extLst>
          </p:cNvPr>
          <p:cNvSpPr txBox="1"/>
          <p:nvPr/>
        </p:nvSpPr>
        <p:spPr>
          <a:xfrm>
            <a:off x="888647" y="319330"/>
            <a:ext cx="470568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개발계획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ko-KR" alt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요구사항 정의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1BEBC493-30FD-96F7-70FE-F43C262806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5EA53D16-9AC2-F91C-7589-264DCBDD941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6F9DFBF7-D293-E7B5-7016-463F757092C0}"/>
              </a:ext>
            </a:extLst>
          </p:cNvPr>
          <p:cNvGrpSpPr/>
          <p:nvPr/>
        </p:nvGrpSpPr>
        <p:grpSpPr>
          <a:xfrm>
            <a:off x="939471" y="1283473"/>
            <a:ext cx="10278725" cy="1742560"/>
            <a:chOff x="761055" y="792824"/>
            <a:chExt cx="10278725" cy="1742560"/>
          </a:xfrm>
        </p:grpSpPr>
        <p:graphicFrame>
          <p:nvGraphicFramePr>
            <p:cNvPr id="3" name="Google Shape;212;p6">
              <a:extLst>
                <a:ext uri="{FF2B5EF4-FFF2-40B4-BE49-F238E27FC236}">
                  <a16:creationId xmlns:a16="http://schemas.microsoft.com/office/drawing/2014/main" id="{5A1877B5-3304-E792-0E09-6886C85A4B0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164444952"/>
                </p:ext>
              </p:extLst>
            </p:nvPr>
          </p:nvGraphicFramePr>
          <p:xfrm>
            <a:off x="761055" y="1054434"/>
            <a:ext cx="10278725" cy="1480950"/>
          </p:xfrm>
          <a:graphic>
            <a:graphicData uri="http://schemas.openxmlformats.org/drawingml/2006/table">
              <a:tbl>
                <a:tblPr firstRow="1" bandRow="1">
                  <a:noFill/>
                </a:tblPr>
                <a:tblGrid>
                  <a:gridCol w="18887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783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4117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493650"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solidFill>
                              <a:sysClr val="windowText" lastClr="000000"/>
                            </a:solidFill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명</a:t>
                        </a:r>
                        <a:endParaRPr dirty="0">
                          <a:solidFill>
                            <a:sysClr val="windowText" lastClr="000000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endParaRPr>
                      </a:p>
                    </a:txBody>
                    <a:tcPr marL="91450" marR="91450" marT="45725" marB="45725" anchor="ctr">
                      <a:lnL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solidFill>
                              <a:sysClr val="windowText" lastClr="000000"/>
                            </a:solidFill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설명</a:t>
                        </a:r>
                        <a:endParaRPr dirty="0">
                          <a:solidFill>
                            <a:sysClr val="windowText" lastClr="000000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endParaRPr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solidFill>
                              <a:sysClr val="windowText" lastClr="000000"/>
                            </a:solidFill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ID</a:t>
                        </a:r>
                        <a:endParaRPr sz="1200" b="1" u="none" strike="noStrike" cap="none" dirty="0">
                          <a:solidFill>
                            <a:sysClr val="windowText" lastClr="000000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/>
                          <a:sym typeface="Arial"/>
                        </a:endParaRPr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ysClr val="windowText" lastClr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수동 스케일링</a:t>
                        </a:r>
                      </a:p>
                    </a:txBody>
                    <a:tcPr marL="9525" marR="9525" marT="9525" marB="0" anchor="ctr">
                      <a:lnL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ko-KR" altLang="en-US" sz="1200" b="0" i="0" u="none" strike="noStrike" dirty="0">
                            <a:solidFill>
                              <a:sysClr val="windowText" lastClr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사용자가 </a:t>
                        </a:r>
                        <a:r>
                          <a:rPr lang="en" sz="1200" b="0" i="0" u="none" strike="noStrike" dirty="0">
                            <a:solidFill>
                              <a:sysClr val="windowText" lastClr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Agent GUI</a:t>
                        </a:r>
                        <a:r>
                          <a:rPr lang="ko-KR" altLang="en-US" sz="1200" b="0" i="0" u="none" strike="noStrike" dirty="0" err="1">
                            <a:solidFill>
                              <a:sysClr val="windowText" lastClr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를</a:t>
                        </a:r>
                        <a:r>
                          <a:rPr lang="ko-KR" altLang="en-US" sz="1200" b="0" i="0" u="none" strike="noStrike" dirty="0">
                            <a:solidFill>
                              <a:sysClr val="windowText" lastClr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 통해 외부 시스템 추가</a:t>
                        </a:r>
                        <a:r>
                          <a:rPr lang="en-US" altLang="ko-KR" sz="1200" b="0" i="0" u="none" strike="noStrike" dirty="0">
                            <a:solidFill>
                              <a:sysClr val="windowText" lastClr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/</a:t>
                        </a:r>
                        <a:r>
                          <a:rPr lang="ko-KR" altLang="en-US" sz="1200" b="0" i="0" u="none" strike="noStrike" dirty="0">
                            <a:solidFill>
                              <a:sysClr val="windowText" lastClr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삭제 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 dirty="0">
                            <a:solidFill>
                              <a:sysClr val="windowText" lastClr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REQ-002-001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ysClr val="windowText" lastClr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자동 스케일링</a:t>
                        </a:r>
                      </a:p>
                    </a:txBody>
                    <a:tcPr marL="9525" marR="9525" marT="9525" marB="0" anchor="ctr">
                      <a:lnL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ko-KR" altLang="en-US" sz="1200" b="0" i="0" u="none" strike="noStrike" dirty="0">
                            <a:solidFill>
                              <a:sysClr val="windowText" lastClr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한정된 리소스에 맞추거나</a:t>
                        </a:r>
                        <a:r>
                          <a:rPr lang="en-US" altLang="ko-KR" sz="1200" b="0" i="0" u="none" strike="noStrike" dirty="0">
                            <a:solidFill>
                              <a:sysClr val="windowText" lastClr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, </a:t>
                        </a:r>
                        <a:r>
                          <a:rPr lang="ko-KR" altLang="en-US" sz="1200" b="0" i="0" u="none" strike="noStrike" dirty="0">
                            <a:solidFill>
                              <a:sysClr val="windowText" lastClr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오랫동안 사용하지 않는 외부 시스템을 삭제하는 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 dirty="0">
                            <a:solidFill>
                              <a:sysClr val="windowText" lastClr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REQ-002-002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0C680F1-766B-53D0-7BBF-014DCA2435BA}"/>
                </a:ext>
              </a:extLst>
            </p:cNvPr>
            <p:cNvSpPr txBox="1"/>
            <p:nvPr/>
          </p:nvSpPr>
          <p:spPr>
            <a:xfrm>
              <a:off x="761055" y="792824"/>
              <a:ext cx="142859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ctr"/>
              <a:r>
                <a:rPr lang="ko-KR" altLang="en-US" sz="11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34" charset="-127"/>
                  <a:ea typeface="맑은 고딕" panose="020B0503020000020004" pitchFamily="34" charset="-127"/>
                </a:rPr>
                <a:t>스케일링</a:t>
              </a:r>
              <a:r>
                <a:rPr lang="en-US" altLang="ko-KR" sz="11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34" charset="-127"/>
                  <a:ea typeface="맑은 고딕" panose="020B0503020000020004" pitchFamily="34" charset="-127"/>
                </a:rPr>
                <a:t>(REQ-002)</a:t>
              </a:r>
              <a:endParaRPr lang="ko-KR" altLang="en-US" sz="11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890D42-6D29-3834-DDD5-76A111D53E28}"/>
              </a:ext>
            </a:extLst>
          </p:cNvPr>
          <p:cNvGrpSpPr/>
          <p:nvPr/>
        </p:nvGrpSpPr>
        <p:grpSpPr>
          <a:xfrm>
            <a:off x="956637" y="3554090"/>
            <a:ext cx="10278725" cy="2236210"/>
            <a:chOff x="956637" y="3241857"/>
            <a:chExt cx="10278725" cy="2236210"/>
          </a:xfrm>
        </p:grpSpPr>
        <p:graphicFrame>
          <p:nvGraphicFramePr>
            <p:cNvPr id="6" name="Google Shape;212;p6">
              <a:extLst>
                <a:ext uri="{FF2B5EF4-FFF2-40B4-BE49-F238E27FC236}">
                  <a16:creationId xmlns:a16="http://schemas.microsoft.com/office/drawing/2014/main" id="{6A68EF67-485A-F295-B43D-66E39CF6F2A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0693004"/>
                </p:ext>
              </p:extLst>
            </p:nvPr>
          </p:nvGraphicFramePr>
          <p:xfrm>
            <a:off x="956637" y="3503467"/>
            <a:ext cx="10278725" cy="1974600"/>
          </p:xfrm>
          <a:graphic>
            <a:graphicData uri="http://schemas.openxmlformats.org/drawingml/2006/table">
              <a:tbl>
                <a:tblPr firstRow="1" bandRow="1">
                  <a:noFill/>
                </a:tblPr>
                <a:tblGrid>
                  <a:gridCol w="18887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783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4117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493650"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solidFill>
                              <a:sysClr val="windowText" lastClr="000000"/>
                            </a:solidFill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명</a:t>
                        </a:r>
                        <a:endParaRPr dirty="0">
                          <a:solidFill>
                            <a:sysClr val="windowText" lastClr="000000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endParaRPr>
                      </a:p>
                    </a:txBody>
                    <a:tcPr marL="91450" marR="91450" marT="45725" marB="45725" anchor="ctr">
                      <a:lnL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solidFill>
                              <a:sysClr val="windowText" lastClr="000000"/>
                            </a:solidFill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설명</a:t>
                        </a:r>
                        <a:endParaRPr dirty="0">
                          <a:solidFill>
                            <a:sysClr val="windowText" lastClr="000000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endParaRPr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solidFill>
                              <a:sysClr val="windowText" lastClr="000000"/>
                            </a:solidFill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ID</a:t>
                        </a:r>
                        <a:endParaRPr sz="1200" b="1" u="none" strike="noStrike" cap="none" dirty="0">
                          <a:solidFill>
                            <a:sysClr val="windowText" lastClr="000000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/>
                          <a:sym typeface="Arial"/>
                        </a:endParaRPr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Agent - Middle Server</a:t>
                        </a:r>
                      </a:p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통신</a:t>
                        </a:r>
                      </a:p>
                    </a:txBody>
                    <a:tcPr marL="9525" marR="9525" marT="9525" marB="0" anchor="ctr">
                      <a:lnL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Agent</a:t>
                        </a:r>
                        <a:r>
                          <a: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와 </a:t>
                        </a:r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Middle Server </a:t>
                        </a:r>
                        <a:r>
                          <a: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간 네트워크 통신을 통해 외부 시스템 요청</a:t>
                        </a:r>
                        <a:r>
                          <a:rPr lang="en-US" altLang="ko-KR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/</a:t>
                        </a:r>
                        <a:r>
                          <a: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획득</a:t>
                        </a:r>
                        <a:r>
                          <a:rPr lang="en-US" altLang="ko-KR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/</a:t>
                        </a:r>
                        <a:r>
                          <a: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유효성 검증 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REQ-003-001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Middle</a:t>
                        </a:r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 </a:t>
                        </a:r>
                        <a:r>
                          <a:rPr lang="en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- Metadata </a:t>
                        </a:r>
                      </a:p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통신</a:t>
                        </a:r>
                      </a:p>
                    </a:txBody>
                    <a:tcPr marL="9525" marR="9525" marT="9525" marB="0" anchor="ctr">
                      <a:lnL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Middle Server</a:t>
                        </a:r>
                        <a:r>
                          <a: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와 </a:t>
                        </a:r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Metadata Server </a:t>
                        </a:r>
                        <a:r>
                          <a: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간 네트워크 통신을 통해 사용자의 요청에 따른 외부 시스템의 </a:t>
                        </a:r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Metdata</a:t>
                        </a:r>
                        <a:r>
                          <a: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를 전달하는 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REQ-003-002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Metadata </a:t>
                        </a:r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생성</a:t>
                        </a:r>
                      </a:p>
                    </a:txBody>
                    <a:tcPr marL="9525" marR="9525" marT="9525" marB="0" anchor="ctr">
                      <a:lnL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RESTful API </a:t>
                        </a:r>
                        <a:r>
                          <a: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형태로 외부 시스템의 </a:t>
                        </a:r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Metadata</a:t>
                        </a:r>
                        <a:r>
                          <a: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를 규격에 맞게 생성하는 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REQ-003-003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4161942523"/>
                    </a:ext>
                  </a:extLst>
                </a:tr>
              </a:tbl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27815C-517E-2ECF-99F5-44B269590631}"/>
                </a:ext>
              </a:extLst>
            </p:cNvPr>
            <p:cNvSpPr txBox="1"/>
            <p:nvPr/>
          </p:nvSpPr>
          <p:spPr>
            <a:xfrm>
              <a:off x="956637" y="3241857"/>
              <a:ext cx="142859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ctr"/>
              <a:r>
                <a:rPr lang="ko-KR" altLang="en-US" sz="11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34" charset="-127"/>
                  <a:ea typeface="맑은 고딕" panose="020B0503020000020004" pitchFamily="34" charset="-127"/>
                </a:rPr>
                <a:t>네트워킹</a:t>
              </a:r>
              <a:r>
                <a:rPr lang="en-US" altLang="ko-KR" sz="11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34" charset="-127"/>
                  <a:ea typeface="맑은 고딕" panose="020B0503020000020004" pitchFamily="34" charset="-127"/>
                </a:rPr>
                <a:t>(REQ-003)</a:t>
              </a:r>
              <a:endParaRPr lang="ko-KR" altLang="en-US" sz="11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6506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3DBE3320-4235-5104-72C8-3671A0BBA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B40CFE03-BC30-40C2-6AF3-706E02B2846A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F6755B3D-C0C7-2349-92FE-0AD2F5B9844C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0C6188C3-9A64-80C4-E23B-2C961E9BF46C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6AE52BB5-D573-AEE6-9BFB-6663CFFE206D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part2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88B33518-C4BA-CD9F-FCBF-FE154640EAA8}"/>
              </a:ext>
            </a:extLst>
          </p:cNvPr>
          <p:cNvSpPr txBox="1"/>
          <p:nvPr/>
        </p:nvSpPr>
        <p:spPr>
          <a:xfrm>
            <a:off x="888647" y="319330"/>
            <a:ext cx="470568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개발계획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ko-KR" alt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요구사항 정의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6B9865BE-614B-F93A-5CFB-CBBA0D9ABF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AE6D4FF5-6563-6922-0E6C-ED09B91F962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DE1DF0EF-F68B-138C-A773-12312874D979}"/>
              </a:ext>
            </a:extLst>
          </p:cNvPr>
          <p:cNvGrpSpPr/>
          <p:nvPr/>
        </p:nvGrpSpPr>
        <p:grpSpPr>
          <a:xfrm>
            <a:off x="761055" y="1506498"/>
            <a:ext cx="10278725" cy="1742560"/>
            <a:chOff x="761055" y="792824"/>
            <a:chExt cx="10278725" cy="1742560"/>
          </a:xfrm>
        </p:grpSpPr>
        <p:graphicFrame>
          <p:nvGraphicFramePr>
            <p:cNvPr id="9" name="Google Shape;212;p6">
              <a:extLst>
                <a:ext uri="{FF2B5EF4-FFF2-40B4-BE49-F238E27FC236}">
                  <a16:creationId xmlns:a16="http://schemas.microsoft.com/office/drawing/2014/main" id="{2464BB4F-0EEC-0555-661E-F685F82D100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7173885"/>
                </p:ext>
              </p:extLst>
            </p:nvPr>
          </p:nvGraphicFramePr>
          <p:xfrm>
            <a:off x="761055" y="1054434"/>
            <a:ext cx="10278725" cy="1480950"/>
          </p:xfrm>
          <a:graphic>
            <a:graphicData uri="http://schemas.openxmlformats.org/drawingml/2006/table">
              <a:tbl>
                <a:tblPr firstRow="1" bandRow="1">
                  <a:noFill/>
                </a:tblPr>
                <a:tblGrid>
                  <a:gridCol w="18887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783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4117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493650"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solidFill>
                              <a:sysClr val="windowText" lastClr="000000"/>
                            </a:solidFill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명</a:t>
                        </a:r>
                        <a:endParaRPr dirty="0">
                          <a:solidFill>
                            <a:sysClr val="windowText" lastClr="000000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endParaRPr>
                      </a:p>
                    </a:txBody>
                    <a:tcPr marL="91450" marR="91450" marT="45725" marB="45725" anchor="ctr">
                      <a:lnL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solidFill>
                              <a:sysClr val="windowText" lastClr="000000"/>
                            </a:solidFill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설명</a:t>
                        </a:r>
                        <a:endParaRPr dirty="0">
                          <a:solidFill>
                            <a:sysClr val="windowText" lastClr="000000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endParaRPr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solidFill>
                              <a:sysClr val="windowText" lastClr="000000"/>
                            </a:solidFill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ID</a:t>
                        </a:r>
                        <a:endParaRPr sz="1200" b="1" u="none" strike="noStrike" cap="none" dirty="0">
                          <a:solidFill>
                            <a:sysClr val="windowText" lastClr="000000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/>
                          <a:sym typeface="Arial"/>
                        </a:endParaRPr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웹 기반 </a:t>
                        </a:r>
                        <a:r>
                          <a:rPr lang="en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GUI </a:t>
                        </a:r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제공</a:t>
                        </a:r>
                      </a:p>
                    </a:txBody>
                    <a:tcPr marL="9525" marR="9525" marT="9525" marB="0" anchor="ctr">
                      <a:lnL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Agent </a:t>
                        </a:r>
                        <a:r>
                          <a: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프로그램을 원활하게 사용하고</a:t>
                        </a:r>
                        <a:r>
                          <a:rPr lang="en-US" altLang="ko-KR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, </a:t>
                        </a:r>
                        <a:r>
                          <a: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시스템 자원 현황을 모니터링 할 수 있는 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REQ-004-001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외부시스템 요청 관리</a:t>
                        </a:r>
                      </a:p>
                    </a:txBody>
                    <a:tcPr marL="9525" marR="9525" marT="9525" marB="0" anchor="ctr">
                      <a:lnL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en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Middle Server</a:t>
                        </a:r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로 보낼 요청서를 작성하고</a:t>
                        </a:r>
                        <a:r>
                          <a:rPr lang="en-US" altLang="ko-KR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, </a:t>
                        </a:r>
                        <a:r>
                          <a: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전송할  수 있는 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REQ-004-002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6F5A1F-D3EB-D3EC-4F47-8ADB31870047}"/>
                </a:ext>
              </a:extLst>
            </p:cNvPr>
            <p:cNvSpPr txBox="1"/>
            <p:nvPr/>
          </p:nvSpPr>
          <p:spPr>
            <a:xfrm>
              <a:off x="761055" y="792824"/>
              <a:ext cx="204254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ctr"/>
              <a:r>
                <a:rPr lang="ko-KR" altLang="en-US" sz="11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34" charset="-127"/>
                  <a:ea typeface="맑은 고딕" panose="020B0503020000020004" pitchFamily="34" charset="-127"/>
                </a:rPr>
                <a:t>사용자 인터페이스</a:t>
              </a:r>
              <a:r>
                <a:rPr lang="en-US" altLang="ko-KR" sz="11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34" charset="-127"/>
                  <a:ea typeface="맑은 고딕" panose="020B0503020000020004" pitchFamily="34" charset="-127"/>
                </a:rPr>
                <a:t>(</a:t>
              </a:r>
              <a:r>
                <a:rPr lang="en-US" altLang="ko-KR" sz="1100" b="1" dirty="0">
                  <a:solidFill>
                    <a:srgbClr val="000000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rPr>
                <a:t>REQ-004)</a:t>
              </a:r>
              <a:endParaRPr lang="ko-KR" altLang="en-US" sz="11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EDE54CA-0C53-3AB1-E6AC-9337A4A3294E}"/>
              </a:ext>
            </a:extLst>
          </p:cNvPr>
          <p:cNvGrpSpPr/>
          <p:nvPr/>
        </p:nvGrpSpPr>
        <p:grpSpPr>
          <a:xfrm>
            <a:off x="761055" y="3583391"/>
            <a:ext cx="10278725" cy="1742560"/>
            <a:chOff x="761055" y="2869717"/>
            <a:chExt cx="10278725" cy="1742560"/>
          </a:xfrm>
        </p:grpSpPr>
        <p:graphicFrame>
          <p:nvGraphicFramePr>
            <p:cNvPr id="12" name="Google Shape;212;p6">
              <a:extLst>
                <a:ext uri="{FF2B5EF4-FFF2-40B4-BE49-F238E27FC236}">
                  <a16:creationId xmlns:a16="http://schemas.microsoft.com/office/drawing/2014/main" id="{EBF952F2-73BE-48A1-20CA-735974A3B50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03314376"/>
                </p:ext>
              </p:extLst>
            </p:nvPr>
          </p:nvGraphicFramePr>
          <p:xfrm>
            <a:off x="761055" y="3131327"/>
            <a:ext cx="10278725" cy="1480950"/>
          </p:xfrm>
          <a:graphic>
            <a:graphicData uri="http://schemas.openxmlformats.org/drawingml/2006/table">
              <a:tbl>
                <a:tblPr firstRow="1" bandRow="1">
                  <a:noFill/>
                </a:tblPr>
                <a:tblGrid>
                  <a:gridCol w="18887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783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4117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493650"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solidFill>
                              <a:sysClr val="windowText" lastClr="000000"/>
                            </a:solidFill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명</a:t>
                        </a:r>
                        <a:endParaRPr dirty="0">
                          <a:solidFill>
                            <a:sysClr val="windowText" lastClr="000000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endParaRPr>
                      </a:p>
                    </a:txBody>
                    <a:tcPr marL="91450" marR="91450" marT="45725" marB="45725" anchor="ctr">
                      <a:lnL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solidFill>
                              <a:sysClr val="windowText" lastClr="000000"/>
                            </a:solidFill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설명</a:t>
                        </a:r>
                        <a:endParaRPr dirty="0">
                          <a:solidFill>
                            <a:sysClr val="windowText" lastClr="000000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endParaRPr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ko-KR" sz="1200" b="1" u="none" strike="noStrike" cap="none" dirty="0">
                            <a:solidFill>
                              <a:sysClr val="windowText" lastClr="000000"/>
                            </a:solidFill>
                            <a:latin typeface="Malgun Gothic" panose="020B0503020000020004" pitchFamily="34" charset="-127"/>
                            <a:ea typeface="Malgun Gothic" panose="020B0503020000020004" pitchFamily="34" charset="-127"/>
                            <a:cs typeface="Arial"/>
                            <a:sym typeface="Arial"/>
                          </a:rPr>
                          <a:t>요구사항 ID</a:t>
                        </a:r>
                        <a:endParaRPr sz="1200" b="1" u="none" strike="noStrike" cap="none" dirty="0">
                          <a:solidFill>
                            <a:sysClr val="windowText" lastClr="000000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/>
                          <a:sym typeface="Arial"/>
                        </a:endParaRPr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EF5E7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정형 데이터 가명처리 </a:t>
                        </a:r>
                        <a:endPara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endParaRPr>
                      </a:p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시스템 구현</a:t>
                        </a:r>
                      </a:p>
                    </a:txBody>
                    <a:tcPr marL="9525" marR="9525" marT="9525" marB="0" anchor="ctr">
                      <a:lnL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csv</a:t>
                        </a:r>
                        <a:r>
                          <a: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와 같은 정형 데이터를 가명정보 처리 목적 별 가명처리하는 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REQ-005-001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93650"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비정형 데이터 가명처리 </a:t>
                        </a:r>
                        <a:endPara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endParaRPr>
                      </a:p>
                      <a:p>
                        <a:pPr algn="ctr" fontAlgn="ctr"/>
                        <a:r>
                          <a:rPr lang="ko-KR" alt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시스템 구현</a:t>
                        </a:r>
                      </a:p>
                    </a:txBody>
                    <a:tcPr marL="9525" marR="9525" marT="9525" marB="0" anchor="ctr">
                      <a:lnL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 fontAlgn="ctr"/>
                        <a:r>
                          <a:rPr lang="en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jpg, png, wav</a:t>
                        </a:r>
                        <a:r>
                          <a: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와 같은 비정형 데이터를 가명정보 처리 목적 별 가명처리하는 기능 제공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ctr"/>
                        <a:r>
                          <a:rPr lang="en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34" charset="-127"/>
                            <a:ea typeface="맑은 고딕" panose="020B0503020000020004" pitchFamily="34" charset="-127"/>
                          </a:rPr>
                          <a:t>REQ-005-002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2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6700C6-5D5B-49B2-ECEE-11F4197E3315}"/>
                </a:ext>
              </a:extLst>
            </p:cNvPr>
            <p:cNvSpPr txBox="1"/>
            <p:nvPr/>
          </p:nvSpPr>
          <p:spPr>
            <a:xfrm>
              <a:off x="761055" y="2869717"/>
              <a:ext cx="12875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ctr"/>
              <a:r>
                <a:rPr lang="ko-KR" altLang="en-US" sz="11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34" charset="-127"/>
                  <a:ea typeface="맑은 고딕" panose="020B0503020000020004" pitchFamily="34" charset="-127"/>
                </a:rPr>
                <a:t>테스트</a:t>
              </a:r>
              <a:r>
                <a:rPr lang="en-US" altLang="ko-KR" sz="11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34" charset="-127"/>
                  <a:ea typeface="맑은 고딕" panose="020B0503020000020004" pitchFamily="34" charset="-127"/>
                </a:rPr>
                <a:t>(REQ	-005)</a:t>
              </a:r>
              <a:endParaRPr lang="ko-KR" altLang="en-US" sz="11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0518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2">
          <a:extLst>
            <a:ext uri="{FF2B5EF4-FFF2-40B4-BE49-F238E27FC236}">
              <a16:creationId xmlns:a16="http://schemas.microsoft.com/office/drawing/2014/main" id="{D62AACE1-68FD-AEF8-B9F2-227D94A0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6F038C03-0669-0718-9057-68AC920DAF6D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F05455F3-F34B-8D34-4EFA-D5843FFE32D6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542541EA-E97A-25B8-96C1-D4119184FF52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B0B16F9B-CA46-3416-8D73-1BBE3337CA52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part2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BBBCAC1D-1297-C361-3F63-370B0DBA0A88}"/>
              </a:ext>
            </a:extLst>
          </p:cNvPr>
          <p:cNvSpPr txBox="1"/>
          <p:nvPr/>
        </p:nvSpPr>
        <p:spPr>
          <a:xfrm>
            <a:off x="888647" y="319330"/>
            <a:ext cx="470568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개발계획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목표 및 비전 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4B2787E2-F8DB-F2FC-1912-7D8D807868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04DBA1AD-1F30-C20C-D854-156968A11F2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F36A746B-874D-CB20-2562-1223DA39C8A1}"/>
              </a:ext>
            </a:extLst>
          </p:cNvPr>
          <p:cNvGrpSpPr/>
          <p:nvPr/>
        </p:nvGrpSpPr>
        <p:grpSpPr>
          <a:xfrm>
            <a:off x="725091" y="1653766"/>
            <a:ext cx="10718999" cy="4604753"/>
            <a:chOff x="725091" y="1653766"/>
            <a:chExt cx="10718999" cy="4604753"/>
          </a:xfrm>
        </p:grpSpPr>
        <p:pic>
          <p:nvPicPr>
            <p:cNvPr id="39" name="Image 0" descr="preencoded.png">
              <a:extLst>
                <a:ext uri="{FF2B5EF4-FFF2-40B4-BE49-F238E27FC236}">
                  <a16:creationId xmlns:a16="http://schemas.microsoft.com/office/drawing/2014/main" id="{4F658383-4556-54E3-6487-9FCFA88D2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29012" y="1653766"/>
              <a:ext cx="1335882" cy="1114381"/>
            </a:xfrm>
            <a:prstGeom prst="rect">
              <a:avLst/>
            </a:prstGeom>
          </p:spPr>
        </p:pic>
        <p:sp>
          <p:nvSpPr>
            <p:cNvPr id="40" name="Text 1">
              <a:extLst>
                <a:ext uri="{FF2B5EF4-FFF2-40B4-BE49-F238E27FC236}">
                  <a16:creationId xmlns:a16="http://schemas.microsoft.com/office/drawing/2014/main" id="{839E6292-AFC4-C2AB-5952-7467BF8A9C1D}"/>
                </a:ext>
              </a:extLst>
            </p:cNvPr>
            <p:cNvSpPr/>
            <p:nvPr/>
          </p:nvSpPr>
          <p:spPr>
            <a:xfrm>
              <a:off x="3256657" y="2175810"/>
              <a:ext cx="280492" cy="3454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3500"/>
                </a:lnSpc>
              </a:pPr>
              <a:r>
                <a:rPr lang="en-US" sz="2208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1</a:t>
              </a:r>
              <a:endParaRPr lang="en-US" sz="2208" dirty="0"/>
            </a:p>
          </p:txBody>
        </p:sp>
        <p:sp>
          <p:nvSpPr>
            <p:cNvPr id="41" name="Text 2">
              <a:extLst>
                <a:ext uri="{FF2B5EF4-FFF2-40B4-BE49-F238E27FC236}">
                  <a16:creationId xmlns:a16="http://schemas.microsoft.com/office/drawing/2014/main" id="{9CEA06A4-0778-863C-FDF4-A7C83D0BC40C}"/>
                </a:ext>
              </a:extLst>
            </p:cNvPr>
            <p:cNvSpPr/>
            <p:nvPr/>
          </p:nvSpPr>
          <p:spPr>
            <a:xfrm>
              <a:off x="4264323" y="1850266"/>
              <a:ext cx="2346821" cy="2889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en-US" sz="1833" b="1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범용 솔루션</a:t>
              </a:r>
              <a:endParaRPr lang="en-US" sz="1833" dirty="0"/>
            </a:p>
          </p:txBody>
        </p:sp>
        <p:sp>
          <p:nvSpPr>
            <p:cNvPr id="42" name="Text 3">
              <a:extLst>
                <a:ext uri="{FF2B5EF4-FFF2-40B4-BE49-F238E27FC236}">
                  <a16:creationId xmlns:a16="http://schemas.microsoft.com/office/drawing/2014/main" id="{00CFFFF9-0BF1-312C-E325-F06D2759262E}"/>
                </a:ext>
              </a:extLst>
            </p:cNvPr>
            <p:cNvSpPr/>
            <p:nvPr/>
          </p:nvSpPr>
          <p:spPr>
            <a:xfrm>
              <a:off x="4264323" y="2257148"/>
              <a:ext cx="5198665" cy="3144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 dirty="0">
                  <a:solidFill>
                    <a:srgbClr val="3A3630"/>
                  </a:solidFill>
                  <a:latin typeface="Arial" panose="020B0604020202020204" pitchFamily="34" charset="0"/>
                  <a:ea typeface="Source Sans Pro" pitchFamily="34" charset="-122"/>
                  <a:cs typeface="Arial" panose="020B0604020202020204" pitchFamily="34" charset="0"/>
                </a:rPr>
                <a:t>프라이버시 보호가 중요한 </a:t>
              </a:r>
              <a:r>
                <a:rPr lang="en-US" sz="1542" dirty="0" err="1">
                  <a:solidFill>
                    <a:srgbClr val="3A3630"/>
                  </a:solidFill>
                  <a:latin typeface="Arial" panose="020B0604020202020204" pitchFamily="34" charset="0"/>
                  <a:ea typeface="Source Sans Pro" pitchFamily="34" charset="-122"/>
                  <a:cs typeface="Arial" panose="020B0604020202020204" pitchFamily="34" charset="0"/>
                </a:rPr>
                <a:t>다양한</a:t>
              </a:r>
              <a:r>
                <a:rPr lang="en-US" sz="1542" dirty="0">
                  <a:solidFill>
                    <a:srgbClr val="3A3630"/>
                  </a:solidFill>
                  <a:latin typeface="Arial" panose="020B0604020202020204" pitchFamily="34" charset="0"/>
                  <a:ea typeface="Source Sans Pro" pitchFamily="34" charset="-122"/>
                  <a:cs typeface="Arial" panose="020B0604020202020204" pitchFamily="34" charset="0"/>
                </a:rPr>
                <a:t> </a:t>
              </a:r>
              <a:r>
                <a:rPr lang="en-US" sz="1542" dirty="0" err="1">
                  <a:solidFill>
                    <a:srgbClr val="3A3630"/>
                  </a:solidFill>
                  <a:latin typeface="Arial" panose="020B0604020202020204" pitchFamily="34" charset="0"/>
                  <a:ea typeface="Source Sans Pro" pitchFamily="34" charset="-122"/>
                  <a:cs typeface="Arial" panose="020B0604020202020204" pitchFamily="34" charset="0"/>
                </a:rPr>
                <a:t>분야</a:t>
              </a:r>
              <a:r>
                <a:rPr lang="ko-KR" altLang="en-US" sz="1542" dirty="0">
                  <a:solidFill>
                    <a:srgbClr val="3A3630"/>
                  </a:solidFill>
                  <a:latin typeface="Arial" panose="020B0604020202020204" pitchFamily="34" charset="0"/>
                  <a:ea typeface="Source Sans Pro" pitchFamily="34" charset="-122"/>
                  <a:cs typeface="Arial" panose="020B0604020202020204" pitchFamily="34" charset="0"/>
                </a:rPr>
                <a:t> </a:t>
              </a:r>
              <a:r>
                <a:rPr lang="en-US" altLang="ko-KR" sz="1542" dirty="0">
                  <a:solidFill>
                    <a:srgbClr val="3A3630"/>
                  </a:solidFill>
                  <a:latin typeface="Arial" panose="020B0604020202020204" pitchFamily="34" charset="0"/>
                  <a:ea typeface="Source Sans Pro" pitchFamily="34" charset="-122"/>
                  <a:cs typeface="Arial" panose="020B0604020202020204" pitchFamily="34" charset="0"/>
                </a:rPr>
                <a:t>(</a:t>
              </a:r>
              <a:r>
                <a:rPr lang="ko-KR" altLang="en-US" sz="1542" dirty="0">
                  <a:solidFill>
                    <a:srgbClr val="3A3630"/>
                  </a:solidFill>
                  <a:latin typeface="Arial" panose="020B0604020202020204" pitchFamily="34" charset="0"/>
                  <a:ea typeface="Source Sans Pro" pitchFamily="34" charset="-122"/>
                  <a:cs typeface="Arial" panose="020B0604020202020204" pitchFamily="34" charset="0"/>
                </a:rPr>
                <a:t>의료</a:t>
              </a:r>
              <a:r>
                <a:rPr lang="en-US" altLang="ko-KR" sz="1542" dirty="0">
                  <a:solidFill>
                    <a:srgbClr val="3A3630"/>
                  </a:solidFill>
                  <a:latin typeface="Arial" panose="020B0604020202020204" pitchFamily="34" charset="0"/>
                  <a:ea typeface="Source Sans Pro" pitchFamily="34" charset="-122"/>
                  <a:cs typeface="Arial" panose="020B0604020202020204" pitchFamily="34" charset="0"/>
                </a:rPr>
                <a:t>,</a:t>
              </a:r>
              <a:r>
                <a:rPr lang="ko-KR" altLang="en-US" sz="1542" dirty="0">
                  <a:solidFill>
                    <a:srgbClr val="3A3630"/>
                  </a:solidFill>
                  <a:latin typeface="Arial" panose="020B0604020202020204" pitchFamily="34" charset="0"/>
                  <a:ea typeface="Source Sans Pro" pitchFamily="34" charset="-122"/>
                  <a:cs typeface="Arial" panose="020B0604020202020204" pitchFamily="34" charset="0"/>
                </a:rPr>
                <a:t> 금융 등</a:t>
              </a:r>
              <a:r>
                <a:rPr lang="en-US" altLang="ko-KR" sz="1542" dirty="0">
                  <a:solidFill>
                    <a:srgbClr val="3A3630"/>
                  </a:solidFill>
                  <a:latin typeface="Arial" panose="020B0604020202020204" pitchFamily="34" charset="0"/>
                  <a:ea typeface="Source Sans Pro" pitchFamily="34" charset="-122"/>
                  <a:cs typeface="Arial" panose="020B0604020202020204" pitchFamily="34" charset="0"/>
                </a:rPr>
                <a:t>)</a:t>
              </a:r>
              <a:r>
                <a:rPr lang="en-US" sz="1542" dirty="0" err="1">
                  <a:solidFill>
                    <a:srgbClr val="3A3630"/>
                  </a:solidFill>
                  <a:latin typeface="Arial" panose="020B0604020202020204" pitchFamily="34" charset="0"/>
                  <a:ea typeface="Source Sans Pro" pitchFamily="34" charset="-122"/>
                  <a:cs typeface="Arial" panose="020B0604020202020204" pitchFamily="34" charset="0"/>
                </a:rPr>
                <a:t>에</a:t>
              </a:r>
              <a:r>
                <a:rPr lang="en-US" sz="1542" dirty="0">
                  <a:solidFill>
                    <a:srgbClr val="3A3630"/>
                  </a:solidFill>
                  <a:latin typeface="Arial" panose="020B0604020202020204" pitchFamily="34" charset="0"/>
                  <a:ea typeface="Source Sans Pro" pitchFamily="34" charset="-122"/>
                  <a:cs typeface="Arial" panose="020B0604020202020204" pitchFamily="34" charset="0"/>
                </a:rPr>
                <a:t> 활용</a:t>
              </a:r>
              <a:endParaRPr lang="en-US" sz="1542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Shape 4">
              <a:extLst>
                <a:ext uri="{FF2B5EF4-FFF2-40B4-BE49-F238E27FC236}">
                  <a16:creationId xmlns:a16="http://schemas.microsoft.com/office/drawing/2014/main" id="{1DBFF68A-8EDC-6817-A94C-2B02851CEF87}"/>
                </a:ext>
              </a:extLst>
            </p:cNvPr>
            <p:cNvSpPr/>
            <p:nvPr/>
          </p:nvSpPr>
          <p:spPr>
            <a:xfrm>
              <a:off x="4114701" y="2780172"/>
              <a:ext cx="7329388" cy="12513"/>
            </a:xfrm>
            <a:prstGeom prst="roundRect">
              <a:avLst>
                <a:gd name="adj" fmla="val 235611"/>
              </a:avLst>
            </a:prstGeom>
            <a:solidFill>
              <a:srgbClr val="D9CDBA"/>
            </a:solidFill>
            <a:ln/>
          </p:spPr>
          <p:txBody>
            <a:bodyPr/>
            <a:lstStyle/>
            <a:p>
              <a:endParaRPr lang="ko-KR" altLang="en-US" sz="1500"/>
            </a:p>
          </p:txBody>
        </p:sp>
        <p:pic>
          <p:nvPicPr>
            <p:cNvPr id="44" name="Image 1" descr="preencoded.png">
              <a:extLst>
                <a:ext uri="{FF2B5EF4-FFF2-40B4-BE49-F238E27FC236}">
                  <a16:creationId xmlns:a16="http://schemas.microsoft.com/office/drawing/2014/main" id="{82AE95E2-758F-1D1D-FDAA-9D90E9203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61071" y="2817222"/>
              <a:ext cx="2671862" cy="1114381"/>
            </a:xfrm>
            <a:prstGeom prst="rect">
              <a:avLst/>
            </a:prstGeom>
          </p:spPr>
        </p:pic>
        <p:sp>
          <p:nvSpPr>
            <p:cNvPr id="45" name="Text 5">
              <a:extLst>
                <a:ext uri="{FF2B5EF4-FFF2-40B4-BE49-F238E27FC236}">
                  <a16:creationId xmlns:a16="http://schemas.microsoft.com/office/drawing/2014/main" id="{F0CD26EF-6D98-AD2C-1214-086C8ADEDF7A}"/>
                </a:ext>
              </a:extLst>
            </p:cNvPr>
            <p:cNvSpPr/>
            <p:nvPr/>
          </p:nvSpPr>
          <p:spPr>
            <a:xfrm>
              <a:off x="3256657" y="3201621"/>
              <a:ext cx="280492" cy="3454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3500"/>
                </a:lnSpc>
              </a:pPr>
              <a:r>
                <a:rPr lang="en-US" sz="2208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2</a:t>
              </a:r>
              <a:endParaRPr lang="en-US" sz="2208" dirty="0"/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6AE1D5BF-11AD-87ED-92CF-701181C73000}"/>
                </a:ext>
              </a:extLst>
            </p:cNvPr>
            <p:cNvGrpSpPr/>
            <p:nvPr/>
          </p:nvGrpSpPr>
          <p:grpSpPr>
            <a:xfrm>
              <a:off x="5594331" y="4207599"/>
              <a:ext cx="4824954" cy="721381"/>
              <a:chOff x="4932363" y="3013723"/>
              <a:chExt cx="4824954" cy="721381"/>
            </a:xfrm>
          </p:grpSpPr>
          <p:sp>
            <p:nvSpPr>
              <p:cNvPr id="46" name="Text 6">
                <a:extLst>
                  <a:ext uri="{FF2B5EF4-FFF2-40B4-BE49-F238E27FC236}">
                    <a16:creationId xmlns:a16="http://schemas.microsoft.com/office/drawing/2014/main" id="{6C837990-CDA6-E917-B189-4E13ACDDCB9A}"/>
                  </a:ext>
                </a:extLst>
              </p:cNvPr>
              <p:cNvSpPr/>
              <p:nvPr/>
            </p:nvSpPr>
            <p:spPr>
              <a:xfrm>
                <a:off x="4932363" y="3013723"/>
                <a:ext cx="2346821" cy="28898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1833" b="1" dirty="0">
                    <a:solidFill>
                      <a:srgbClr val="3A3630"/>
                    </a:solidFill>
                    <a:latin typeface="Lora" pitchFamily="34" charset="0"/>
                    <a:ea typeface="Lora" pitchFamily="34" charset="-122"/>
                    <a:cs typeface="Lora" pitchFamily="34" charset="-120"/>
                  </a:rPr>
                  <a:t>유연한 확장</a:t>
                </a:r>
                <a:endParaRPr lang="en-US" sz="1833" dirty="0"/>
              </a:p>
            </p:txBody>
          </p:sp>
          <p:sp>
            <p:nvSpPr>
              <p:cNvPr id="47" name="Text 7">
                <a:extLst>
                  <a:ext uri="{FF2B5EF4-FFF2-40B4-BE49-F238E27FC236}">
                    <a16:creationId xmlns:a16="http://schemas.microsoft.com/office/drawing/2014/main" id="{2DF261BB-B568-3B1E-26CA-B25179AFBBD0}"/>
                  </a:ext>
                </a:extLst>
              </p:cNvPr>
              <p:cNvSpPr/>
              <p:nvPr/>
            </p:nvSpPr>
            <p:spPr>
              <a:xfrm>
                <a:off x="4932363" y="3420605"/>
                <a:ext cx="4824954" cy="3144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500"/>
                  </a:lnSpc>
                </a:pPr>
                <a:r>
                  <a:rPr lang="en-US" sz="1542" dirty="0">
                    <a:solidFill>
                      <a:srgbClr val="3A3630"/>
                    </a:solidFill>
                    <a:latin typeface="Arial" panose="020B0604020202020204" pitchFamily="34" charset="0"/>
                    <a:ea typeface="Source Sans Pro" pitchFamily="34" charset="-122"/>
                    <a:cs typeface="Arial" panose="020B0604020202020204" pitchFamily="34" charset="0"/>
                  </a:rPr>
                  <a:t>다양한 환경에 적용 가능한 시스템</a:t>
                </a:r>
                <a:endParaRPr lang="en-US" sz="1542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" name="Shape 8">
              <a:extLst>
                <a:ext uri="{FF2B5EF4-FFF2-40B4-BE49-F238E27FC236}">
                  <a16:creationId xmlns:a16="http://schemas.microsoft.com/office/drawing/2014/main" id="{C07FFF46-A90C-0710-9BB6-EFDD6976379E}"/>
                </a:ext>
              </a:extLst>
            </p:cNvPr>
            <p:cNvSpPr/>
            <p:nvPr/>
          </p:nvSpPr>
          <p:spPr>
            <a:xfrm>
              <a:off x="4782741" y="3943628"/>
              <a:ext cx="6661348" cy="12513"/>
            </a:xfrm>
            <a:prstGeom prst="roundRect">
              <a:avLst>
                <a:gd name="adj" fmla="val 235611"/>
              </a:avLst>
            </a:prstGeom>
            <a:solidFill>
              <a:srgbClr val="D9CDBA"/>
            </a:solidFill>
            <a:ln/>
          </p:spPr>
          <p:txBody>
            <a:bodyPr/>
            <a:lstStyle/>
            <a:p>
              <a:endParaRPr lang="ko-KR" altLang="en-US" sz="1500"/>
            </a:p>
          </p:txBody>
        </p:sp>
        <p:pic>
          <p:nvPicPr>
            <p:cNvPr id="49" name="Image 2" descr="preencoded.png">
              <a:extLst>
                <a:ext uri="{FF2B5EF4-FFF2-40B4-BE49-F238E27FC236}">
                  <a16:creationId xmlns:a16="http://schemas.microsoft.com/office/drawing/2014/main" id="{1EDB4AD5-8459-F5BF-B344-08323B732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93032" y="3980681"/>
              <a:ext cx="4007843" cy="1114381"/>
            </a:xfrm>
            <a:prstGeom prst="rect">
              <a:avLst/>
            </a:prstGeom>
          </p:spPr>
        </p:pic>
        <p:sp>
          <p:nvSpPr>
            <p:cNvPr id="50" name="Text 9">
              <a:extLst>
                <a:ext uri="{FF2B5EF4-FFF2-40B4-BE49-F238E27FC236}">
                  <a16:creationId xmlns:a16="http://schemas.microsoft.com/office/drawing/2014/main" id="{C5414060-FB0C-BEAC-61D6-B269BCC23098}"/>
                </a:ext>
              </a:extLst>
            </p:cNvPr>
            <p:cNvSpPr/>
            <p:nvPr/>
          </p:nvSpPr>
          <p:spPr>
            <a:xfrm>
              <a:off x="3256657" y="4365078"/>
              <a:ext cx="280492" cy="3454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3500"/>
                </a:lnSpc>
              </a:pPr>
              <a:r>
                <a:rPr lang="en-US" sz="2208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3</a:t>
              </a:r>
              <a:endParaRPr lang="en-US" sz="2208" dirty="0"/>
            </a:p>
          </p:txBody>
        </p:sp>
        <p:sp>
          <p:nvSpPr>
            <p:cNvPr id="53" name="Shape 12">
              <a:extLst>
                <a:ext uri="{FF2B5EF4-FFF2-40B4-BE49-F238E27FC236}">
                  <a16:creationId xmlns:a16="http://schemas.microsoft.com/office/drawing/2014/main" id="{F9DE0168-667D-8412-AF21-AB32BDE13AA5}"/>
                </a:ext>
              </a:extLst>
            </p:cNvPr>
            <p:cNvSpPr/>
            <p:nvPr/>
          </p:nvSpPr>
          <p:spPr>
            <a:xfrm>
              <a:off x="5450682" y="5107086"/>
              <a:ext cx="5993408" cy="12513"/>
            </a:xfrm>
            <a:prstGeom prst="roundRect">
              <a:avLst>
                <a:gd name="adj" fmla="val 235611"/>
              </a:avLst>
            </a:prstGeom>
            <a:solidFill>
              <a:srgbClr val="D9CDBA"/>
            </a:solidFill>
            <a:ln/>
          </p:spPr>
          <p:txBody>
            <a:bodyPr/>
            <a:lstStyle/>
            <a:p>
              <a:endParaRPr lang="ko-KR" altLang="en-US" sz="1500"/>
            </a:p>
          </p:txBody>
        </p:sp>
        <p:pic>
          <p:nvPicPr>
            <p:cNvPr id="54" name="Image 3" descr="preencoded.png">
              <a:extLst>
                <a:ext uri="{FF2B5EF4-FFF2-40B4-BE49-F238E27FC236}">
                  <a16:creationId xmlns:a16="http://schemas.microsoft.com/office/drawing/2014/main" id="{D573EE15-E30B-B7AE-BF59-AF0920E6B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5091" y="5144138"/>
              <a:ext cx="5343823" cy="1114381"/>
            </a:xfrm>
            <a:prstGeom prst="rect">
              <a:avLst/>
            </a:prstGeom>
          </p:spPr>
        </p:pic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65518772-C579-3581-11AF-703E15C7DF35}"/>
                </a:ext>
              </a:extLst>
            </p:cNvPr>
            <p:cNvSpPr/>
            <p:nvPr/>
          </p:nvSpPr>
          <p:spPr>
            <a:xfrm>
              <a:off x="3256657" y="5528536"/>
              <a:ext cx="280492" cy="3454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3500"/>
                </a:lnSpc>
              </a:pPr>
              <a:r>
                <a:rPr lang="en-US" sz="2208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4</a:t>
              </a:r>
              <a:endParaRPr lang="en-US" sz="2208" dirty="0"/>
            </a:p>
          </p:txBody>
        </p:sp>
        <p:sp>
          <p:nvSpPr>
            <p:cNvPr id="56" name="Text 14">
              <a:extLst>
                <a:ext uri="{FF2B5EF4-FFF2-40B4-BE49-F238E27FC236}">
                  <a16:creationId xmlns:a16="http://schemas.microsoft.com/office/drawing/2014/main" id="{2AED1749-17A1-B56C-70EC-24D0BDF62F21}"/>
                </a:ext>
              </a:extLst>
            </p:cNvPr>
            <p:cNvSpPr/>
            <p:nvPr/>
          </p:nvSpPr>
          <p:spPr>
            <a:xfrm>
              <a:off x="6268344" y="5340639"/>
              <a:ext cx="2346821" cy="2889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en-US" sz="1833" b="1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프라이빗 데이터 보호</a:t>
              </a:r>
              <a:endParaRPr lang="en-US" sz="1833" dirty="0"/>
            </a:p>
          </p:txBody>
        </p:sp>
        <p:sp>
          <p:nvSpPr>
            <p:cNvPr id="57" name="Text 15">
              <a:extLst>
                <a:ext uri="{FF2B5EF4-FFF2-40B4-BE49-F238E27FC236}">
                  <a16:creationId xmlns:a16="http://schemas.microsoft.com/office/drawing/2014/main" id="{A7E6A3C6-4493-AB43-8099-351F9AA2C1F2}"/>
                </a:ext>
              </a:extLst>
            </p:cNvPr>
            <p:cNvSpPr/>
            <p:nvPr/>
          </p:nvSpPr>
          <p:spPr>
            <a:xfrm>
              <a:off x="6268344" y="5747521"/>
              <a:ext cx="2544763" cy="3144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 dirty="0">
                  <a:solidFill>
                    <a:srgbClr val="3A3630"/>
                  </a:solidFill>
                  <a:latin typeface="Arial" panose="020B0604020202020204" pitchFamily="34" charset="0"/>
                  <a:ea typeface="Source Sans Pro" pitchFamily="34" charset="-122"/>
                  <a:cs typeface="Arial" panose="020B0604020202020204" pitchFamily="34" charset="0"/>
                </a:rPr>
                <a:t>외부 네트워크 노출 가능성 배제</a:t>
              </a:r>
              <a:endParaRPr lang="en-US" sz="1542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AB2254E-8D7D-43BA-0C86-846CF5A75987}"/>
                </a:ext>
              </a:extLst>
            </p:cNvPr>
            <p:cNvGrpSpPr/>
            <p:nvPr/>
          </p:nvGrpSpPr>
          <p:grpSpPr>
            <a:xfrm>
              <a:off x="4931916" y="3018590"/>
              <a:ext cx="3358456" cy="721382"/>
              <a:chOff x="5600304" y="4177181"/>
              <a:chExt cx="3358456" cy="721382"/>
            </a:xfrm>
          </p:grpSpPr>
          <p:sp>
            <p:nvSpPr>
              <p:cNvPr id="8" name="Text 10">
                <a:extLst>
                  <a:ext uri="{FF2B5EF4-FFF2-40B4-BE49-F238E27FC236}">
                    <a16:creationId xmlns:a16="http://schemas.microsoft.com/office/drawing/2014/main" id="{8959B176-EA6A-D667-1FEC-914CB24F8E96}"/>
                  </a:ext>
                </a:extLst>
              </p:cNvPr>
              <p:cNvSpPr/>
              <p:nvPr/>
            </p:nvSpPr>
            <p:spPr>
              <a:xfrm>
                <a:off x="5600304" y="4177181"/>
                <a:ext cx="2346821" cy="28898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1833" b="1" dirty="0">
                    <a:solidFill>
                      <a:srgbClr val="3A3630"/>
                    </a:solidFill>
                    <a:latin typeface="Lora" pitchFamily="34" charset="0"/>
                    <a:ea typeface="Lora" pitchFamily="34" charset="-122"/>
                    <a:cs typeface="Lora" pitchFamily="34" charset="-120"/>
                  </a:rPr>
                  <a:t>데이터 활용 증대</a:t>
                </a:r>
                <a:endParaRPr lang="en-US" sz="1833" dirty="0"/>
              </a:p>
            </p:txBody>
          </p:sp>
          <p:sp>
            <p:nvSpPr>
              <p:cNvPr id="9" name="Text 11">
                <a:extLst>
                  <a:ext uri="{FF2B5EF4-FFF2-40B4-BE49-F238E27FC236}">
                    <a16:creationId xmlns:a16="http://schemas.microsoft.com/office/drawing/2014/main" id="{38908C22-A7E8-1F49-045D-9B57E9F9E047}"/>
                  </a:ext>
                </a:extLst>
              </p:cNvPr>
              <p:cNvSpPr/>
              <p:nvPr/>
            </p:nvSpPr>
            <p:spPr>
              <a:xfrm>
                <a:off x="5600304" y="4584064"/>
                <a:ext cx="3358456" cy="3144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500"/>
                  </a:lnSpc>
                </a:pPr>
                <a:r>
                  <a:rPr lang="en-US" sz="1542" dirty="0">
                    <a:solidFill>
                      <a:srgbClr val="3A3630"/>
                    </a:solidFill>
                    <a:latin typeface="Arial" panose="020B0604020202020204" pitchFamily="34" charset="0"/>
                    <a:ea typeface="Source Sans Pro" pitchFamily="34" charset="-122"/>
                    <a:cs typeface="Arial" panose="020B0604020202020204" pitchFamily="34" charset="0"/>
                  </a:rPr>
                  <a:t>정보 유출 위험 감소와 동시에 활용도 향상</a:t>
                </a:r>
                <a:endParaRPr lang="en-US" sz="1542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1112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2">
          <a:extLst>
            <a:ext uri="{FF2B5EF4-FFF2-40B4-BE49-F238E27FC236}">
              <a16:creationId xmlns:a16="http://schemas.microsoft.com/office/drawing/2014/main" id="{9ACA4390-337B-6C7C-8038-C4BCDBD70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2E5058C7-B5AD-C1FD-EBF8-7A0F9F4A5794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AA74031E-6C13-9760-6805-F74986823CB2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42E79B2D-0EDB-89C0-B8E6-3A82C631417C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99AE228C-2FC4-93A6-7820-87E376DCEBF7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part2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691E76DA-BC95-B070-4F3A-5494C9F8DAFE}"/>
              </a:ext>
            </a:extLst>
          </p:cNvPr>
          <p:cNvSpPr txBox="1"/>
          <p:nvPr/>
        </p:nvSpPr>
        <p:spPr>
          <a:xfrm>
            <a:off x="888647" y="319330"/>
            <a:ext cx="470568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개발계획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시스템 아키텍처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95ABE53E-8C5B-6B65-31C4-6C6DEEBBF5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036E4670-2873-06A0-9947-D3BBCEC957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52184559-C8BD-2DE6-0FAB-402F248EA4C8}"/>
              </a:ext>
            </a:extLst>
          </p:cNvPr>
          <p:cNvGrpSpPr/>
          <p:nvPr/>
        </p:nvGrpSpPr>
        <p:grpSpPr>
          <a:xfrm>
            <a:off x="1428159" y="1605544"/>
            <a:ext cx="9501109" cy="1135237"/>
            <a:chOff x="1229895" y="1374475"/>
            <a:chExt cx="8708134" cy="1063902"/>
          </a:xfrm>
        </p:grpSpPr>
        <p:pic>
          <p:nvPicPr>
            <p:cNvPr id="27" name="Image 0" descr="preencoded.png">
              <a:extLst>
                <a:ext uri="{FF2B5EF4-FFF2-40B4-BE49-F238E27FC236}">
                  <a16:creationId xmlns:a16="http://schemas.microsoft.com/office/drawing/2014/main" id="{D497538E-1CCD-F83D-1799-C2F835EF1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29895" y="1374475"/>
              <a:ext cx="841055" cy="1009317"/>
            </a:xfrm>
            <a:prstGeom prst="rect">
              <a:avLst/>
            </a:prstGeom>
          </p:spPr>
        </p:pic>
        <p:sp>
          <p:nvSpPr>
            <p:cNvPr id="29" name="Text 1">
              <a:extLst>
                <a:ext uri="{FF2B5EF4-FFF2-40B4-BE49-F238E27FC236}">
                  <a16:creationId xmlns:a16="http://schemas.microsoft.com/office/drawing/2014/main" id="{DA83E400-BCB6-EDF4-D167-56DF56937616}"/>
                </a:ext>
              </a:extLst>
            </p:cNvPr>
            <p:cNvSpPr/>
            <p:nvPr/>
          </p:nvSpPr>
          <p:spPr>
            <a:xfrm>
              <a:off x="2323942" y="1374475"/>
              <a:ext cx="4852901" cy="2691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외부 </a:t>
              </a:r>
              <a:r>
                <a:rPr lang="en-US" dirty="0" err="1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처리</a:t>
              </a:r>
              <a:r>
                <a:rPr 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</a:t>
              </a:r>
              <a:r>
                <a:rPr lang="en-US" dirty="0" err="1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시스템</a:t>
              </a:r>
              <a:r>
                <a:rPr lang="ko-KR" alt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</a:t>
              </a:r>
              <a:r>
                <a:rPr lang="en-US" altLang="ko-KR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–</a:t>
              </a:r>
              <a:r>
                <a:rPr lang="ko-KR" alt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</a:t>
              </a:r>
              <a:r>
                <a:rPr lang="en-US" altLang="ko-KR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[</a:t>
              </a:r>
              <a:r>
                <a:rPr lang="en-US" altLang="ko-KR" dirty="0" err="1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Doker</a:t>
              </a:r>
              <a:r>
                <a:rPr lang="en-US" altLang="ko-KR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Image]</a:t>
              </a: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" name="Text 2">
              <a:extLst>
                <a:ext uri="{FF2B5EF4-FFF2-40B4-BE49-F238E27FC236}">
                  <a16:creationId xmlns:a16="http://schemas.microsoft.com/office/drawing/2014/main" id="{8E05D65E-7BE5-507E-F438-EADF59FC7806}"/>
                </a:ext>
              </a:extLst>
            </p:cNvPr>
            <p:cNvSpPr/>
            <p:nvPr/>
          </p:nvSpPr>
          <p:spPr>
            <a:xfrm>
              <a:off x="2323942" y="1760748"/>
              <a:ext cx="7614087" cy="6776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외부 처리 시스템은 </a:t>
              </a:r>
              <a:r>
                <a:rPr lang="en-US" altLang="ko-KR" sz="1100" dirty="0" err="1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Doker</a:t>
              </a:r>
              <a:r>
                <a:rPr lang="en-US" altLang="ko-KR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 </a:t>
              </a:r>
              <a:r>
                <a:rPr lang="en-US" altLang="ko-KR" sz="1100" dirty="0" err="1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Imgae</a:t>
              </a:r>
              <a:r>
                <a:rPr lang="en-US" altLang="ko-KR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 </a:t>
              </a: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기반으로 생성 및 배포된 상태를 유지</a:t>
              </a:r>
              <a:r>
                <a:rPr lang="en-US" altLang="ko-KR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각 시스템은 독립적 환경에서 실행되며</a:t>
              </a:r>
              <a:r>
                <a:rPr lang="en-US" altLang="ko-KR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,</a:t>
              </a: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 필요한 모든 의존성을 포함하고 있어 일관된 실행 환경을 보장</a:t>
              </a:r>
              <a:endParaRPr lang="en-US" altLang="ko-KR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endParaRPr>
            </a:p>
            <a:p>
              <a:pPr>
                <a:lnSpc>
                  <a:spcPct val="150000"/>
                </a:lnSpc>
              </a:pPr>
              <a:endParaRPr lang="en-US" sz="18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32FC545-AE3E-CEEB-E00B-3960664E4D13}"/>
              </a:ext>
            </a:extLst>
          </p:cNvPr>
          <p:cNvGrpSpPr/>
          <p:nvPr/>
        </p:nvGrpSpPr>
        <p:grpSpPr>
          <a:xfrm>
            <a:off x="1428159" y="2689569"/>
            <a:ext cx="9501109" cy="1118421"/>
            <a:chOff x="1229895" y="2524009"/>
            <a:chExt cx="8708134" cy="1048143"/>
          </a:xfrm>
        </p:grpSpPr>
        <p:pic>
          <p:nvPicPr>
            <p:cNvPr id="31" name="Image 1" descr="preencoded.png">
              <a:extLst>
                <a:ext uri="{FF2B5EF4-FFF2-40B4-BE49-F238E27FC236}">
                  <a16:creationId xmlns:a16="http://schemas.microsoft.com/office/drawing/2014/main" id="{D450FDF4-554A-1224-A7B7-7DA792F8B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29895" y="2524009"/>
              <a:ext cx="841055" cy="1009317"/>
            </a:xfrm>
            <a:prstGeom prst="rect">
              <a:avLst/>
            </a:prstGeom>
          </p:spPr>
        </p:pic>
        <p:sp>
          <p:nvSpPr>
            <p:cNvPr id="32" name="Text 3">
              <a:extLst>
                <a:ext uri="{FF2B5EF4-FFF2-40B4-BE49-F238E27FC236}">
                  <a16:creationId xmlns:a16="http://schemas.microsoft.com/office/drawing/2014/main" id="{3FB2E079-BF35-09CA-63BC-4168C21CA4E2}"/>
                </a:ext>
              </a:extLst>
            </p:cNvPr>
            <p:cNvSpPr/>
            <p:nvPr/>
          </p:nvSpPr>
          <p:spPr>
            <a:xfrm>
              <a:off x="2323942" y="2524009"/>
              <a:ext cx="4685633" cy="2909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Agent </a:t>
              </a:r>
              <a:r>
                <a:rPr lang="en-US" dirty="0" err="1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프로그램</a:t>
              </a:r>
              <a:r>
                <a:rPr 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–</a:t>
              </a:r>
              <a:r>
                <a:rPr lang="ko-KR" alt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</a:t>
              </a:r>
              <a:r>
                <a:rPr lang="en-US" altLang="ko-KR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[</a:t>
              </a:r>
              <a:r>
                <a:rPr 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Metadata </a:t>
              </a:r>
              <a:r>
                <a:rPr lang="ko-KR" alt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획득</a:t>
              </a:r>
              <a:r>
                <a:rPr lang="en-US" altLang="ko-KR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]</a:t>
              </a: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" name="Text 2">
              <a:extLst>
                <a:ext uri="{FF2B5EF4-FFF2-40B4-BE49-F238E27FC236}">
                  <a16:creationId xmlns:a16="http://schemas.microsoft.com/office/drawing/2014/main" id="{56DF0DDD-E22C-10C5-B872-062BDAC432CB}"/>
                </a:ext>
              </a:extLst>
            </p:cNvPr>
            <p:cNvSpPr/>
            <p:nvPr/>
          </p:nvSpPr>
          <p:spPr>
            <a:xfrm>
              <a:off x="2323942" y="2894523"/>
              <a:ext cx="7614087" cy="6776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Agent </a:t>
              </a: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프로그램은 외부 서버와 주기적으로 통신하여 처리 시스템의 </a:t>
              </a:r>
              <a:r>
                <a:rPr lang="en-US" altLang="ko-KR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Metadata</a:t>
              </a: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 획득</a:t>
              </a:r>
              <a:r>
                <a:rPr lang="en-US" altLang="ko-KR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 </a:t>
              </a: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및 시스템 상태 모니터링 </a:t>
              </a:r>
              <a:endParaRPr lang="en-US" altLang="ko-KR" sz="11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Metadata - </a:t>
              </a:r>
              <a:r>
                <a:rPr lang="en-US" altLang="ko-KR" sz="1100" dirty="0" err="1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json</a:t>
              </a: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 형식</a:t>
              </a:r>
              <a:endParaRPr lang="en-US" sz="18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6B7EFCD-9AC7-753A-9EC3-BDFAB3C7C51C}"/>
              </a:ext>
            </a:extLst>
          </p:cNvPr>
          <p:cNvGrpSpPr/>
          <p:nvPr/>
        </p:nvGrpSpPr>
        <p:grpSpPr>
          <a:xfrm>
            <a:off x="1428159" y="3754694"/>
            <a:ext cx="9501109" cy="1151574"/>
            <a:chOff x="1229895" y="3580681"/>
            <a:chExt cx="8708134" cy="1079212"/>
          </a:xfrm>
        </p:grpSpPr>
        <p:pic>
          <p:nvPicPr>
            <p:cNvPr id="34" name="Image 2" descr="preencoded.png">
              <a:extLst>
                <a:ext uri="{FF2B5EF4-FFF2-40B4-BE49-F238E27FC236}">
                  <a16:creationId xmlns:a16="http://schemas.microsoft.com/office/drawing/2014/main" id="{C89B193E-91BD-13D5-DD32-C6DFB6A3C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29895" y="3580681"/>
              <a:ext cx="841055" cy="1009317"/>
            </a:xfrm>
            <a:prstGeom prst="rect">
              <a:avLst/>
            </a:prstGeom>
          </p:spPr>
        </p:pic>
        <p:sp>
          <p:nvSpPr>
            <p:cNvPr id="35" name="Text 5">
              <a:extLst>
                <a:ext uri="{FF2B5EF4-FFF2-40B4-BE49-F238E27FC236}">
                  <a16:creationId xmlns:a16="http://schemas.microsoft.com/office/drawing/2014/main" id="{F3AD13E4-CBD9-DF14-471E-D7FE0A423040}"/>
                </a:ext>
              </a:extLst>
            </p:cNvPr>
            <p:cNvSpPr/>
            <p:nvPr/>
          </p:nvSpPr>
          <p:spPr>
            <a:xfrm>
              <a:off x="2323942" y="3580681"/>
              <a:ext cx="1881075" cy="247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en-US" dirty="0" err="1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컨테이너화</a:t>
              </a:r>
              <a:r>
                <a:rPr lang="ko-KR" alt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</a:t>
              </a:r>
              <a:r>
                <a:rPr lang="en-US" altLang="ko-KR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–</a:t>
              </a:r>
              <a:r>
                <a:rPr lang="ko-KR" alt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 </a:t>
              </a:r>
              <a:r>
                <a:rPr lang="en-US" altLang="ko-KR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[</a:t>
              </a:r>
              <a:r>
                <a:rPr lang="ko-KR" altLang="en-US" dirty="0" err="1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프라이빗</a:t>
              </a:r>
              <a:r>
                <a:rPr lang="ko-KR" alt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데이터 연결</a:t>
              </a:r>
              <a:r>
                <a:rPr lang="en-US" altLang="ko-KR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]</a:t>
              </a: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1" name="Text 2">
              <a:extLst>
                <a:ext uri="{FF2B5EF4-FFF2-40B4-BE49-F238E27FC236}">
                  <a16:creationId xmlns:a16="http://schemas.microsoft.com/office/drawing/2014/main" id="{FA87306C-193C-6308-E832-3A8CF390AAD2}"/>
                </a:ext>
              </a:extLst>
            </p:cNvPr>
            <p:cNvSpPr/>
            <p:nvPr/>
          </p:nvSpPr>
          <p:spPr>
            <a:xfrm>
              <a:off x="2323942" y="3982264"/>
              <a:ext cx="7614087" cy="6776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Agent</a:t>
              </a: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는 획득한 </a:t>
              </a:r>
              <a:r>
                <a:rPr lang="en-US" altLang="ko-KR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Metadata</a:t>
              </a:r>
              <a:r>
                <a:rPr lang="ko-KR" altLang="en-US" sz="1100" dirty="0" err="1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를</a:t>
              </a: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 기반으로 </a:t>
              </a:r>
              <a:r>
                <a:rPr lang="en-US" altLang="ko-KR" sz="1100" dirty="0" err="1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Doker</a:t>
              </a:r>
              <a:r>
                <a:rPr lang="en-US" altLang="ko-KR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 Image</a:t>
              </a:r>
              <a:r>
                <a:rPr lang="ko-KR" altLang="en-US" sz="1100" dirty="0" err="1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를</a:t>
              </a: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 컨테이너화 및 </a:t>
              </a:r>
              <a:r>
                <a:rPr lang="ko-KR" altLang="en-US" sz="1100" dirty="0" err="1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프라이빗</a:t>
              </a: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 데이터와 연결</a:t>
              </a:r>
              <a:r>
                <a:rPr lang="en-US" altLang="ko-KR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.</a:t>
              </a: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 </a:t>
              </a:r>
              <a:endParaRPr lang="en-US" altLang="ko-KR" sz="11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B8E40C0-AA42-BECC-CCE5-E96B33212B36}"/>
              </a:ext>
            </a:extLst>
          </p:cNvPr>
          <p:cNvGrpSpPr/>
          <p:nvPr/>
        </p:nvGrpSpPr>
        <p:grpSpPr>
          <a:xfrm>
            <a:off x="1428159" y="4851749"/>
            <a:ext cx="9501109" cy="1171044"/>
            <a:chOff x="1229895" y="4622929"/>
            <a:chExt cx="8708134" cy="1097459"/>
          </a:xfrm>
        </p:grpSpPr>
        <p:pic>
          <p:nvPicPr>
            <p:cNvPr id="37" name="Image 3" descr="preencoded.png">
              <a:extLst>
                <a:ext uri="{FF2B5EF4-FFF2-40B4-BE49-F238E27FC236}">
                  <a16:creationId xmlns:a16="http://schemas.microsoft.com/office/drawing/2014/main" id="{62D1C8F4-7DF4-4105-D259-7923E6D7F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29895" y="4622929"/>
              <a:ext cx="841055" cy="1009317"/>
            </a:xfrm>
            <a:prstGeom prst="rect">
              <a:avLst/>
            </a:prstGeom>
          </p:spPr>
        </p:pic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AD62066B-AC9F-D996-1AF2-C8B5C9208963}"/>
                </a:ext>
              </a:extLst>
            </p:cNvPr>
            <p:cNvSpPr/>
            <p:nvPr/>
          </p:nvSpPr>
          <p:spPr>
            <a:xfrm>
              <a:off x="2323942" y="4622929"/>
              <a:ext cx="1881075" cy="247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en-US" dirty="0" err="1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데이터</a:t>
              </a:r>
              <a:r>
                <a:rPr 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</a:t>
              </a:r>
              <a:r>
                <a:rPr lang="en-US" dirty="0" err="1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처리</a:t>
              </a:r>
              <a:r>
                <a:rPr lang="ko-KR" alt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</a:t>
              </a:r>
              <a:r>
                <a:rPr lang="en-US" altLang="ko-KR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–</a:t>
              </a:r>
              <a:r>
                <a:rPr lang="ko-KR" alt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</a:t>
              </a:r>
              <a:r>
                <a:rPr lang="en-US" altLang="ko-KR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[</a:t>
              </a:r>
              <a:r>
                <a:rPr lang="ko-KR" altLang="en-US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로컬 영역</a:t>
              </a:r>
              <a:r>
                <a:rPr lang="en-US" altLang="ko-KR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]</a:t>
              </a: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2" name="Text 2">
              <a:extLst>
                <a:ext uri="{FF2B5EF4-FFF2-40B4-BE49-F238E27FC236}">
                  <a16:creationId xmlns:a16="http://schemas.microsoft.com/office/drawing/2014/main" id="{4C044FB0-5104-AE6F-B1C4-F6C214BC56DB}"/>
                </a:ext>
              </a:extLst>
            </p:cNvPr>
            <p:cNvSpPr/>
            <p:nvPr/>
          </p:nvSpPr>
          <p:spPr>
            <a:xfrm>
              <a:off x="2323942" y="5042759"/>
              <a:ext cx="7614087" cy="6776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로컬 영역에 시스템을 배치 </a:t>
              </a:r>
              <a:r>
                <a:rPr lang="en-US" altLang="ko-KR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–</a:t>
              </a:r>
              <a:r>
                <a:rPr lang="ko-KR" altLang="en-US" sz="1100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 데이터를 안전하게 가공 및 처리 외부 네트워크를 통한 데이터 노출 가능성을 배제</a:t>
              </a:r>
              <a:endParaRPr lang="en-US" sz="18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431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FA3A9081-8CAA-B781-2F88-BDC9E521C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FD621AF4-D7BD-0EEB-BFCD-C2B6C33FA6D3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893AAA89-133E-3019-AC04-53333C0BDE59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3D72500B-52DE-27D1-75CC-ED392E0DA632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part2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381140A7-D36F-402F-E57A-3FA93632B465}"/>
              </a:ext>
            </a:extLst>
          </p:cNvPr>
          <p:cNvSpPr txBox="1"/>
          <p:nvPr/>
        </p:nvSpPr>
        <p:spPr>
          <a:xfrm>
            <a:off x="888647" y="319330"/>
            <a:ext cx="470568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개발계획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시스템 아키텍처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C83F7E36-E4AB-F8B7-B591-10DDAEE517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E3CC9580-6EC0-3CF5-5C94-6AACA1635D8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84EB660E-1E5F-B99C-A687-2B93DA287155}"/>
              </a:ext>
            </a:extLst>
          </p:cNvPr>
          <p:cNvGrpSpPr/>
          <p:nvPr/>
        </p:nvGrpSpPr>
        <p:grpSpPr>
          <a:xfrm>
            <a:off x="109443" y="852091"/>
            <a:ext cx="12082557" cy="5472182"/>
            <a:chOff x="109443" y="852091"/>
            <a:chExt cx="12082557" cy="547218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5C6229D-D91A-8DF9-2260-F4F53C56BB35}"/>
                </a:ext>
              </a:extLst>
            </p:cNvPr>
            <p:cNvSpPr txBox="1"/>
            <p:nvPr/>
          </p:nvSpPr>
          <p:spPr>
            <a:xfrm>
              <a:off x="8477501" y="2998113"/>
              <a:ext cx="87235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100" dirty="0"/>
                <a:t>response</a:t>
              </a:r>
            </a:p>
            <a:p>
              <a:pPr algn="ctr"/>
              <a:r>
                <a:rPr kumimoji="1" lang="en-US" altLang="ko-KR" sz="1100" dirty="0"/>
                <a:t>(metadata)</a:t>
              </a:r>
              <a:endParaRPr kumimoji="1" lang="ko-KR" altLang="en-US" sz="11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76D4677-CB1B-4CF1-93A2-F3C658AA6B6C}"/>
                </a:ext>
              </a:extLst>
            </p:cNvPr>
            <p:cNvSpPr txBox="1"/>
            <p:nvPr/>
          </p:nvSpPr>
          <p:spPr>
            <a:xfrm>
              <a:off x="4545692" y="3050050"/>
              <a:ext cx="78579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100" dirty="0"/>
                <a:t>metadata</a:t>
              </a:r>
              <a:endParaRPr kumimoji="1" lang="ko-KR" altLang="en-US" sz="1100" dirty="0"/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150C4EB2-4607-C917-F27A-87599BA8F790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6698833" y="2868517"/>
              <a:ext cx="74322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2CA20B3E-2772-397C-E990-DAA086FCDADE}"/>
                </a:ext>
              </a:extLst>
            </p:cNvPr>
            <p:cNvCxnSpPr>
              <a:cxnSpLocks/>
            </p:cNvCxnSpPr>
            <p:nvPr/>
          </p:nvCxnSpPr>
          <p:spPr>
            <a:xfrm>
              <a:off x="8494123" y="2831403"/>
              <a:ext cx="8413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4B714E-F7EF-0A8C-34DE-665A725F0F58}"/>
                </a:ext>
              </a:extLst>
            </p:cNvPr>
            <p:cNvSpPr txBox="1"/>
            <p:nvPr/>
          </p:nvSpPr>
          <p:spPr>
            <a:xfrm>
              <a:off x="6706701" y="3026992"/>
              <a:ext cx="78579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100" dirty="0"/>
                <a:t>metadata</a:t>
              </a:r>
              <a:endParaRPr kumimoji="1" lang="ko-KR" altLang="en-US" sz="1100" dirty="0"/>
            </a:p>
          </p:txBody>
        </p:sp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2BC03245-5ECB-3DBB-FF8E-76A2380F94B7}"/>
                </a:ext>
              </a:extLst>
            </p:cNvPr>
            <p:cNvSpPr/>
            <p:nvPr/>
          </p:nvSpPr>
          <p:spPr>
            <a:xfrm>
              <a:off x="130629" y="1166325"/>
              <a:ext cx="2484615" cy="4572001"/>
            </a:xfrm>
            <a:prstGeom prst="roundRect">
              <a:avLst>
                <a:gd name="adj" fmla="val 534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78471A-25FD-11CF-320E-B6D9BAE4EC42}"/>
                </a:ext>
              </a:extLst>
            </p:cNvPr>
            <p:cNvSpPr txBox="1"/>
            <p:nvPr/>
          </p:nvSpPr>
          <p:spPr>
            <a:xfrm>
              <a:off x="626877" y="852091"/>
              <a:ext cx="14612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400" dirty="0"/>
                <a:t>User Local Area</a:t>
              </a:r>
            </a:p>
          </p:txBody>
        </p:sp>
        <p:sp>
          <p:nvSpPr>
            <p:cNvPr id="10" name="정육면체 9">
              <a:extLst>
                <a:ext uri="{FF2B5EF4-FFF2-40B4-BE49-F238E27FC236}">
                  <a16:creationId xmlns:a16="http://schemas.microsoft.com/office/drawing/2014/main" id="{B0B9EB37-7E89-A83F-579A-61F013E25E30}"/>
                </a:ext>
              </a:extLst>
            </p:cNvPr>
            <p:cNvSpPr/>
            <p:nvPr/>
          </p:nvSpPr>
          <p:spPr>
            <a:xfrm>
              <a:off x="184173" y="3964840"/>
              <a:ext cx="779578" cy="738500"/>
            </a:xfrm>
            <a:prstGeom prst="cub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986DB0-D506-F785-FDF2-D234EFCFA284}"/>
                </a:ext>
              </a:extLst>
            </p:cNvPr>
            <p:cNvSpPr txBox="1"/>
            <p:nvPr/>
          </p:nvSpPr>
          <p:spPr>
            <a:xfrm>
              <a:off x="109443" y="4690427"/>
              <a:ext cx="9290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400" dirty="0"/>
                <a:t>Target </a:t>
              </a:r>
            </a:p>
            <a:p>
              <a:pPr algn="ctr"/>
              <a:r>
                <a:rPr kumimoji="1" lang="en-US" altLang="ko-KR" sz="1400" dirty="0"/>
                <a:t>Directory</a:t>
              </a:r>
              <a:endParaRPr kumimoji="1" lang="ko-KR" altLang="en-US" sz="1400" dirty="0"/>
            </a:p>
          </p:txBody>
        </p:sp>
        <p:sp>
          <p:nvSpPr>
            <p:cNvPr id="12" name="한쪽 모서리가 잘린 사각형 11">
              <a:extLst>
                <a:ext uri="{FF2B5EF4-FFF2-40B4-BE49-F238E27FC236}">
                  <a16:creationId xmlns:a16="http://schemas.microsoft.com/office/drawing/2014/main" id="{991E1D72-F425-93C3-E147-17947F86198D}"/>
                </a:ext>
              </a:extLst>
            </p:cNvPr>
            <p:cNvSpPr/>
            <p:nvPr/>
          </p:nvSpPr>
          <p:spPr>
            <a:xfrm>
              <a:off x="972244" y="2030261"/>
              <a:ext cx="770565" cy="1031329"/>
            </a:xfrm>
            <a:prstGeom prst="snip1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BCC7945-632E-356E-7069-6BCAD8B53BF8}"/>
                </a:ext>
              </a:extLst>
            </p:cNvPr>
            <p:cNvSpPr txBox="1"/>
            <p:nvPr/>
          </p:nvSpPr>
          <p:spPr>
            <a:xfrm>
              <a:off x="758644" y="1722484"/>
              <a:ext cx="1197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400" dirty="0"/>
                <a:t>Web Service</a:t>
              </a:r>
              <a:endParaRPr kumimoji="1" lang="ko-KR" altLang="en-US" sz="1400" dirty="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E77496EC-D19D-1869-B6AC-76FB9CFF5F14}"/>
                </a:ext>
              </a:extLst>
            </p:cNvPr>
            <p:cNvGrpSpPr/>
            <p:nvPr/>
          </p:nvGrpSpPr>
          <p:grpSpPr>
            <a:xfrm>
              <a:off x="9237345" y="1226109"/>
              <a:ext cx="2954655" cy="2977038"/>
              <a:chOff x="9099338" y="3386440"/>
              <a:chExt cx="2954655" cy="2977038"/>
            </a:xfrm>
            <a:solidFill>
              <a:schemeClr val="bg1">
                <a:lumMod val="85000"/>
              </a:schemeClr>
            </a:solidFill>
          </p:grpSpPr>
          <p:sp>
            <p:nvSpPr>
              <p:cNvPr id="15" name="모서리가 둥근 직사각형 14">
                <a:extLst>
                  <a:ext uri="{FF2B5EF4-FFF2-40B4-BE49-F238E27FC236}">
                    <a16:creationId xmlns:a16="http://schemas.microsoft.com/office/drawing/2014/main" id="{2AFD43E8-83F6-C7F5-A8D5-1BE5F5FDDB27}"/>
                  </a:ext>
                </a:extLst>
              </p:cNvPr>
              <p:cNvSpPr/>
              <p:nvPr/>
            </p:nvSpPr>
            <p:spPr>
              <a:xfrm>
                <a:off x="9197483" y="3909660"/>
                <a:ext cx="2758364" cy="2453818"/>
              </a:xfrm>
              <a:prstGeom prst="roundRect">
                <a:avLst>
                  <a:gd name="adj" fmla="val 5346"/>
                </a:avLst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5EEC33-59E3-53B7-C2D0-4FFB9B01887D}"/>
                  </a:ext>
                </a:extLst>
              </p:cNvPr>
              <p:cNvSpPr txBox="1"/>
              <p:nvPr/>
            </p:nvSpPr>
            <p:spPr>
              <a:xfrm>
                <a:off x="9099338" y="3386440"/>
                <a:ext cx="295465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sz="1400" dirty="0"/>
                  <a:t>Pseudonymization Model Domain</a:t>
                </a:r>
              </a:p>
              <a:p>
                <a:pPr algn="ctr"/>
                <a:r>
                  <a:rPr kumimoji="1" lang="en-US" altLang="ko-KR" sz="1400" dirty="0"/>
                  <a:t>(Docker Image-based)</a:t>
                </a:r>
                <a:endParaRPr kumimoji="1" lang="ko-KR" altLang="en-US" sz="1400" dirty="0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47215361-C04A-48D4-6877-127665AE69F8}"/>
                  </a:ext>
                </a:extLst>
              </p:cNvPr>
              <p:cNvSpPr/>
              <p:nvPr/>
            </p:nvSpPr>
            <p:spPr>
              <a:xfrm>
                <a:off x="9476018" y="4241473"/>
                <a:ext cx="936171" cy="86040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100" dirty="0">
                    <a:solidFill>
                      <a:schemeClr val="tx1"/>
                    </a:solidFill>
                  </a:rPr>
                  <a:t>Image#1</a:t>
                </a:r>
              </a:p>
              <a:p>
                <a:pPr algn="ctr"/>
                <a:r>
                  <a:rPr kumimoji="1" lang="en-US" altLang="ko-KR" sz="1100" dirty="0">
                    <a:solidFill>
                      <a:schemeClr val="tx1"/>
                    </a:solidFill>
                  </a:rPr>
                  <a:t>Yolo Model</a:t>
                </a:r>
              </a:p>
              <a:p>
                <a:pPr algn="ctr"/>
                <a:r>
                  <a:rPr kumimoji="1" lang="en-US" altLang="ko-KR" sz="1100" dirty="0">
                    <a:solidFill>
                      <a:schemeClr val="tx1"/>
                    </a:solidFill>
                  </a:rPr>
                  <a:t>(python)</a:t>
                </a:r>
                <a:endParaRPr kumimoji="1" lang="ko-KR" alt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4C80AA72-98B8-00C7-E196-6D0D31611D5A}"/>
                  </a:ext>
                </a:extLst>
              </p:cNvPr>
              <p:cNvSpPr/>
              <p:nvPr/>
            </p:nvSpPr>
            <p:spPr>
              <a:xfrm>
                <a:off x="9496006" y="5318008"/>
                <a:ext cx="936171" cy="86040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100" dirty="0">
                    <a:solidFill>
                      <a:schemeClr val="tx1"/>
                    </a:solidFill>
                  </a:rPr>
                  <a:t>Image#2</a:t>
                </a:r>
              </a:p>
              <a:p>
                <a:pPr algn="ctr"/>
                <a:r>
                  <a:rPr kumimoji="1" lang="en-US" altLang="ko-KR" sz="1100" dirty="0">
                    <a:solidFill>
                      <a:schemeClr val="tx1"/>
                    </a:solidFill>
                  </a:rPr>
                  <a:t>OCR+NLP</a:t>
                </a:r>
              </a:p>
              <a:p>
                <a:pPr algn="ctr"/>
                <a:r>
                  <a:rPr kumimoji="1" lang="en-US" altLang="ko-KR" sz="1100" dirty="0">
                    <a:solidFill>
                      <a:schemeClr val="tx1"/>
                    </a:solidFill>
                  </a:rPr>
                  <a:t>(Java)</a:t>
                </a:r>
                <a:endParaRPr kumimoji="1" lang="ko-KR" alt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CC75B67B-93E1-5E58-4468-FBC1E352896D}"/>
                  </a:ext>
                </a:extLst>
              </p:cNvPr>
              <p:cNvSpPr/>
              <p:nvPr/>
            </p:nvSpPr>
            <p:spPr>
              <a:xfrm>
                <a:off x="10799701" y="4241473"/>
                <a:ext cx="936171" cy="86040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100" dirty="0">
                    <a:solidFill>
                      <a:schemeClr val="tx1"/>
                    </a:solidFill>
                  </a:rPr>
                  <a:t>Image#3</a:t>
                </a:r>
              </a:p>
              <a:p>
                <a:pPr algn="ctr"/>
                <a:r>
                  <a:rPr kumimoji="1" lang="en-US" altLang="ko-KR" sz="1100" dirty="0">
                    <a:solidFill>
                      <a:schemeClr val="tx1"/>
                    </a:solidFill>
                  </a:rPr>
                  <a:t>... Model</a:t>
                </a:r>
              </a:p>
              <a:p>
                <a:pPr algn="ctr"/>
                <a:r>
                  <a:rPr kumimoji="1" lang="en-US" altLang="ko-KR" sz="1100" dirty="0">
                    <a:solidFill>
                      <a:schemeClr val="tx1"/>
                    </a:solidFill>
                  </a:rPr>
                  <a:t>(JavaScript)</a:t>
                </a:r>
                <a:endParaRPr kumimoji="1" lang="ko-KR" altLang="en-US" sz="11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563956F-9EC5-59B0-C201-5CD23EACCA35}"/>
                </a:ext>
              </a:extLst>
            </p:cNvPr>
            <p:cNvSpPr txBox="1"/>
            <p:nvPr/>
          </p:nvSpPr>
          <p:spPr>
            <a:xfrm>
              <a:off x="1357527" y="4716254"/>
              <a:ext cx="12577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400" dirty="0"/>
                <a:t>Pre-installed </a:t>
              </a:r>
            </a:p>
            <a:p>
              <a:pPr algn="ctr"/>
              <a:r>
                <a:rPr kumimoji="1" lang="en-US" altLang="ko-KR" sz="1400" dirty="0"/>
                <a:t>Agent</a:t>
              </a:r>
              <a:endParaRPr kumimoji="1" lang="ko-KR" altLang="en-US" sz="1400" dirty="0"/>
            </a:p>
          </p:txBody>
        </p:sp>
        <p:sp>
          <p:nvSpPr>
            <p:cNvPr id="21" name="정육면체 20">
              <a:extLst>
                <a:ext uri="{FF2B5EF4-FFF2-40B4-BE49-F238E27FC236}">
                  <a16:creationId xmlns:a16="http://schemas.microsoft.com/office/drawing/2014/main" id="{C4E8861D-BCBE-D38F-34F0-654D9D1EC8FB}"/>
                </a:ext>
              </a:extLst>
            </p:cNvPr>
            <p:cNvSpPr/>
            <p:nvPr/>
          </p:nvSpPr>
          <p:spPr>
            <a:xfrm>
              <a:off x="1651209" y="3964840"/>
              <a:ext cx="779578" cy="738500"/>
            </a:xfrm>
            <a:prstGeom prst="cub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60BF3CBC-4403-221A-CC57-F94EDE5CDB28}"/>
                </a:ext>
              </a:extLst>
            </p:cNvPr>
            <p:cNvGrpSpPr/>
            <p:nvPr/>
          </p:nvGrpSpPr>
          <p:grpSpPr>
            <a:xfrm>
              <a:off x="5380396" y="1483817"/>
              <a:ext cx="1318437" cy="2461622"/>
              <a:chOff x="5035020" y="1105449"/>
              <a:chExt cx="1318437" cy="2461622"/>
            </a:xfrm>
            <a:solidFill>
              <a:schemeClr val="bg1">
                <a:lumMod val="85000"/>
              </a:schemeClr>
            </a:solidFill>
          </p:grpSpPr>
          <p:sp>
            <p:nvSpPr>
              <p:cNvPr id="23" name="모서리가 둥근 직사각형 22">
                <a:extLst>
                  <a:ext uri="{FF2B5EF4-FFF2-40B4-BE49-F238E27FC236}">
                    <a16:creationId xmlns:a16="http://schemas.microsoft.com/office/drawing/2014/main" id="{E7E78CE9-AA7E-C246-5994-9F6630B8B5A8}"/>
                  </a:ext>
                </a:extLst>
              </p:cNvPr>
              <p:cNvSpPr/>
              <p:nvPr/>
            </p:nvSpPr>
            <p:spPr>
              <a:xfrm>
                <a:off x="5035020" y="1413226"/>
                <a:ext cx="1318437" cy="215384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FA7CBC4C-58A6-70BC-D032-907A684577DD}"/>
                  </a:ext>
                </a:extLst>
              </p:cNvPr>
              <p:cNvSpPr/>
              <p:nvPr/>
            </p:nvSpPr>
            <p:spPr>
              <a:xfrm>
                <a:off x="5151977" y="1644115"/>
                <a:ext cx="1084521" cy="44656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</a:rPr>
                  <a:t>topic</a:t>
                </a:r>
                <a:endParaRPr kumimoji="1"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D28AD3C-858D-5297-237F-FB05DCDAFCB8}"/>
                  </a:ext>
                </a:extLst>
              </p:cNvPr>
              <p:cNvSpPr txBox="1"/>
              <p:nvPr/>
            </p:nvSpPr>
            <p:spPr>
              <a:xfrm>
                <a:off x="5090546" y="1105449"/>
                <a:ext cx="120738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sz="1400" dirty="0"/>
                  <a:t>Kafka Broker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244F9065-AC32-3904-91E4-D2531A17F388}"/>
                  </a:ext>
                </a:extLst>
              </p:cNvPr>
              <p:cNvSpPr/>
              <p:nvPr/>
            </p:nvSpPr>
            <p:spPr>
              <a:xfrm>
                <a:off x="5151977" y="2229752"/>
                <a:ext cx="1084521" cy="44656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</a:rPr>
                  <a:t>topic</a:t>
                </a:r>
                <a:endParaRPr kumimoji="1"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646139B-051C-567C-711A-029FC91AB605}"/>
                </a:ext>
              </a:extLst>
            </p:cNvPr>
            <p:cNvSpPr txBox="1"/>
            <p:nvPr/>
          </p:nvSpPr>
          <p:spPr>
            <a:xfrm>
              <a:off x="929250" y="4123249"/>
              <a:ext cx="76495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100" dirty="0"/>
                <a:t>mounted</a:t>
              </a:r>
              <a:endParaRPr kumimoji="1" lang="ko-KR" altLang="en-US" sz="1100" dirty="0"/>
            </a:p>
          </p:txBody>
        </p:sp>
        <p:cxnSp>
          <p:nvCxnSpPr>
            <p:cNvPr id="33" name="직선 연결선[R] 32">
              <a:extLst>
                <a:ext uri="{FF2B5EF4-FFF2-40B4-BE49-F238E27FC236}">
                  <a16:creationId xmlns:a16="http://schemas.microsoft.com/office/drawing/2014/main" id="{9CC08C44-1C43-1CFE-FDB5-F37D04D08707}"/>
                </a:ext>
              </a:extLst>
            </p:cNvPr>
            <p:cNvCxnSpPr/>
            <p:nvPr/>
          </p:nvCxnSpPr>
          <p:spPr>
            <a:xfrm>
              <a:off x="972244" y="4366726"/>
              <a:ext cx="678965" cy="0"/>
            </a:xfrm>
            <a:prstGeom prst="line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0B55A5F7-251E-92A3-5215-A415979041F7}"/>
                </a:ext>
              </a:extLst>
            </p:cNvPr>
            <p:cNvGrpSpPr/>
            <p:nvPr/>
          </p:nvGrpSpPr>
          <p:grpSpPr>
            <a:xfrm>
              <a:off x="7062104" y="1938917"/>
              <a:ext cx="1811971" cy="1551422"/>
              <a:chOff x="3527573" y="4366726"/>
              <a:chExt cx="1811971" cy="1551422"/>
            </a:xfrm>
          </p:grpSpPr>
          <p:sp>
            <p:nvSpPr>
              <p:cNvPr id="39" name="정육면체 38">
                <a:extLst>
                  <a:ext uri="{FF2B5EF4-FFF2-40B4-BE49-F238E27FC236}">
                    <a16:creationId xmlns:a16="http://schemas.microsoft.com/office/drawing/2014/main" id="{49878E32-E9C3-3EF6-5A79-B609CB0022A5}"/>
                  </a:ext>
                </a:extLst>
              </p:cNvPr>
              <p:cNvSpPr/>
              <p:nvPr/>
            </p:nvSpPr>
            <p:spPr>
              <a:xfrm>
                <a:off x="3907523" y="4889946"/>
                <a:ext cx="1052069" cy="1028202"/>
              </a:xfrm>
              <a:prstGeom prst="cub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14959C9-6B3F-B9DC-8A58-D867B6E28172}"/>
                  </a:ext>
                </a:extLst>
              </p:cNvPr>
              <p:cNvSpPr txBox="1"/>
              <p:nvPr/>
            </p:nvSpPr>
            <p:spPr>
              <a:xfrm>
                <a:off x="3527573" y="4366726"/>
                <a:ext cx="18119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sz="1400" dirty="0"/>
                  <a:t>Classification Server</a:t>
                </a:r>
              </a:p>
              <a:p>
                <a:pPr algn="ctr"/>
                <a:r>
                  <a:rPr kumimoji="1" lang="en-US" altLang="ko-KR" sz="1400" dirty="0"/>
                  <a:t>(LLM-Based)</a:t>
                </a:r>
                <a:endParaRPr kumimoji="1" lang="ko-KR" altLang="en-US" sz="1400" dirty="0"/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8CDD99B-FD45-7038-5B3A-D117472A0272}"/>
                </a:ext>
              </a:extLst>
            </p:cNvPr>
            <p:cNvGrpSpPr/>
            <p:nvPr/>
          </p:nvGrpSpPr>
          <p:grpSpPr>
            <a:xfrm>
              <a:off x="2695270" y="1938917"/>
              <a:ext cx="2550956" cy="1551422"/>
              <a:chOff x="3158081" y="4366726"/>
              <a:chExt cx="2550956" cy="1551422"/>
            </a:xfrm>
          </p:grpSpPr>
          <p:sp>
            <p:nvSpPr>
              <p:cNvPr id="49" name="정육면체 48">
                <a:extLst>
                  <a:ext uri="{FF2B5EF4-FFF2-40B4-BE49-F238E27FC236}">
                    <a16:creationId xmlns:a16="http://schemas.microsoft.com/office/drawing/2014/main" id="{E3526871-1EAB-687B-1CED-C09BB016EC47}"/>
                  </a:ext>
                </a:extLst>
              </p:cNvPr>
              <p:cNvSpPr/>
              <p:nvPr/>
            </p:nvSpPr>
            <p:spPr>
              <a:xfrm>
                <a:off x="3907523" y="4889946"/>
                <a:ext cx="1052069" cy="1028202"/>
              </a:xfrm>
              <a:prstGeom prst="cub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2666DB3-4D0B-2578-8B21-C69DE2F3FCB0}"/>
                  </a:ext>
                </a:extLst>
              </p:cNvPr>
              <p:cNvSpPr txBox="1"/>
              <p:nvPr/>
            </p:nvSpPr>
            <p:spPr>
              <a:xfrm>
                <a:off x="3158081" y="4366726"/>
                <a:ext cx="25509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sz="1400" dirty="0"/>
                  <a:t>Kafka Communication Server</a:t>
                </a:r>
              </a:p>
              <a:p>
                <a:pPr algn="ctr"/>
                <a:r>
                  <a:rPr kumimoji="1" lang="en-US" altLang="ko-KR" sz="1400" dirty="0"/>
                  <a:t>(Producing &amp; Consumption)</a:t>
                </a:r>
                <a:endParaRPr kumimoji="1" lang="ko-KR" altLang="en-US" sz="1400" dirty="0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56570C4-07BA-D1D3-0581-CFAE4B53A85F}"/>
                </a:ext>
              </a:extLst>
            </p:cNvPr>
            <p:cNvSpPr txBox="1"/>
            <p:nvPr/>
          </p:nvSpPr>
          <p:spPr>
            <a:xfrm>
              <a:off x="5824576" y="3180855"/>
              <a:ext cx="923330" cy="49629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en-US" altLang="ko-KR" sz="4800" dirty="0">
                  <a:solidFill>
                    <a:schemeClr val="bg2">
                      <a:lumMod val="50000"/>
                    </a:schemeClr>
                  </a:solidFill>
                </a:rPr>
                <a:t>...</a:t>
              </a:r>
              <a:endParaRPr kumimoji="1" lang="ko-KR" altLang="en-US" sz="4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487E3113-4FAA-9B23-6F9C-EAB926C105F2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>
              <a:off x="1742809" y="2545926"/>
              <a:ext cx="1701903" cy="3225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64B4192-273E-DB0C-4452-0D974FBEF304}"/>
                </a:ext>
              </a:extLst>
            </p:cNvPr>
            <p:cNvSpPr/>
            <p:nvPr/>
          </p:nvSpPr>
          <p:spPr>
            <a:xfrm rot="660000">
              <a:off x="1596963" y="2359278"/>
              <a:ext cx="1970411" cy="4036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ysClr val="windowText" lastClr="000000"/>
                  </a:solidFill>
                </a:rPr>
                <a:t>purpose, example data(s), ...</a:t>
              </a:r>
              <a:endParaRPr kumimoji="1"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664FAD0C-0BFE-36EA-37C3-EAC25014516E}"/>
                </a:ext>
              </a:extLst>
            </p:cNvPr>
            <p:cNvCxnSpPr>
              <a:cxnSpLocks/>
              <a:stCxn id="49" idx="5"/>
              <a:endCxn id="23" idx="1"/>
            </p:cNvCxnSpPr>
            <p:nvPr/>
          </p:nvCxnSpPr>
          <p:spPr>
            <a:xfrm>
              <a:off x="4496781" y="2847713"/>
              <a:ext cx="88361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08C1BB2-9798-5D37-890F-247B8ECD9515}"/>
                </a:ext>
              </a:extLst>
            </p:cNvPr>
            <p:cNvSpPr txBox="1"/>
            <p:nvPr/>
          </p:nvSpPr>
          <p:spPr>
            <a:xfrm>
              <a:off x="8583571" y="2583823"/>
              <a:ext cx="6607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100" dirty="0"/>
                <a:t>request</a:t>
              </a:r>
              <a:endParaRPr kumimoji="1" lang="ko-KR" altLang="en-US" sz="1100" dirty="0"/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C84AA048-34B8-5D43-31AB-2FD4156F7C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4123" y="3054687"/>
              <a:ext cx="841367" cy="69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6F252A17-7853-2F85-045D-60079213FE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8833" y="3086265"/>
              <a:ext cx="74322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CB41DFB1-33EB-17C8-7953-5682AB85A3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6781" y="3105127"/>
              <a:ext cx="8753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F6EAABD2-1B15-C69F-2AF2-333064BDA5D4}"/>
                </a:ext>
              </a:extLst>
            </p:cNvPr>
            <p:cNvCxnSpPr>
              <a:cxnSpLocks/>
              <a:stCxn id="49" idx="2"/>
              <a:endCxn id="21" idx="5"/>
            </p:cNvCxnSpPr>
            <p:nvPr/>
          </p:nvCxnSpPr>
          <p:spPr>
            <a:xfrm flipH="1">
              <a:off x="2430787" y="3104763"/>
              <a:ext cx="1013925" cy="11370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76112C6-C3F2-439A-91DF-3B9D371F0DA0}"/>
                </a:ext>
              </a:extLst>
            </p:cNvPr>
            <p:cNvSpPr/>
            <p:nvPr/>
          </p:nvSpPr>
          <p:spPr>
            <a:xfrm rot="-2880000">
              <a:off x="2087805" y="3458909"/>
              <a:ext cx="1970411" cy="4036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ysClr val="windowText" lastClr="000000"/>
                  </a:solidFill>
                </a:rPr>
                <a:t>metadata</a:t>
              </a:r>
              <a:endParaRPr kumimoji="1"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61" name="직선 연결선[R] 60">
              <a:extLst>
                <a:ext uri="{FF2B5EF4-FFF2-40B4-BE49-F238E27FC236}">
                  <a16:creationId xmlns:a16="http://schemas.microsoft.com/office/drawing/2014/main" id="{8A4B2F8F-5A10-2A4C-BA0B-C99A92D8FCF7}"/>
                </a:ext>
              </a:extLst>
            </p:cNvPr>
            <p:cNvCxnSpPr>
              <a:cxnSpLocks/>
            </p:cNvCxnSpPr>
            <p:nvPr/>
          </p:nvCxnSpPr>
          <p:spPr>
            <a:xfrm>
              <a:off x="2439280" y="4523180"/>
              <a:ext cx="1972303" cy="1731021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3" name="직선 연결선[R] 62">
              <a:extLst>
                <a:ext uri="{FF2B5EF4-FFF2-40B4-BE49-F238E27FC236}">
                  <a16:creationId xmlns:a16="http://schemas.microsoft.com/office/drawing/2014/main" id="{BAD6AE7D-2F7B-F3A7-C5A9-BF0210D5DDE9}"/>
                </a:ext>
              </a:extLst>
            </p:cNvPr>
            <p:cNvCxnSpPr>
              <a:cxnSpLocks/>
            </p:cNvCxnSpPr>
            <p:nvPr/>
          </p:nvCxnSpPr>
          <p:spPr>
            <a:xfrm>
              <a:off x="2439280" y="3964840"/>
              <a:ext cx="2012538" cy="454791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28" name="모서리가 둥근 직사각형 127">
              <a:extLst>
                <a:ext uri="{FF2B5EF4-FFF2-40B4-BE49-F238E27FC236}">
                  <a16:creationId xmlns:a16="http://schemas.microsoft.com/office/drawing/2014/main" id="{9045ABEB-62E1-C6A7-1F8D-32AF668931BA}"/>
                </a:ext>
              </a:extLst>
            </p:cNvPr>
            <p:cNvSpPr/>
            <p:nvPr/>
          </p:nvSpPr>
          <p:spPr>
            <a:xfrm>
              <a:off x="4330859" y="4388256"/>
              <a:ext cx="2092243" cy="1936017"/>
            </a:xfrm>
            <a:prstGeom prst="roundRect">
              <a:avLst>
                <a:gd name="adj" fmla="val 809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7E8182B-0902-71B6-A712-39777C5AC9B4}"/>
                </a:ext>
              </a:extLst>
            </p:cNvPr>
            <p:cNvSpPr txBox="1"/>
            <p:nvPr/>
          </p:nvSpPr>
          <p:spPr>
            <a:xfrm>
              <a:off x="4883206" y="4077082"/>
              <a:ext cx="11054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dirty="0"/>
                <a:t>Agent Area</a:t>
              </a:r>
              <a:endParaRPr kumimoji="1" lang="ko-KR" altLang="en-US" sz="1400" dirty="0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3371D066-E956-F381-9E68-E8D9DF5A96E4}"/>
                </a:ext>
              </a:extLst>
            </p:cNvPr>
            <p:cNvSpPr/>
            <p:nvPr/>
          </p:nvSpPr>
          <p:spPr>
            <a:xfrm>
              <a:off x="4466345" y="4571354"/>
              <a:ext cx="936171" cy="8604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100" dirty="0">
                  <a:solidFill>
                    <a:schemeClr val="tx1"/>
                  </a:solidFill>
                </a:rPr>
                <a:t>docker</a:t>
              </a:r>
              <a:br>
                <a:rPr kumimoji="1" lang="en-US" altLang="ko-KR" sz="1100" dirty="0">
                  <a:solidFill>
                    <a:schemeClr val="tx1"/>
                  </a:solidFill>
                </a:rPr>
              </a:br>
              <a:r>
                <a:rPr kumimoji="1" lang="en-US" altLang="ko-KR" sz="1100" dirty="0">
                  <a:solidFill>
                    <a:schemeClr val="tx1"/>
                  </a:solidFill>
                </a:rPr>
                <a:t>container</a:t>
              </a:r>
              <a:br>
                <a:rPr kumimoji="1" lang="en-US" altLang="ko-KR" sz="1100" dirty="0">
                  <a:solidFill>
                    <a:schemeClr val="tx1"/>
                  </a:solidFill>
                </a:rPr>
              </a:br>
              <a:r>
                <a:rPr kumimoji="1" lang="en-US" altLang="ko-KR" sz="1100" dirty="0">
                  <a:solidFill>
                    <a:schemeClr val="tx1"/>
                  </a:solidFill>
                </a:rPr>
                <a:t>(python)</a:t>
              </a:r>
              <a:endParaRPr kumimoji="1"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AE0605FB-EBCE-1157-7755-DCE6D04A6A87}"/>
                </a:ext>
              </a:extLst>
            </p:cNvPr>
            <p:cNvSpPr/>
            <p:nvPr/>
          </p:nvSpPr>
          <p:spPr>
            <a:xfrm>
              <a:off x="4949257" y="4952037"/>
              <a:ext cx="936171" cy="8604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100" dirty="0">
                  <a:solidFill>
                    <a:schemeClr val="tx1"/>
                  </a:solidFill>
                </a:rPr>
                <a:t>docker</a:t>
              </a:r>
              <a:br>
                <a:rPr kumimoji="1" lang="en-US" altLang="ko-KR" sz="1100" dirty="0">
                  <a:solidFill>
                    <a:schemeClr val="tx1"/>
                  </a:solidFill>
                </a:rPr>
              </a:br>
              <a:r>
                <a:rPr kumimoji="1" lang="en-US" altLang="ko-KR" sz="1100" dirty="0">
                  <a:solidFill>
                    <a:schemeClr val="tx1"/>
                  </a:solidFill>
                </a:rPr>
                <a:t>container</a:t>
              </a:r>
            </a:p>
            <a:p>
              <a:pPr algn="ctr"/>
              <a:r>
                <a:rPr kumimoji="1" lang="en-US" altLang="ko-KR" sz="1100" dirty="0">
                  <a:solidFill>
                    <a:schemeClr val="tx1"/>
                  </a:solidFill>
                </a:rPr>
                <a:t>(Java)</a:t>
              </a:r>
              <a:endParaRPr kumimoji="1" lang="ko-KR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32" name="직선 화살표 연결선 131">
              <a:extLst>
                <a:ext uri="{FF2B5EF4-FFF2-40B4-BE49-F238E27FC236}">
                  <a16:creationId xmlns:a16="http://schemas.microsoft.com/office/drawing/2014/main" id="{66CEEEF7-A70E-0343-EE1C-6BB08BC9BA79}"/>
                </a:ext>
              </a:extLst>
            </p:cNvPr>
            <p:cNvCxnSpPr>
              <a:stCxn id="21" idx="0"/>
              <a:endCxn id="12" idx="1"/>
            </p:cNvCxnSpPr>
            <p:nvPr/>
          </p:nvCxnSpPr>
          <p:spPr>
            <a:xfrm flipH="1" flipV="1">
              <a:off x="1357527" y="3061590"/>
              <a:ext cx="775784" cy="9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8126E0A1-AB0C-C7F8-0B5F-DC58C0468533}"/>
                </a:ext>
              </a:extLst>
            </p:cNvPr>
            <p:cNvSpPr/>
            <p:nvPr/>
          </p:nvSpPr>
          <p:spPr>
            <a:xfrm rot="2880000">
              <a:off x="867583" y="3258631"/>
              <a:ext cx="1970411" cy="4036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ysClr val="windowText" lastClr="000000"/>
                  </a:solidFill>
                </a:rPr>
                <a:t>result</a:t>
              </a:r>
              <a:endParaRPr kumimoji="1" lang="ko-KR" altLang="en-US" sz="100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26" name="Picture 2" descr="OSC Korea media">
              <a:extLst>
                <a:ext uri="{FF2B5EF4-FFF2-40B4-BE49-F238E27FC236}">
                  <a16:creationId xmlns:a16="http://schemas.microsoft.com/office/drawing/2014/main" id="{AFEF236C-F6A9-59EC-2E00-A6026C62BD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0530" y="3490568"/>
              <a:ext cx="1046440" cy="5232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리액트 (자바스크립트 라이브러리) - 위키백과, 우리 모두의 백과사전">
              <a:extLst>
                <a:ext uri="{FF2B5EF4-FFF2-40B4-BE49-F238E27FC236}">
                  <a16:creationId xmlns:a16="http://schemas.microsoft.com/office/drawing/2014/main" id="{7BEF5001-0749-3622-9C9B-3A0F6D42BC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8419" y="2350505"/>
              <a:ext cx="608181" cy="541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파이썬(Python)이란?">
              <a:extLst>
                <a:ext uri="{FF2B5EF4-FFF2-40B4-BE49-F238E27FC236}">
                  <a16:creationId xmlns:a16="http://schemas.microsoft.com/office/drawing/2014/main" id="{2A0AC0A8-2712-3D75-5A7E-C7DF4F53F3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9326" y="4163150"/>
              <a:ext cx="524271" cy="524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NestJS - 위키백과, 우리 모두의 백과사전">
              <a:extLst>
                <a:ext uri="{FF2B5EF4-FFF2-40B4-BE49-F238E27FC236}">
                  <a16:creationId xmlns:a16="http://schemas.microsoft.com/office/drawing/2014/main" id="{C27E2CDE-E57A-DAC5-7EF8-B9A349C53A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3703" y="2764467"/>
              <a:ext cx="747720" cy="7227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Flask App의 디렉터리는 어떤 구조로 만들어야 좋을지 고민해보았습니다.">
              <a:extLst>
                <a:ext uri="{FF2B5EF4-FFF2-40B4-BE49-F238E27FC236}">
                  <a16:creationId xmlns:a16="http://schemas.microsoft.com/office/drawing/2014/main" id="{44791558-77B5-F62F-E015-2342C2F59B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5940" y="2780822"/>
              <a:ext cx="620084" cy="5546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PYRASIS.COM: Docker 기본 사용법">
              <a:extLst>
                <a:ext uri="{FF2B5EF4-FFF2-40B4-BE49-F238E27FC236}">
                  <a16:creationId xmlns:a16="http://schemas.microsoft.com/office/drawing/2014/main" id="{95115C8B-5D1C-1978-012A-F64895817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46688" y="2711353"/>
              <a:ext cx="1043282" cy="8926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44008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2">
          <a:extLst>
            <a:ext uri="{FF2B5EF4-FFF2-40B4-BE49-F238E27FC236}">
              <a16:creationId xmlns:a16="http://schemas.microsoft.com/office/drawing/2014/main" id="{2D16EDC5-7D92-7A19-93FA-EA2F6CE6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8F82BEC7-CDB8-D6AE-7C02-D209030C3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209741"/>
            <a:ext cx="4572000" cy="6858000"/>
          </a:xfrm>
          <a:prstGeom prst="rect">
            <a:avLst/>
          </a:prstGeom>
        </p:spPr>
      </p:pic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B421088A-60F9-899F-42A7-836F1B3C3916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04617EC4-18CB-CD28-6A75-F62E01594066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839446F5-70CC-723B-DDA0-0677C44DE56C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89B0EC59-33DD-6FEC-FEA4-C3CAC066C1C5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part3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107C7971-7BD4-2B43-38FB-108710A5FD7B}"/>
              </a:ext>
            </a:extLst>
          </p:cNvPr>
          <p:cNvSpPr txBox="1"/>
          <p:nvPr/>
        </p:nvSpPr>
        <p:spPr>
          <a:xfrm>
            <a:off x="888646" y="319330"/>
            <a:ext cx="617255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추진 전략 및 기대효과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추친전략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DC8D94A8-DB17-A6C3-7A00-AE7D209D69E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9E7CB82D-2106-5C0B-2135-C3DDA58DEF9A}"/>
              </a:ext>
            </a:extLst>
          </p:cNvPr>
          <p:cNvGrpSpPr/>
          <p:nvPr/>
        </p:nvGrpSpPr>
        <p:grpSpPr>
          <a:xfrm>
            <a:off x="5270103" y="1874507"/>
            <a:ext cx="6223794" cy="1769368"/>
            <a:chOff x="5270103" y="2162374"/>
            <a:chExt cx="6223794" cy="1769368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A025E0AD-7A63-EE02-DFB4-1F96964B2EE0}"/>
                </a:ext>
              </a:extLst>
            </p:cNvPr>
            <p:cNvSpPr/>
            <p:nvPr/>
          </p:nvSpPr>
          <p:spPr>
            <a:xfrm>
              <a:off x="5270103" y="2162374"/>
              <a:ext cx="3012182" cy="1769368"/>
            </a:xfrm>
            <a:prstGeom prst="roundRect">
              <a:avLst>
                <a:gd name="adj" fmla="val 1691"/>
              </a:avLst>
            </a:prstGeom>
            <a:solidFill>
              <a:srgbClr val="F3E7D4"/>
            </a:solidFill>
            <a:ln/>
          </p:spPr>
          <p:txBody>
            <a:bodyPr/>
            <a:lstStyle/>
            <a:p>
              <a:endParaRPr lang="ko-KR" altLang="en-US" sz="1500" dirty="0"/>
            </a:p>
          </p:txBody>
        </p: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7FFC6128-7C67-F04E-2585-C81D1A1AD535}"/>
                </a:ext>
              </a:extLst>
            </p:cNvPr>
            <p:cNvSpPr/>
            <p:nvPr/>
          </p:nvSpPr>
          <p:spPr>
            <a:xfrm>
              <a:off x="5469533" y="2361804"/>
              <a:ext cx="2346821" cy="293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en-US" sz="1833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애자일 방법론</a:t>
              </a:r>
              <a:endParaRPr lang="en-US" sz="1833" dirty="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BAC223E5-F0E3-957B-BD6E-21F9EC68936A}"/>
                </a:ext>
              </a:extLst>
            </p:cNvPr>
            <p:cNvSpPr/>
            <p:nvPr/>
          </p:nvSpPr>
          <p:spPr>
            <a:xfrm>
              <a:off x="5469533" y="2774752"/>
              <a:ext cx="2613323" cy="638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유연하고 반복적인 개발 진행. 주기적인 스프린트 계획 및 리뷰.</a:t>
              </a:r>
              <a:endParaRPr lang="en-US" sz="1542" dirty="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44957432-2F9C-37E4-7ADC-F9DE07AFED0A}"/>
                </a:ext>
              </a:extLst>
            </p:cNvPr>
            <p:cNvSpPr/>
            <p:nvPr/>
          </p:nvSpPr>
          <p:spPr>
            <a:xfrm>
              <a:off x="8481715" y="2162374"/>
              <a:ext cx="3012182" cy="1769368"/>
            </a:xfrm>
            <a:prstGeom prst="roundRect">
              <a:avLst>
                <a:gd name="adj" fmla="val 1691"/>
              </a:avLst>
            </a:prstGeom>
            <a:solidFill>
              <a:srgbClr val="F3E7D4"/>
            </a:solidFill>
            <a:ln/>
          </p:spPr>
          <p:txBody>
            <a:bodyPr/>
            <a:lstStyle/>
            <a:p>
              <a:endParaRPr lang="ko-KR" altLang="en-US" sz="150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F4E805C2-C67C-BFCA-55F8-90D9E7F5248E}"/>
                </a:ext>
              </a:extLst>
            </p:cNvPr>
            <p:cNvSpPr/>
            <p:nvPr/>
          </p:nvSpPr>
          <p:spPr>
            <a:xfrm>
              <a:off x="8681145" y="2361804"/>
              <a:ext cx="2346821" cy="293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en-US" sz="1833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협업 도구 활용</a:t>
              </a:r>
              <a:endParaRPr lang="en-US" sz="1833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272A9EE1-1825-14DD-0DFF-A5459FD48DA3}"/>
                </a:ext>
              </a:extLst>
            </p:cNvPr>
            <p:cNvSpPr/>
            <p:nvPr/>
          </p:nvSpPr>
          <p:spPr>
            <a:xfrm>
              <a:off x="8681144" y="2774752"/>
              <a:ext cx="2613323" cy="957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542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Github를 통한 변경 사항 추적 및 관리. Notion으로 계획 공유 및 의사소통.</a:t>
              </a:r>
              <a:endParaRPr lang="en-US" sz="1542" dirty="0"/>
            </a:p>
          </p:txBody>
        </p:sp>
      </p:grpSp>
      <p:sp>
        <p:nvSpPr>
          <p:cNvPr id="9" name="Shape 7">
            <a:extLst>
              <a:ext uri="{FF2B5EF4-FFF2-40B4-BE49-F238E27FC236}">
                <a16:creationId xmlns:a16="http://schemas.microsoft.com/office/drawing/2014/main" id="{45E951D4-2B60-94C0-6A4D-A3DAAB2CBAE5}"/>
              </a:ext>
            </a:extLst>
          </p:cNvPr>
          <p:cNvSpPr/>
          <p:nvPr/>
        </p:nvSpPr>
        <p:spPr>
          <a:xfrm>
            <a:off x="5270104" y="4131171"/>
            <a:ext cx="6223794" cy="1450182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ko-KR" altLang="en-US"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10FD457-1790-0A7B-D054-9D33BF93315D}"/>
              </a:ext>
            </a:extLst>
          </p:cNvPr>
          <p:cNvSpPr/>
          <p:nvPr/>
        </p:nvSpPr>
        <p:spPr>
          <a:xfrm>
            <a:off x="5469533" y="4330601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멘토 활용</a:t>
            </a:r>
            <a:endParaRPr lang="en-US" sz="1833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195CC85-D1B2-2977-A3C6-A92D6652AFCE}"/>
              </a:ext>
            </a:extLst>
          </p:cNvPr>
          <p:cNvSpPr/>
          <p:nvPr/>
        </p:nvSpPr>
        <p:spPr>
          <a:xfrm>
            <a:off x="5469533" y="4743549"/>
            <a:ext cx="582493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학문적/이론적 지도와 개인정보 보호법 및 가명정보 처리에 </a:t>
            </a: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대한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법률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자문.</a:t>
            </a:r>
            <a:endParaRPr lang="en-US" sz="1542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606A6C7-5B8F-E217-A3CB-80201AA2235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35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2">
          <a:extLst>
            <a:ext uri="{FF2B5EF4-FFF2-40B4-BE49-F238E27FC236}">
              <a16:creationId xmlns:a16="http://schemas.microsoft.com/office/drawing/2014/main" id="{4F3C536A-D79C-04D8-A257-8FB3A3C49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D9B20942-4382-0E36-4D19-ACC52217C5D8}"/>
              </a:ext>
            </a:extLst>
          </p:cNvPr>
          <p:cNvSpPr/>
          <p:nvPr/>
        </p:nvSpPr>
        <p:spPr>
          <a:xfrm>
            <a:off x="9553677" y="2702860"/>
            <a:ext cx="2022314" cy="2412613"/>
          </a:xfrm>
          <a:prstGeom prst="roundRect">
            <a:avLst>
              <a:gd name="adj" fmla="val 754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ko-KR" altLang="en-US" sz="15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05BB148-878E-C93D-6737-61DA7B068EAC}"/>
              </a:ext>
            </a:extLst>
          </p:cNvPr>
          <p:cNvSpPr/>
          <p:nvPr/>
        </p:nvSpPr>
        <p:spPr>
          <a:xfrm>
            <a:off x="9618663" y="3774082"/>
            <a:ext cx="2245476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트래픽 </a:t>
            </a: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분산과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대체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용이성을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위한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Micro Service </a:t>
            </a:r>
          </a:p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Architecture 형태 구성.</a:t>
            </a:r>
            <a:endParaRPr lang="en-US" sz="1542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15460B3-0ED7-E1E2-185D-10E4424EB404}"/>
              </a:ext>
            </a:extLst>
          </p:cNvPr>
          <p:cNvSpPr/>
          <p:nvPr/>
        </p:nvSpPr>
        <p:spPr>
          <a:xfrm>
            <a:off x="7338301" y="2695423"/>
            <a:ext cx="2022314" cy="2412613"/>
          </a:xfrm>
          <a:prstGeom prst="roundRect">
            <a:avLst>
              <a:gd name="adj" fmla="val 754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ko-KR" altLang="en-US" sz="15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8036236-8090-81B2-D5CF-41A5DD52C850}"/>
              </a:ext>
            </a:extLst>
          </p:cNvPr>
          <p:cNvSpPr/>
          <p:nvPr/>
        </p:nvSpPr>
        <p:spPr>
          <a:xfrm>
            <a:off x="5122924" y="2699139"/>
            <a:ext cx="2022314" cy="2412613"/>
          </a:xfrm>
          <a:prstGeom prst="roundRect">
            <a:avLst>
              <a:gd name="adj" fmla="val 754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ko-KR" altLang="en-US" sz="1500" dirty="0"/>
          </a:p>
        </p:txBody>
      </p:sp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A7417F99-7291-3263-75A8-E021F028CD96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5024565C-92CD-D8DF-E1D1-D7AB149AE08F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347C1D7E-87FC-5886-AB96-F6D0D8AE6E83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EBBE08A0-B96C-2B22-1876-CAD44D069B1B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part3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3CB34193-7076-6840-4EB5-AAA701FDE3B6}"/>
              </a:ext>
            </a:extLst>
          </p:cNvPr>
          <p:cNvSpPr txBox="1"/>
          <p:nvPr/>
        </p:nvSpPr>
        <p:spPr>
          <a:xfrm>
            <a:off x="888646" y="319330"/>
            <a:ext cx="617255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추진 전략 및 기대효과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ko-KR" alt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구현방법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3BF1DBFD-B4EA-F183-22BA-A2FD59F1F1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4C5DA383-FEC2-3821-BA6E-ED859A121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104" y="2692896"/>
            <a:ext cx="468709" cy="468709"/>
          </a:xfrm>
          <a:prstGeom prst="rect">
            <a:avLst/>
          </a:prstGeom>
          <a:noFill/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33490422-D587-F640-EAB7-B13A1FFA7632}"/>
              </a:ext>
            </a:extLst>
          </p:cNvPr>
          <p:cNvSpPr/>
          <p:nvPr/>
        </p:nvSpPr>
        <p:spPr>
          <a:xfrm>
            <a:off x="5270103" y="3361035"/>
            <a:ext cx="187513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Docker 활용</a:t>
            </a:r>
            <a:endParaRPr lang="en-US" sz="1833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3FB32D83-0898-FD76-264D-1CDEFD898DAB}"/>
              </a:ext>
            </a:extLst>
          </p:cNvPr>
          <p:cNvSpPr/>
          <p:nvPr/>
        </p:nvSpPr>
        <p:spPr>
          <a:xfrm>
            <a:off x="5270103" y="3773983"/>
            <a:ext cx="187513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경량 </a:t>
            </a: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컨테이너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오케스트레이션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서비스로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OS와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의존성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문제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해결.</a:t>
            </a:r>
            <a:endParaRPr lang="en-US" sz="1542" dirty="0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D232C11E-7663-4A5E-FC22-51DBF77C0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383" y="2692896"/>
            <a:ext cx="468709" cy="468709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F3687868-86A2-4407-F39B-D43344741ECA}"/>
              </a:ext>
            </a:extLst>
          </p:cNvPr>
          <p:cNvSpPr/>
          <p:nvPr/>
        </p:nvSpPr>
        <p:spPr>
          <a:xfrm>
            <a:off x="7444383" y="3361035"/>
            <a:ext cx="187513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Kafka Broker</a:t>
            </a:r>
            <a:endParaRPr lang="en-US" sz="1833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F043C69E-32D0-AC63-C7CF-A0D50CFEDDEA}"/>
              </a:ext>
            </a:extLst>
          </p:cNvPr>
          <p:cNvSpPr/>
          <p:nvPr/>
        </p:nvSpPr>
        <p:spPr>
          <a:xfrm>
            <a:off x="7444383" y="3773983"/>
            <a:ext cx="187513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다중 사용자 요청 처리를 위한 </a:t>
            </a: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대규모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sz="1542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데이터</a:t>
            </a:r>
            <a:r>
              <a:rPr lang="en-US" sz="1542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처리 구성.</a:t>
            </a:r>
            <a:endParaRPr lang="en-US" sz="1542" dirty="0"/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1DB18A11-14EB-BA9B-27ED-D2F01F97C8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8663" y="2692896"/>
            <a:ext cx="468808" cy="468808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2D22D0EA-44A0-E4A9-E9B3-F4A95F87ACFF}"/>
              </a:ext>
            </a:extLst>
          </p:cNvPr>
          <p:cNvSpPr/>
          <p:nvPr/>
        </p:nvSpPr>
        <p:spPr>
          <a:xfrm>
            <a:off x="9618663" y="3361135"/>
            <a:ext cx="187523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MSA 구조</a:t>
            </a:r>
            <a:endParaRPr lang="en-US" sz="1833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15F84182-AF53-47A5-1EB5-F8330EF036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19330"/>
            <a:ext cx="4572000" cy="685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90633E1-4C90-C834-E310-1783C0B23C1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79F0F31-589F-E6A8-3C42-BCD1B5A618DD}"/>
              </a:ext>
            </a:extLst>
          </p:cNvPr>
          <p:cNvSpPr/>
          <p:nvPr/>
        </p:nvSpPr>
        <p:spPr>
          <a:xfrm>
            <a:off x="4960592" y="1724639"/>
            <a:ext cx="5436289" cy="4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3300" b="1" dirty="0">
                <a:solidFill>
                  <a:srgbClr val="37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기술적 구현 방법</a:t>
            </a:r>
            <a:endParaRPr lang="en-US" sz="3300" b="1" dirty="0">
              <a:solidFill>
                <a:srgbClr val="3751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153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2">
          <a:extLst>
            <a:ext uri="{FF2B5EF4-FFF2-40B4-BE49-F238E27FC236}">
              <a16:creationId xmlns:a16="http://schemas.microsoft.com/office/drawing/2014/main" id="{33CDFA90-042A-44C3-36AA-E7ADDFC1A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2B232202-EB03-2822-E02E-3C575D1CBD69}"/>
              </a:ext>
            </a:extLst>
          </p:cNvPr>
          <p:cNvSpPr/>
          <p:nvPr/>
        </p:nvSpPr>
        <p:spPr>
          <a:xfrm>
            <a:off x="8077125" y="2862930"/>
            <a:ext cx="3748610" cy="1886429"/>
          </a:xfrm>
          <a:prstGeom prst="roundRect">
            <a:avLst>
              <a:gd name="adj" fmla="val 13098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ko-KR" altLang="en-US" sz="15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86ED88D-F56C-BE4F-18F6-C683909BDC43}"/>
              </a:ext>
            </a:extLst>
          </p:cNvPr>
          <p:cNvSpPr/>
          <p:nvPr/>
        </p:nvSpPr>
        <p:spPr>
          <a:xfrm>
            <a:off x="4261554" y="2862930"/>
            <a:ext cx="3748610" cy="1886429"/>
          </a:xfrm>
          <a:prstGeom prst="roundRect">
            <a:avLst>
              <a:gd name="adj" fmla="val 13098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ko-KR" altLang="en-US" sz="1500" dirty="0"/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05ADF4AD-E043-D15D-075B-9078D202094F}"/>
              </a:ext>
            </a:extLst>
          </p:cNvPr>
          <p:cNvSpPr/>
          <p:nvPr/>
        </p:nvSpPr>
        <p:spPr>
          <a:xfrm>
            <a:off x="445982" y="2862930"/>
            <a:ext cx="3748610" cy="1886429"/>
          </a:xfrm>
          <a:prstGeom prst="roundRect">
            <a:avLst>
              <a:gd name="adj" fmla="val 13098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ko-KR" altLang="en-US" sz="1500" dirty="0"/>
          </a:p>
        </p:txBody>
      </p:sp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17EF19E8-D212-F011-FC78-E4A0C3A61F4E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2649C0F2-F396-B11E-49A4-89BCA38FD0F8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4AB0F9BD-F185-12BA-4402-0A890A61392C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0840FA14-E75B-7608-F81E-B0501F59EC95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part3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A826E2FC-C6F3-C6FE-56CA-8DBCC38DB300}"/>
              </a:ext>
            </a:extLst>
          </p:cNvPr>
          <p:cNvSpPr txBox="1"/>
          <p:nvPr/>
        </p:nvSpPr>
        <p:spPr>
          <a:xfrm>
            <a:off x="888646" y="319330"/>
            <a:ext cx="617255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추진 전략 및 기대효과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ko-KR" alt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역할분담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BD1DD5D4-10AF-811D-8AC4-B6D5DEAAD1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E19A4AB6-BF43-2EC4-A49F-635BF5CCB921}"/>
              </a:ext>
            </a:extLst>
          </p:cNvPr>
          <p:cNvGrpSpPr/>
          <p:nvPr/>
        </p:nvGrpSpPr>
        <p:grpSpPr>
          <a:xfrm>
            <a:off x="698103" y="2558887"/>
            <a:ext cx="10807303" cy="1908968"/>
            <a:chOff x="698103" y="2558887"/>
            <a:chExt cx="10807303" cy="1908968"/>
          </a:xfrm>
        </p:grpSpPr>
        <p:sp>
          <p:nvSpPr>
            <p:cNvPr id="2" name="Text 1">
              <a:extLst>
                <a:ext uri="{FF2B5EF4-FFF2-40B4-BE49-F238E27FC236}">
                  <a16:creationId xmlns:a16="http://schemas.microsoft.com/office/drawing/2014/main" id="{84BC55BA-E783-D005-6216-4D6BD4813C46}"/>
                </a:ext>
              </a:extLst>
            </p:cNvPr>
            <p:cNvSpPr/>
            <p:nvPr/>
          </p:nvSpPr>
          <p:spPr>
            <a:xfrm>
              <a:off x="698104" y="2558887"/>
              <a:ext cx="2346821" cy="293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ko-KR" altLang="en-US" sz="1833" dirty="0">
                  <a:solidFill>
                    <a:srgbClr val="38512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장재혁</a:t>
              </a:r>
              <a:endParaRPr lang="en-US" sz="1833" dirty="0"/>
            </a:p>
          </p:txBody>
        </p:sp>
        <p:sp>
          <p:nvSpPr>
            <p:cNvPr id="14" name="Text 2">
              <a:extLst>
                <a:ext uri="{FF2B5EF4-FFF2-40B4-BE49-F238E27FC236}">
                  <a16:creationId xmlns:a16="http://schemas.microsoft.com/office/drawing/2014/main" id="{DAA366D0-F98C-B21B-29A5-1A845405E9B3}"/>
                </a:ext>
              </a:extLst>
            </p:cNvPr>
            <p:cNvSpPr/>
            <p:nvPr/>
          </p:nvSpPr>
          <p:spPr>
            <a:xfrm>
              <a:off x="698103" y="3051607"/>
              <a:ext cx="3273822" cy="638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39" indent="-285739">
                <a:lnSpc>
                  <a:spcPts val="2500"/>
                </a:lnSpc>
                <a:buSzPct val="100000"/>
                <a:buChar char="•"/>
              </a:pPr>
              <a:r>
                <a:rPr lang="en-US" sz="1542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Python 활용 플랫폼 Agent 프로그램 개발</a:t>
              </a:r>
              <a:endParaRPr lang="en-US" sz="1542" dirty="0"/>
            </a:p>
          </p:txBody>
        </p:sp>
        <p:sp>
          <p:nvSpPr>
            <p:cNvPr id="15" name="Text 3">
              <a:extLst>
                <a:ext uri="{FF2B5EF4-FFF2-40B4-BE49-F238E27FC236}">
                  <a16:creationId xmlns:a16="http://schemas.microsoft.com/office/drawing/2014/main" id="{B11C0D1B-CD06-BA26-41C3-4B290863CFC2}"/>
                </a:ext>
              </a:extLst>
            </p:cNvPr>
            <p:cNvSpPr/>
            <p:nvPr/>
          </p:nvSpPr>
          <p:spPr>
            <a:xfrm>
              <a:off x="698103" y="3759730"/>
              <a:ext cx="3273822" cy="3191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>
                <a:lnSpc>
                  <a:spcPts val="2500"/>
                </a:lnSpc>
                <a:buSzPct val="100000"/>
                <a:buChar char="•"/>
              </a:pPr>
              <a:r>
                <a:rPr lang="en-US" sz="1542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NestJS+Typescript 외부 서버 개발</a:t>
              </a:r>
              <a:endParaRPr lang="en-US" sz="1542" dirty="0"/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D9C271A9-82E5-D8AC-FD43-40D6B52DF0FE}"/>
                </a:ext>
              </a:extLst>
            </p:cNvPr>
            <p:cNvSpPr/>
            <p:nvPr/>
          </p:nvSpPr>
          <p:spPr>
            <a:xfrm>
              <a:off x="698103" y="4148668"/>
              <a:ext cx="3273822" cy="3191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>
                <a:lnSpc>
                  <a:spcPts val="2500"/>
                </a:lnSpc>
                <a:buSzPct val="100000"/>
                <a:buChar char="•"/>
              </a:pPr>
              <a:r>
                <a:rPr lang="en-US" sz="1542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Docker Image 생성 및 배포</a:t>
              </a:r>
              <a:endParaRPr lang="en-US" sz="1542" dirty="0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D943662B-7BC2-306E-F022-4BE211C0BD60}"/>
                </a:ext>
              </a:extLst>
            </p:cNvPr>
            <p:cNvSpPr/>
            <p:nvPr/>
          </p:nvSpPr>
          <p:spPr>
            <a:xfrm>
              <a:off x="4464845" y="2558887"/>
              <a:ext cx="2346821" cy="293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ko-KR" altLang="en-US" sz="1833" dirty="0">
                  <a:solidFill>
                    <a:srgbClr val="38512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권정은</a:t>
              </a:r>
              <a:endParaRPr lang="en-US" sz="1833" dirty="0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ADD00026-4E91-CA5B-7FD0-1158B3873284}"/>
                </a:ext>
              </a:extLst>
            </p:cNvPr>
            <p:cNvSpPr/>
            <p:nvPr/>
          </p:nvSpPr>
          <p:spPr>
            <a:xfrm>
              <a:off x="4464844" y="3051606"/>
              <a:ext cx="3273822" cy="3191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>
                <a:lnSpc>
                  <a:spcPts val="2500"/>
                </a:lnSpc>
                <a:buSzPct val="100000"/>
                <a:buChar char="•"/>
              </a:pPr>
              <a:r>
                <a:rPr lang="en-US" sz="1542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Agent 프로그램 GUI 개발</a:t>
              </a:r>
              <a:endParaRPr lang="en-US" sz="1542" dirty="0"/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20D1493A-4E82-CD63-4DCE-487CAD33FB80}"/>
                </a:ext>
              </a:extLst>
            </p:cNvPr>
            <p:cNvSpPr/>
            <p:nvPr/>
          </p:nvSpPr>
          <p:spPr>
            <a:xfrm>
              <a:off x="4464844" y="3440544"/>
              <a:ext cx="3273822" cy="638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39" indent="-285739">
                <a:lnSpc>
                  <a:spcPts val="2500"/>
                </a:lnSpc>
                <a:buSzPct val="100000"/>
                <a:buChar char="•"/>
              </a:pPr>
              <a:r>
                <a:rPr lang="en-US" sz="1542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Yolo 활용 이미지 가명처리 시스템 개발</a:t>
              </a:r>
              <a:endParaRPr lang="en-US" sz="1542" dirty="0"/>
            </a:p>
          </p:txBody>
        </p:sp>
        <p:sp>
          <p:nvSpPr>
            <p:cNvPr id="20" name="Text 8">
              <a:extLst>
                <a:ext uri="{FF2B5EF4-FFF2-40B4-BE49-F238E27FC236}">
                  <a16:creationId xmlns:a16="http://schemas.microsoft.com/office/drawing/2014/main" id="{71BA8613-8AEA-6813-FAFF-C937DF6E1931}"/>
                </a:ext>
              </a:extLst>
            </p:cNvPr>
            <p:cNvSpPr/>
            <p:nvPr/>
          </p:nvSpPr>
          <p:spPr>
            <a:xfrm>
              <a:off x="4464844" y="4148668"/>
              <a:ext cx="3273822" cy="3191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>
                <a:lnSpc>
                  <a:spcPts val="2500"/>
                </a:lnSpc>
                <a:buSzPct val="100000"/>
                <a:buChar char="•"/>
              </a:pPr>
              <a:r>
                <a:rPr lang="en-US" sz="1542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정형 데이터 가명처리 시스템 개발</a:t>
              </a:r>
              <a:endParaRPr lang="en-US" sz="1542" dirty="0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0F43CF61-0377-8699-C723-F817E4F1C4B6}"/>
                </a:ext>
              </a:extLst>
            </p:cNvPr>
            <p:cNvSpPr/>
            <p:nvPr/>
          </p:nvSpPr>
          <p:spPr>
            <a:xfrm>
              <a:off x="8231585" y="2558887"/>
              <a:ext cx="2346821" cy="293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en-US" sz="1833" dirty="0">
                  <a:solidFill>
                    <a:srgbClr val="38512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수행 방법</a:t>
              </a:r>
              <a:endParaRPr lang="en-US" sz="1833" dirty="0"/>
            </a:p>
          </p:txBody>
        </p:sp>
        <p:sp>
          <p:nvSpPr>
            <p:cNvPr id="22" name="Text 10">
              <a:extLst>
                <a:ext uri="{FF2B5EF4-FFF2-40B4-BE49-F238E27FC236}">
                  <a16:creationId xmlns:a16="http://schemas.microsoft.com/office/drawing/2014/main" id="{816E8072-CD68-C76E-E9CE-56FBFFFBD45C}"/>
                </a:ext>
              </a:extLst>
            </p:cNvPr>
            <p:cNvSpPr/>
            <p:nvPr/>
          </p:nvSpPr>
          <p:spPr>
            <a:xfrm>
              <a:off x="8231584" y="3051606"/>
              <a:ext cx="3273822" cy="3191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>
                <a:lnSpc>
                  <a:spcPts val="2500"/>
                </a:lnSpc>
                <a:buSzPct val="100000"/>
                <a:buChar char="•"/>
              </a:pPr>
              <a:r>
                <a:rPr lang="en-US" sz="1542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요구사항 정의 및 아키텍처 설계</a:t>
              </a:r>
              <a:endParaRPr lang="en-US" sz="1542" dirty="0"/>
            </a:p>
          </p:txBody>
        </p:sp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20B56B48-16F7-47B1-56A1-488EE688A296}"/>
                </a:ext>
              </a:extLst>
            </p:cNvPr>
            <p:cNvSpPr/>
            <p:nvPr/>
          </p:nvSpPr>
          <p:spPr>
            <a:xfrm>
              <a:off x="8231584" y="3440544"/>
              <a:ext cx="3273822" cy="3191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>
                <a:lnSpc>
                  <a:spcPts val="2500"/>
                </a:lnSpc>
                <a:buSzPct val="100000"/>
                <a:buChar char="•"/>
              </a:pPr>
              <a:r>
                <a:rPr lang="en-US" sz="1542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시스템 개발 및 Docker 배포</a:t>
              </a:r>
              <a:endParaRPr lang="en-US" sz="1542" dirty="0"/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63E03DEB-010E-84AF-586D-7CFDB9864869}"/>
                </a:ext>
              </a:extLst>
            </p:cNvPr>
            <p:cNvSpPr/>
            <p:nvPr/>
          </p:nvSpPr>
          <p:spPr>
            <a:xfrm>
              <a:off x="8231584" y="3829481"/>
              <a:ext cx="3273822" cy="3191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39" indent="-285739">
                <a:lnSpc>
                  <a:spcPts val="2500"/>
                </a:lnSpc>
                <a:buSzPct val="100000"/>
                <a:buChar char="•"/>
              </a:pPr>
              <a:r>
                <a:rPr lang="en-US" sz="1542" dirty="0">
                  <a:solidFill>
                    <a:srgbClr val="3A3630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플랫폼 구축 및 테스트</a:t>
              </a:r>
              <a:endParaRPr lang="en-US" sz="1542" dirty="0"/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9C891B85-BD5D-3069-FAFC-EAEB30B04D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87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933E11C5-09AF-5D9B-19AE-F52B11F78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CC89F1BF-630B-ABCC-03A9-1D4ECE539FC8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A47812F4-ED47-D05D-789A-3184C81EE7A7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F43E50B0-92B1-FF84-74E5-61EB5F05D5D5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1437234A-0D6F-2A6C-A37E-AC8048A5ED2F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part3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12A5D085-461E-F7E7-76CD-7D1426D3F6D7}"/>
              </a:ext>
            </a:extLst>
          </p:cNvPr>
          <p:cNvSpPr txBox="1"/>
          <p:nvPr/>
        </p:nvSpPr>
        <p:spPr>
          <a:xfrm>
            <a:off x="888646" y="319330"/>
            <a:ext cx="617255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추진 전략 및 기대효과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진행계획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216CA2EA-A8F5-4482-20EF-069E4F9A34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DA9C5285-05C2-BB9C-4CE3-8479D44075F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925FA4DE-807E-5BE0-19DF-16A242E8E717}"/>
              </a:ext>
            </a:extLst>
          </p:cNvPr>
          <p:cNvCxnSpPr>
            <a:cxnSpLocks/>
          </p:cNvCxnSpPr>
          <p:nvPr/>
        </p:nvCxnSpPr>
        <p:spPr>
          <a:xfrm>
            <a:off x="553472" y="2396020"/>
            <a:ext cx="10630643" cy="0"/>
          </a:xfrm>
          <a:prstGeom prst="line">
            <a:avLst/>
          </a:prstGeom>
          <a:ln>
            <a:solidFill>
              <a:srgbClr val="F4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10F7BF00-2155-3BDE-5A65-070BFC82CABD}"/>
              </a:ext>
            </a:extLst>
          </p:cNvPr>
          <p:cNvGrpSpPr/>
          <p:nvPr/>
        </p:nvGrpSpPr>
        <p:grpSpPr>
          <a:xfrm>
            <a:off x="584856" y="1932391"/>
            <a:ext cx="1098806" cy="1672550"/>
            <a:chOff x="584856" y="1932391"/>
            <a:chExt cx="1098806" cy="1672550"/>
          </a:xfrm>
        </p:grpSpPr>
        <p:sp>
          <p:nvSpPr>
            <p:cNvPr id="8" name="Google Shape;473;p14">
              <a:extLst>
                <a:ext uri="{FF2B5EF4-FFF2-40B4-BE49-F238E27FC236}">
                  <a16:creationId xmlns:a16="http://schemas.microsoft.com/office/drawing/2014/main" id="{06D8767E-C668-F2E9-414D-0345D4BF1F82}"/>
                </a:ext>
              </a:extLst>
            </p:cNvPr>
            <p:cNvSpPr txBox="1"/>
            <p:nvPr/>
          </p:nvSpPr>
          <p:spPr>
            <a:xfrm>
              <a:off x="776127" y="1932391"/>
              <a:ext cx="90753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alt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4.</a:t>
              </a:r>
              <a:r>
                <a:rPr 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sz="10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38F3C8B-48F6-11F5-3C68-41E4998053FE}"/>
                </a:ext>
              </a:extLst>
            </p:cNvPr>
            <p:cNvGrpSpPr/>
            <p:nvPr/>
          </p:nvGrpSpPr>
          <p:grpSpPr>
            <a:xfrm>
              <a:off x="584856" y="2332335"/>
              <a:ext cx="958569" cy="1272606"/>
              <a:chOff x="356258" y="2332335"/>
              <a:chExt cx="958569" cy="1272606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98C3ED67-2AF7-F353-CEDC-859A410CAE2E}"/>
                  </a:ext>
                </a:extLst>
              </p:cNvPr>
              <p:cNvGrpSpPr/>
              <p:nvPr/>
            </p:nvGrpSpPr>
            <p:grpSpPr>
              <a:xfrm>
                <a:off x="776493" y="2332335"/>
                <a:ext cx="112154" cy="1018731"/>
                <a:chOff x="791733" y="1214491"/>
                <a:chExt cx="112154" cy="926119"/>
              </a:xfrm>
            </p:grpSpPr>
            <p:sp>
              <p:nvSpPr>
                <p:cNvPr id="2" name="타원 1">
                  <a:extLst>
                    <a:ext uri="{FF2B5EF4-FFF2-40B4-BE49-F238E27FC236}">
                      <a16:creationId xmlns:a16="http://schemas.microsoft.com/office/drawing/2014/main" id="{8DE5ADDE-169D-ED6F-69B5-02442AC60290}"/>
                    </a:ext>
                  </a:extLst>
                </p:cNvPr>
                <p:cNvSpPr/>
                <p:nvPr/>
              </p:nvSpPr>
              <p:spPr>
                <a:xfrm>
                  <a:off x="791733" y="1214491"/>
                  <a:ext cx="112154" cy="108060"/>
                </a:xfrm>
                <a:prstGeom prst="ellipse">
                  <a:avLst/>
                </a:prstGeom>
                <a:solidFill>
                  <a:srgbClr val="F4E7D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/>
                </a:p>
              </p:txBody>
            </p:sp>
            <p:cxnSp>
              <p:nvCxnSpPr>
                <p:cNvPr id="4" name="직선 연결선[R] 3">
                  <a:extLst>
                    <a:ext uri="{FF2B5EF4-FFF2-40B4-BE49-F238E27FC236}">
                      <a16:creationId xmlns:a16="http://schemas.microsoft.com/office/drawing/2014/main" id="{408BA509-E4FA-D3C0-1326-4026C6733D44}"/>
                    </a:ext>
                  </a:extLst>
                </p:cNvPr>
                <p:cNvCxnSpPr>
                  <a:cxnSpLocks/>
                  <a:stCxn id="2" idx="4"/>
                  <a:endCxn id="13" idx="0"/>
                </p:cNvCxnSpPr>
                <p:nvPr/>
              </p:nvCxnSpPr>
              <p:spPr>
                <a:xfrm>
                  <a:off x="847810" y="1322551"/>
                  <a:ext cx="2973" cy="818059"/>
                </a:xfrm>
                <a:prstGeom prst="line">
                  <a:avLst/>
                </a:prstGeom>
                <a:ln>
                  <a:solidFill>
                    <a:srgbClr val="F4E7D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Google Shape;499;p14">
                <a:extLst>
                  <a:ext uri="{FF2B5EF4-FFF2-40B4-BE49-F238E27FC236}">
                    <a16:creationId xmlns:a16="http://schemas.microsoft.com/office/drawing/2014/main" id="{F9953D27-F5A1-5741-5B30-EAD0C086AAB2}"/>
                  </a:ext>
                </a:extLst>
              </p:cNvPr>
              <p:cNvSpPr txBox="1"/>
              <p:nvPr/>
            </p:nvSpPr>
            <p:spPr>
              <a:xfrm>
                <a:off x="356258" y="3351066"/>
                <a:ext cx="958569" cy="25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주제 선정</a:t>
                </a: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07F7CE2D-889A-170A-FEF8-07B43D70ACFD}"/>
              </a:ext>
            </a:extLst>
          </p:cNvPr>
          <p:cNvGrpSpPr/>
          <p:nvPr/>
        </p:nvGrpSpPr>
        <p:grpSpPr>
          <a:xfrm>
            <a:off x="1121840" y="1932391"/>
            <a:ext cx="2000701" cy="2706923"/>
            <a:chOff x="1350442" y="1932391"/>
            <a:chExt cx="2000701" cy="2706923"/>
          </a:xfrm>
        </p:grpSpPr>
        <p:sp>
          <p:nvSpPr>
            <p:cNvPr id="10" name="Google Shape;473;p14">
              <a:extLst>
                <a:ext uri="{FF2B5EF4-FFF2-40B4-BE49-F238E27FC236}">
                  <a16:creationId xmlns:a16="http://schemas.microsoft.com/office/drawing/2014/main" id="{C470B6FF-7212-C6CF-74A3-69968E060EB6}"/>
                </a:ext>
              </a:extLst>
            </p:cNvPr>
            <p:cNvSpPr txBox="1"/>
            <p:nvPr/>
          </p:nvSpPr>
          <p:spPr>
            <a:xfrm>
              <a:off x="1996850" y="1932391"/>
              <a:ext cx="90753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alt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5.01</a:t>
              </a:r>
              <a:endParaRPr sz="10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CF5A4B1C-562D-A105-9BCF-38EF3140D373}"/>
                </a:ext>
              </a:extLst>
            </p:cNvPr>
            <p:cNvGrpSpPr/>
            <p:nvPr/>
          </p:nvGrpSpPr>
          <p:grpSpPr>
            <a:xfrm>
              <a:off x="1350442" y="2334960"/>
              <a:ext cx="2000701" cy="2304354"/>
              <a:chOff x="778458" y="2334960"/>
              <a:chExt cx="2000701" cy="2304354"/>
            </a:xfrm>
          </p:grpSpPr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549C09E8-07FC-61AB-1344-64B9513F1D99}"/>
                  </a:ext>
                </a:extLst>
              </p:cNvPr>
              <p:cNvGrpSpPr/>
              <p:nvPr/>
            </p:nvGrpSpPr>
            <p:grpSpPr>
              <a:xfrm>
                <a:off x="1717171" y="2334960"/>
                <a:ext cx="112154" cy="2050479"/>
                <a:chOff x="791733" y="1214491"/>
                <a:chExt cx="112154" cy="1864072"/>
              </a:xfrm>
            </p:grpSpPr>
            <p:sp>
              <p:nvSpPr>
                <p:cNvPr id="18" name="타원 17">
                  <a:extLst>
                    <a:ext uri="{FF2B5EF4-FFF2-40B4-BE49-F238E27FC236}">
                      <a16:creationId xmlns:a16="http://schemas.microsoft.com/office/drawing/2014/main" id="{ABCAF151-E511-00FB-796C-007D5616F762}"/>
                    </a:ext>
                  </a:extLst>
                </p:cNvPr>
                <p:cNvSpPr/>
                <p:nvPr/>
              </p:nvSpPr>
              <p:spPr>
                <a:xfrm>
                  <a:off x="791733" y="1214491"/>
                  <a:ext cx="112154" cy="108060"/>
                </a:xfrm>
                <a:prstGeom prst="ellipse">
                  <a:avLst/>
                </a:prstGeom>
                <a:solidFill>
                  <a:srgbClr val="F4E7D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/>
                </a:p>
              </p:txBody>
            </p:sp>
            <p:cxnSp>
              <p:nvCxnSpPr>
                <p:cNvPr id="19" name="직선 연결선[R] 18">
                  <a:extLst>
                    <a:ext uri="{FF2B5EF4-FFF2-40B4-BE49-F238E27FC236}">
                      <a16:creationId xmlns:a16="http://schemas.microsoft.com/office/drawing/2014/main" id="{0DE3EE8A-A279-8545-7DA3-03F13471D913}"/>
                    </a:ext>
                  </a:extLst>
                </p:cNvPr>
                <p:cNvCxnSpPr>
                  <a:cxnSpLocks/>
                  <a:stCxn id="18" idx="4"/>
                  <a:endCxn id="22" idx="0"/>
                </p:cNvCxnSpPr>
                <p:nvPr/>
              </p:nvCxnSpPr>
              <p:spPr>
                <a:xfrm>
                  <a:off x="847810" y="1322551"/>
                  <a:ext cx="5561" cy="1756012"/>
                </a:xfrm>
                <a:prstGeom prst="line">
                  <a:avLst/>
                </a:prstGeom>
                <a:ln>
                  <a:solidFill>
                    <a:srgbClr val="F4E7D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Google Shape;499;p14">
                <a:extLst>
                  <a:ext uri="{FF2B5EF4-FFF2-40B4-BE49-F238E27FC236}">
                    <a16:creationId xmlns:a16="http://schemas.microsoft.com/office/drawing/2014/main" id="{260EC3C1-1FE6-484E-B351-AD05E2413969}"/>
                  </a:ext>
                </a:extLst>
              </p:cNvPr>
              <p:cNvSpPr txBox="1"/>
              <p:nvPr/>
            </p:nvSpPr>
            <p:spPr>
              <a:xfrm>
                <a:off x="778458" y="4385439"/>
                <a:ext cx="2000701" cy="25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개인정보 관련 법안</a:t>
                </a:r>
                <a:r>
                  <a:rPr lang="en-US" altLang="ko-KR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 </a:t>
                </a: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조사</a:t>
                </a: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9F520A11-5F02-FAB3-060C-FAB65762BE54}"/>
              </a:ext>
            </a:extLst>
          </p:cNvPr>
          <p:cNvGrpSpPr/>
          <p:nvPr/>
        </p:nvGrpSpPr>
        <p:grpSpPr>
          <a:xfrm>
            <a:off x="2049185" y="1932391"/>
            <a:ext cx="2558925" cy="1753663"/>
            <a:chOff x="2337941" y="1932391"/>
            <a:chExt cx="2558925" cy="1753663"/>
          </a:xfrm>
        </p:grpSpPr>
        <p:sp>
          <p:nvSpPr>
            <p:cNvPr id="11" name="Google Shape;473;p14">
              <a:extLst>
                <a:ext uri="{FF2B5EF4-FFF2-40B4-BE49-F238E27FC236}">
                  <a16:creationId xmlns:a16="http://schemas.microsoft.com/office/drawing/2014/main" id="{30902B92-6E37-7214-D394-1F8671595FAA}"/>
                </a:ext>
              </a:extLst>
            </p:cNvPr>
            <p:cNvSpPr txBox="1"/>
            <p:nvPr/>
          </p:nvSpPr>
          <p:spPr>
            <a:xfrm>
              <a:off x="3217573" y="1932391"/>
              <a:ext cx="90753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alt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5.02</a:t>
              </a:r>
              <a:endParaRPr sz="10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B985103-E8BE-D35E-FBD9-E7E97D4C3174}"/>
                </a:ext>
              </a:extLst>
            </p:cNvPr>
            <p:cNvGrpSpPr/>
            <p:nvPr/>
          </p:nvGrpSpPr>
          <p:grpSpPr>
            <a:xfrm>
              <a:off x="2337941" y="2332337"/>
              <a:ext cx="2558925" cy="1353717"/>
              <a:chOff x="-446893" y="2332335"/>
              <a:chExt cx="2558925" cy="1353717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454ADAF4-FF48-8744-5332-A3270BC9E1C6}"/>
                  </a:ext>
                </a:extLst>
              </p:cNvPr>
              <p:cNvGrpSpPr/>
              <p:nvPr/>
            </p:nvGrpSpPr>
            <p:grpSpPr>
              <a:xfrm>
                <a:off x="776493" y="2332335"/>
                <a:ext cx="112154" cy="1099842"/>
                <a:chOff x="791733" y="1214491"/>
                <a:chExt cx="112154" cy="999856"/>
              </a:xfrm>
            </p:grpSpPr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5BE7D4FE-8FCB-541A-0FC2-4BFC6DB77762}"/>
                    </a:ext>
                  </a:extLst>
                </p:cNvPr>
                <p:cNvSpPr/>
                <p:nvPr/>
              </p:nvSpPr>
              <p:spPr>
                <a:xfrm>
                  <a:off x="791733" y="1214491"/>
                  <a:ext cx="112154" cy="108060"/>
                </a:xfrm>
                <a:prstGeom prst="ellipse">
                  <a:avLst/>
                </a:prstGeom>
                <a:solidFill>
                  <a:srgbClr val="F4E7D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/>
                </a:p>
              </p:txBody>
            </p:sp>
            <p:cxnSp>
              <p:nvCxnSpPr>
                <p:cNvPr id="32" name="직선 연결선[R] 31">
                  <a:extLst>
                    <a:ext uri="{FF2B5EF4-FFF2-40B4-BE49-F238E27FC236}">
                      <a16:creationId xmlns:a16="http://schemas.microsoft.com/office/drawing/2014/main" id="{F1904E6C-32B1-DBC2-1BF0-56CABA732163}"/>
                    </a:ext>
                  </a:extLst>
                </p:cNvPr>
                <p:cNvCxnSpPr>
                  <a:cxnSpLocks/>
                  <a:stCxn id="31" idx="4"/>
                  <a:endCxn id="30" idx="0"/>
                </p:cNvCxnSpPr>
                <p:nvPr/>
              </p:nvCxnSpPr>
              <p:spPr>
                <a:xfrm>
                  <a:off x="847810" y="1322551"/>
                  <a:ext cx="0" cy="891796"/>
                </a:xfrm>
                <a:prstGeom prst="line">
                  <a:avLst/>
                </a:prstGeom>
                <a:ln>
                  <a:solidFill>
                    <a:srgbClr val="F4E7D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Google Shape;499;p14">
                <a:extLst>
                  <a:ext uri="{FF2B5EF4-FFF2-40B4-BE49-F238E27FC236}">
                    <a16:creationId xmlns:a16="http://schemas.microsoft.com/office/drawing/2014/main" id="{1E7A0D14-F758-9C28-2A0C-E5F786CC247E}"/>
                  </a:ext>
                </a:extLst>
              </p:cNvPr>
              <p:cNvSpPr txBox="1"/>
              <p:nvPr/>
            </p:nvSpPr>
            <p:spPr>
              <a:xfrm>
                <a:off x="-446893" y="3432177"/>
                <a:ext cx="2558925" cy="25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정형데이터 가명처리 시스템 개발</a:t>
                </a: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E790FE74-BFAF-9AB3-B45B-C29ABA58AFB2}"/>
              </a:ext>
            </a:extLst>
          </p:cNvPr>
          <p:cNvGrpSpPr/>
          <p:nvPr/>
        </p:nvGrpSpPr>
        <p:grpSpPr>
          <a:xfrm>
            <a:off x="3037446" y="1932391"/>
            <a:ext cx="2963273" cy="4124269"/>
            <a:chOff x="3410426" y="1932391"/>
            <a:chExt cx="2963273" cy="4124269"/>
          </a:xfrm>
        </p:grpSpPr>
        <p:sp>
          <p:nvSpPr>
            <p:cNvPr id="12" name="Google Shape;473;p14">
              <a:extLst>
                <a:ext uri="{FF2B5EF4-FFF2-40B4-BE49-F238E27FC236}">
                  <a16:creationId xmlns:a16="http://schemas.microsoft.com/office/drawing/2014/main" id="{65559D38-F58D-4E8A-194A-3F244C6A8DE8}"/>
                </a:ext>
              </a:extLst>
            </p:cNvPr>
            <p:cNvSpPr txBox="1"/>
            <p:nvPr/>
          </p:nvSpPr>
          <p:spPr>
            <a:xfrm>
              <a:off x="4438296" y="1932391"/>
              <a:ext cx="90753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alt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5.03</a:t>
              </a:r>
              <a:endParaRPr sz="10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09146740-CDE0-4E64-FBD5-CA14798CCA36}"/>
                </a:ext>
              </a:extLst>
            </p:cNvPr>
            <p:cNvGrpSpPr/>
            <p:nvPr/>
          </p:nvGrpSpPr>
          <p:grpSpPr>
            <a:xfrm>
              <a:off x="3410426" y="2334962"/>
              <a:ext cx="2963273" cy="3721698"/>
              <a:chOff x="282206" y="2334960"/>
              <a:chExt cx="2963273" cy="3721698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7E70229B-7B40-ACE2-A2FE-0FB47BE493AE}"/>
                  </a:ext>
                </a:extLst>
              </p:cNvPr>
              <p:cNvGrpSpPr/>
              <p:nvPr/>
            </p:nvGrpSpPr>
            <p:grpSpPr>
              <a:xfrm>
                <a:off x="1717171" y="2334960"/>
                <a:ext cx="112154" cy="2821492"/>
                <a:chOff x="791733" y="1214491"/>
                <a:chExt cx="112154" cy="2564993"/>
              </a:xfrm>
            </p:grpSpPr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47F82BDF-32A7-DD78-BC04-ECCD7EAEC6E6}"/>
                    </a:ext>
                  </a:extLst>
                </p:cNvPr>
                <p:cNvSpPr/>
                <p:nvPr/>
              </p:nvSpPr>
              <p:spPr>
                <a:xfrm>
                  <a:off x="791733" y="1214491"/>
                  <a:ext cx="112154" cy="108060"/>
                </a:xfrm>
                <a:prstGeom prst="ellipse">
                  <a:avLst/>
                </a:prstGeom>
                <a:solidFill>
                  <a:srgbClr val="F4E7D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/>
                </a:p>
              </p:txBody>
            </p:sp>
            <p:cxnSp>
              <p:nvCxnSpPr>
                <p:cNvPr id="38" name="직선 연결선[R] 37">
                  <a:extLst>
                    <a:ext uri="{FF2B5EF4-FFF2-40B4-BE49-F238E27FC236}">
                      <a16:creationId xmlns:a16="http://schemas.microsoft.com/office/drawing/2014/main" id="{8C286BA5-C281-CB5F-A813-0853D534C984}"/>
                    </a:ext>
                  </a:extLst>
                </p:cNvPr>
                <p:cNvCxnSpPr>
                  <a:cxnSpLocks/>
                  <a:stCxn id="37" idx="4"/>
                  <a:endCxn id="36" idx="0"/>
                </p:cNvCxnSpPr>
                <p:nvPr/>
              </p:nvCxnSpPr>
              <p:spPr>
                <a:xfrm flipH="1">
                  <a:off x="838405" y="1322551"/>
                  <a:ext cx="9405" cy="2456933"/>
                </a:xfrm>
                <a:prstGeom prst="line">
                  <a:avLst/>
                </a:prstGeom>
                <a:ln>
                  <a:solidFill>
                    <a:srgbClr val="F4E7D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Google Shape;499;p14">
                <a:extLst>
                  <a:ext uri="{FF2B5EF4-FFF2-40B4-BE49-F238E27FC236}">
                    <a16:creationId xmlns:a16="http://schemas.microsoft.com/office/drawing/2014/main" id="{3320D70B-2D77-3754-A326-DA8481D274D0}"/>
                  </a:ext>
                </a:extLst>
              </p:cNvPr>
              <p:cNvSpPr txBox="1"/>
              <p:nvPr/>
            </p:nvSpPr>
            <p:spPr>
              <a:xfrm>
                <a:off x="282206" y="5156452"/>
                <a:ext cx="2963273" cy="900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비정형데이터 가명처리 시스템 개발</a:t>
                </a: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Agent, Middle Server</a:t>
                </a: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 구축과 통신 테스트</a:t>
                </a: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8E0AB74D-F1A2-BD3C-29FA-62ADC4B2F6E6}"/>
              </a:ext>
            </a:extLst>
          </p:cNvPr>
          <p:cNvGrpSpPr/>
          <p:nvPr/>
        </p:nvGrpSpPr>
        <p:grpSpPr>
          <a:xfrm>
            <a:off x="4537638" y="1932391"/>
            <a:ext cx="2954814" cy="2193223"/>
            <a:chOff x="4934680" y="1932391"/>
            <a:chExt cx="2954814" cy="2193223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3832D75F-E100-1D4A-D4A6-046308AD526C}"/>
                </a:ext>
              </a:extLst>
            </p:cNvPr>
            <p:cNvGrpSpPr/>
            <p:nvPr/>
          </p:nvGrpSpPr>
          <p:grpSpPr>
            <a:xfrm>
              <a:off x="4934680" y="2332341"/>
              <a:ext cx="2954814" cy="1793273"/>
              <a:chOff x="-646995" y="2332336"/>
              <a:chExt cx="2954814" cy="1793273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E43403A2-8A92-0491-B2DA-FE4D4909B1C9}"/>
                  </a:ext>
                </a:extLst>
              </p:cNvPr>
              <p:cNvGrpSpPr/>
              <p:nvPr/>
            </p:nvGrpSpPr>
            <p:grpSpPr>
              <a:xfrm>
                <a:off x="776493" y="2332336"/>
                <a:ext cx="112154" cy="1054650"/>
                <a:chOff x="791733" y="1214491"/>
                <a:chExt cx="112154" cy="958772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64A0FDFC-410F-3007-7B75-99C342747373}"/>
                    </a:ext>
                  </a:extLst>
                </p:cNvPr>
                <p:cNvSpPr/>
                <p:nvPr/>
              </p:nvSpPr>
              <p:spPr>
                <a:xfrm>
                  <a:off x="791733" y="1214491"/>
                  <a:ext cx="112154" cy="108060"/>
                </a:xfrm>
                <a:prstGeom prst="ellipse">
                  <a:avLst/>
                </a:prstGeom>
                <a:solidFill>
                  <a:srgbClr val="F4E7D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/>
                </a:p>
              </p:txBody>
            </p:sp>
            <p:cxnSp>
              <p:nvCxnSpPr>
                <p:cNvPr id="44" name="직선 연결선[R] 43">
                  <a:extLst>
                    <a:ext uri="{FF2B5EF4-FFF2-40B4-BE49-F238E27FC236}">
                      <a16:creationId xmlns:a16="http://schemas.microsoft.com/office/drawing/2014/main" id="{89EBFB65-3223-A3B8-C5FE-0B1F6C47B3BC}"/>
                    </a:ext>
                  </a:extLst>
                </p:cNvPr>
                <p:cNvCxnSpPr>
                  <a:cxnSpLocks/>
                  <a:stCxn id="43" idx="4"/>
                  <a:endCxn id="42" idx="0"/>
                </p:cNvCxnSpPr>
                <p:nvPr/>
              </p:nvCxnSpPr>
              <p:spPr>
                <a:xfrm flipH="1">
                  <a:off x="845652" y="1322551"/>
                  <a:ext cx="2158" cy="850712"/>
                </a:xfrm>
                <a:prstGeom prst="line">
                  <a:avLst/>
                </a:prstGeom>
                <a:ln>
                  <a:solidFill>
                    <a:srgbClr val="F4E7D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Google Shape;499;p14">
                <a:extLst>
                  <a:ext uri="{FF2B5EF4-FFF2-40B4-BE49-F238E27FC236}">
                    <a16:creationId xmlns:a16="http://schemas.microsoft.com/office/drawing/2014/main" id="{3B5BDF05-0913-CB6E-1313-4851F583DCE1}"/>
                  </a:ext>
                </a:extLst>
              </p:cNvPr>
              <p:cNvSpPr txBox="1"/>
              <p:nvPr/>
            </p:nvSpPr>
            <p:spPr>
              <a:xfrm>
                <a:off x="-646995" y="3386986"/>
                <a:ext cx="2954814" cy="7386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가명처리 시스템 </a:t>
                </a:r>
                <a:r>
                  <a:rPr lang="en-US" altLang="ko-KR" sz="1050" dirty="0" err="1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doker</a:t>
                </a:r>
                <a:r>
                  <a:rPr lang="en-US" altLang="ko-KR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 image</a:t>
                </a: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생성</a:t>
                </a:r>
                <a:r>
                  <a:rPr lang="en-US" altLang="ko-KR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 </a:t>
                </a: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및 배포</a:t>
                </a: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  <a:p>
                <a:pPr marL="171450" indent="-171450" algn="ctr">
                  <a:buFont typeface="Arial" panose="020B0604020202020204" pitchFamily="34" charset="0"/>
                  <a:buChar char="•"/>
                </a:pPr>
                <a:r>
                  <a:rPr lang="en-US" altLang="ko-KR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Agent GUI</a:t>
                </a: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 개발</a:t>
                </a: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" name="Google Shape;473;p14">
              <a:extLst>
                <a:ext uri="{FF2B5EF4-FFF2-40B4-BE49-F238E27FC236}">
                  <a16:creationId xmlns:a16="http://schemas.microsoft.com/office/drawing/2014/main" id="{D27C8738-D3FD-2246-727E-A2C28FDA4CBC}"/>
                </a:ext>
              </a:extLst>
            </p:cNvPr>
            <p:cNvSpPr txBox="1"/>
            <p:nvPr/>
          </p:nvSpPr>
          <p:spPr>
            <a:xfrm>
              <a:off x="5968746" y="1932391"/>
              <a:ext cx="90753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alt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5.05</a:t>
              </a:r>
              <a:endParaRPr sz="10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56F352B9-38F4-BFC2-F128-306F823DB72F}"/>
              </a:ext>
            </a:extLst>
          </p:cNvPr>
          <p:cNvGrpSpPr/>
          <p:nvPr/>
        </p:nvGrpSpPr>
        <p:grpSpPr>
          <a:xfrm>
            <a:off x="6327989" y="1932391"/>
            <a:ext cx="2424769" cy="3358688"/>
            <a:chOff x="6592683" y="1932391"/>
            <a:chExt cx="2424769" cy="3358688"/>
          </a:xfrm>
        </p:grpSpPr>
        <p:sp>
          <p:nvSpPr>
            <p:cNvPr id="57" name="Google Shape;473;p14">
              <a:extLst>
                <a:ext uri="{FF2B5EF4-FFF2-40B4-BE49-F238E27FC236}">
                  <a16:creationId xmlns:a16="http://schemas.microsoft.com/office/drawing/2014/main" id="{64E982C2-ADB1-8D32-6C5B-8B6E7BD23CA4}"/>
                </a:ext>
              </a:extLst>
            </p:cNvPr>
            <p:cNvSpPr txBox="1"/>
            <p:nvPr/>
          </p:nvSpPr>
          <p:spPr>
            <a:xfrm>
              <a:off x="7499197" y="1932391"/>
              <a:ext cx="90753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alt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5.07</a:t>
              </a:r>
              <a:endParaRPr sz="10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82E3B39D-0BE1-2DB6-877E-BB5502044922}"/>
                </a:ext>
              </a:extLst>
            </p:cNvPr>
            <p:cNvGrpSpPr/>
            <p:nvPr/>
          </p:nvGrpSpPr>
          <p:grpSpPr>
            <a:xfrm>
              <a:off x="6592683" y="2342980"/>
              <a:ext cx="2424769" cy="2948099"/>
              <a:chOff x="544749" y="2334960"/>
              <a:chExt cx="2424769" cy="2948099"/>
            </a:xfrm>
          </p:grpSpPr>
          <p:grpSp>
            <p:nvGrpSpPr>
              <p:cNvPr id="128" name="그룹 127">
                <a:extLst>
                  <a:ext uri="{FF2B5EF4-FFF2-40B4-BE49-F238E27FC236}">
                    <a16:creationId xmlns:a16="http://schemas.microsoft.com/office/drawing/2014/main" id="{4928640C-5865-E11A-5319-5C0494ABCA4D}"/>
                  </a:ext>
                </a:extLst>
              </p:cNvPr>
              <p:cNvGrpSpPr/>
              <p:nvPr/>
            </p:nvGrpSpPr>
            <p:grpSpPr>
              <a:xfrm>
                <a:off x="1717171" y="2334960"/>
                <a:ext cx="112154" cy="2371058"/>
                <a:chOff x="791733" y="1214491"/>
                <a:chExt cx="112154" cy="2155508"/>
              </a:xfrm>
            </p:grpSpPr>
            <p:sp>
              <p:nvSpPr>
                <p:cNvPr id="130" name="타원 129">
                  <a:extLst>
                    <a:ext uri="{FF2B5EF4-FFF2-40B4-BE49-F238E27FC236}">
                      <a16:creationId xmlns:a16="http://schemas.microsoft.com/office/drawing/2014/main" id="{98C7841D-4699-B178-3702-4E9F5F29824E}"/>
                    </a:ext>
                  </a:extLst>
                </p:cNvPr>
                <p:cNvSpPr/>
                <p:nvPr/>
              </p:nvSpPr>
              <p:spPr>
                <a:xfrm>
                  <a:off x="791733" y="1214491"/>
                  <a:ext cx="112154" cy="108060"/>
                </a:xfrm>
                <a:prstGeom prst="ellipse">
                  <a:avLst/>
                </a:prstGeom>
                <a:solidFill>
                  <a:srgbClr val="F4E7D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/>
                </a:p>
              </p:txBody>
            </p:sp>
            <p:cxnSp>
              <p:nvCxnSpPr>
                <p:cNvPr id="131" name="직선 연결선[R] 130">
                  <a:extLst>
                    <a:ext uri="{FF2B5EF4-FFF2-40B4-BE49-F238E27FC236}">
                      <a16:creationId xmlns:a16="http://schemas.microsoft.com/office/drawing/2014/main" id="{6B242204-B2AB-FF86-4A37-8B85F452D577}"/>
                    </a:ext>
                  </a:extLst>
                </p:cNvPr>
                <p:cNvCxnSpPr>
                  <a:cxnSpLocks/>
                  <a:stCxn id="130" idx="4"/>
                  <a:endCxn id="129" idx="0"/>
                </p:cNvCxnSpPr>
                <p:nvPr/>
              </p:nvCxnSpPr>
              <p:spPr>
                <a:xfrm flipH="1">
                  <a:off x="831696" y="1322551"/>
                  <a:ext cx="16114" cy="2047448"/>
                </a:xfrm>
                <a:prstGeom prst="line">
                  <a:avLst/>
                </a:prstGeom>
                <a:ln>
                  <a:solidFill>
                    <a:srgbClr val="F4E7D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9" name="Google Shape;499;p14">
                <a:extLst>
                  <a:ext uri="{FF2B5EF4-FFF2-40B4-BE49-F238E27FC236}">
                    <a16:creationId xmlns:a16="http://schemas.microsoft.com/office/drawing/2014/main" id="{8C488C28-BF81-DC57-AADD-C53E2DD53539}"/>
                  </a:ext>
                </a:extLst>
              </p:cNvPr>
              <p:cNvSpPr txBox="1"/>
              <p:nvPr/>
            </p:nvSpPr>
            <p:spPr>
              <a:xfrm>
                <a:off x="544749" y="4706018"/>
                <a:ext cx="2424769" cy="577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Metadata Sever </a:t>
                </a: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구현</a:t>
                </a: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  <a:p>
                <a:pPr marR="0"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 통신테스트</a:t>
                </a: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98915CB8-4B16-4D6A-A3CD-8F6FE034D1B1}"/>
              </a:ext>
            </a:extLst>
          </p:cNvPr>
          <p:cNvGrpSpPr/>
          <p:nvPr/>
        </p:nvGrpSpPr>
        <p:grpSpPr>
          <a:xfrm>
            <a:off x="8228202" y="1932391"/>
            <a:ext cx="1952376" cy="2205439"/>
            <a:chOff x="8360548" y="1932391"/>
            <a:chExt cx="1952376" cy="2205439"/>
          </a:xfrm>
        </p:grpSpPr>
        <p:sp>
          <p:nvSpPr>
            <p:cNvPr id="58" name="Google Shape;473;p14">
              <a:extLst>
                <a:ext uri="{FF2B5EF4-FFF2-40B4-BE49-F238E27FC236}">
                  <a16:creationId xmlns:a16="http://schemas.microsoft.com/office/drawing/2014/main" id="{328EFF40-5DD7-5BF6-38E5-121B5CA3B85C}"/>
                </a:ext>
              </a:extLst>
            </p:cNvPr>
            <p:cNvSpPr txBox="1"/>
            <p:nvPr/>
          </p:nvSpPr>
          <p:spPr>
            <a:xfrm>
              <a:off x="9031554" y="1932391"/>
              <a:ext cx="90753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alt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5.</a:t>
              </a:r>
              <a:r>
                <a:rPr lang="ko-KR" altLang="en-US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alt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sz="10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8C236AE8-4435-51CB-B8A7-B60E30E241E2}"/>
                </a:ext>
              </a:extLst>
            </p:cNvPr>
            <p:cNvGrpSpPr/>
            <p:nvPr/>
          </p:nvGrpSpPr>
          <p:grpSpPr>
            <a:xfrm>
              <a:off x="8360548" y="2342980"/>
              <a:ext cx="1952376" cy="1794850"/>
              <a:chOff x="-140841" y="2332335"/>
              <a:chExt cx="1952376" cy="1794850"/>
            </a:xfrm>
          </p:grpSpPr>
          <p:grpSp>
            <p:nvGrpSpPr>
              <p:cNvPr id="133" name="그룹 132">
                <a:extLst>
                  <a:ext uri="{FF2B5EF4-FFF2-40B4-BE49-F238E27FC236}">
                    <a16:creationId xmlns:a16="http://schemas.microsoft.com/office/drawing/2014/main" id="{0C7B376C-6A58-8E74-21F1-917E8A3186BC}"/>
                  </a:ext>
                </a:extLst>
              </p:cNvPr>
              <p:cNvGrpSpPr/>
              <p:nvPr/>
            </p:nvGrpSpPr>
            <p:grpSpPr>
              <a:xfrm>
                <a:off x="776493" y="2332335"/>
                <a:ext cx="112154" cy="1056227"/>
                <a:chOff x="791733" y="1214491"/>
                <a:chExt cx="112154" cy="960206"/>
              </a:xfrm>
            </p:grpSpPr>
            <p:sp>
              <p:nvSpPr>
                <p:cNvPr id="135" name="타원 134">
                  <a:extLst>
                    <a:ext uri="{FF2B5EF4-FFF2-40B4-BE49-F238E27FC236}">
                      <a16:creationId xmlns:a16="http://schemas.microsoft.com/office/drawing/2014/main" id="{65F025F1-D1A4-9ADB-5C7D-A1D952C36EB4}"/>
                    </a:ext>
                  </a:extLst>
                </p:cNvPr>
                <p:cNvSpPr/>
                <p:nvPr/>
              </p:nvSpPr>
              <p:spPr>
                <a:xfrm>
                  <a:off x="791733" y="1214491"/>
                  <a:ext cx="112154" cy="108060"/>
                </a:xfrm>
                <a:prstGeom prst="ellipse">
                  <a:avLst/>
                </a:prstGeom>
                <a:solidFill>
                  <a:srgbClr val="F4E7D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/>
                </a:p>
              </p:txBody>
            </p:sp>
            <p:cxnSp>
              <p:nvCxnSpPr>
                <p:cNvPr id="136" name="직선 연결선[R] 135">
                  <a:extLst>
                    <a:ext uri="{FF2B5EF4-FFF2-40B4-BE49-F238E27FC236}">
                      <a16:creationId xmlns:a16="http://schemas.microsoft.com/office/drawing/2014/main" id="{DA631F63-C71C-75F8-CC24-36F1717303BC}"/>
                    </a:ext>
                  </a:extLst>
                </p:cNvPr>
                <p:cNvCxnSpPr>
                  <a:cxnSpLocks/>
                  <a:stCxn id="135" idx="4"/>
                  <a:endCxn id="134" idx="0"/>
                </p:cNvCxnSpPr>
                <p:nvPr/>
              </p:nvCxnSpPr>
              <p:spPr>
                <a:xfrm>
                  <a:off x="847810" y="1322551"/>
                  <a:ext cx="2777" cy="852146"/>
                </a:xfrm>
                <a:prstGeom prst="line">
                  <a:avLst/>
                </a:prstGeom>
                <a:ln>
                  <a:solidFill>
                    <a:srgbClr val="F4E7D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4" name="Google Shape;499;p14">
                <a:extLst>
                  <a:ext uri="{FF2B5EF4-FFF2-40B4-BE49-F238E27FC236}">
                    <a16:creationId xmlns:a16="http://schemas.microsoft.com/office/drawing/2014/main" id="{2E57C5FF-CA74-B182-8C7C-D344EDC0D298}"/>
                  </a:ext>
                </a:extLst>
              </p:cNvPr>
              <p:cNvSpPr txBox="1"/>
              <p:nvPr/>
            </p:nvSpPr>
            <p:spPr>
              <a:xfrm>
                <a:off x="-140841" y="3388562"/>
                <a:ext cx="1952376" cy="7386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전체 서버 통합 테스트</a:t>
                </a: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Kafka</a:t>
                </a: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도입</a:t>
                </a: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37C98EDC-0DC9-C634-1989-F7824ECDC58A}"/>
              </a:ext>
            </a:extLst>
          </p:cNvPr>
          <p:cNvGrpSpPr/>
          <p:nvPr/>
        </p:nvGrpSpPr>
        <p:grpSpPr>
          <a:xfrm>
            <a:off x="10075370" y="1932391"/>
            <a:ext cx="1251078" cy="2706923"/>
            <a:chOff x="10075370" y="1932391"/>
            <a:chExt cx="1251078" cy="2706923"/>
          </a:xfrm>
        </p:grpSpPr>
        <p:sp>
          <p:nvSpPr>
            <p:cNvPr id="59" name="Google Shape;473;p14">
              <a:extLst>
                <a:ext uri="{FF2B5EF4-FFF2-40B4-BE49-F238E27FC236}">
                  <a16:creationId xmlns:a16="http://schemas.microsoft.com/office/drawing/2014/main" id="{0A12ACDD-F35F-0984-78F9-53EB98B22CC0}"/>
                </a:ext>
              </a:extLst>
            </p:cNvPr>
            <p:cNvSpPr txBox="1"/>
            <p:nvPr/>
          </p:nvSpPr>
          <p:spPr>
            <a:xfrm>
              <a:off x="10418913" y="1932391"/>
              <a:ext cx="90753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alt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5.</a:t>
              </a:r>
              <a:r>
                <a:rPr lang="ko-KR" altLang="en-US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altLang="ko-KR" sz="105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0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2F3DE7F6-0E77-563A-39B4-C8B05D66F713}"/>
                </a:ext>
              </a:extLst>
            </p:cNvPr>
            <p:cNvGrpSpPr/>
            <p:nvPr/>
          </p:nvGrpSpPr>
          <p:grpSpPr>
            <a:xfrm>
              <a:off x="10075370" y="2338965"/>
              <a:ext cx="1186600" cy="2300349"/>
              <a:chOff x="1107720" y="2334960"/>
              <a:chExt cx="1186600" cy="2300349"/>
            </a:xfrm>
          </p:grpSpPr>
          <p:grpSp>
            <p:nvGrpSpPr>
              <p:cNvPr id="138" name="그룹 137">
                <a:extLst>
                  <a:ext uri="{FF2B5EF4-FFF2-40B4-BE49-F238E27FC236}">
                    <a16:creationId xmlns:a16="http://schemas.microsoft.com/office/drawing/2014/main" id="{D4CF2571-A7FF-76A8-6117-7BF491C65CAA}"/>
                  </a:ext>
                </a:extLst>
              </p:cNvPr>
              <p:cNvGrpSpPr/>
              <p:nvPr/>
            </p:nvGrpSpPr>
            <p:grpSpPr>
              <a:xfrm>
                <a:off x="1717171" y="2334960"/>
                <a:ext cx="112154" cy="1992674"/>
                <a:chOff x="791733" y="1214491"/>
                <a:chExt cx="112154" cy="1811522"/>
              </a:xfrm>
            </p:grpSpPr>
            <p:sp>
              <p:nvSpPr>
                <p:cNvPr id="140" name="타원 139">
                  <a:extLst>
                    <a:ext uri="{FF2B5EF4-FFF2-40B4-BE49-F238E27FC236}">
                      <a16:creationId xmlns:a16="http://schemas.microsoft.com/office/drawing/2014/main" id="{0AEE9509-D502-CBDC-CA3C-6A7812E733D0}"/>
                    </a:ext>
                  </a:extLst>
                </p:cNvPr>
                <p:cNvSpPr/>
                <p:nvPr/>
              </p:nvSpPr>
              <p:spPr>
                <a:xfrm>
                  <a:off x="791733" y="1214491"/>
                  <a:ext cx="112154" cy="108060"/>
                </a:xfrm>
                <a:prstGeom prst="ellipse">
                  <a:avLst/>
                </a:prstGeom>
                <a:solidFill>
                  <a:srgbClr val="F4E7D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/>
                </a:p>
              </p:txBody>
            </p:sp>
            <p:cxnSp>
              <p:nvCxnSpPr>
                <p:cNvPr id="141" name="직선 연결선[R] 140">
                  <a:extLst>
                    <a:ext uri="{FF2B5EF4-FFF2-40B4-BE49-F238E27FC236}">
                      <a16:creationId xmlns:a16="http://schemas.microsoft.com/office/drawing/2014/main" id="{85B4B4DD-08F9-29DC-8B58-8B3E180533EF}"/>
                    </a:ext>
                  </a:extLst>
                </p:cNvPr>
                <p:cNvCxnSpPr>
                  <a:cxnSpLocks/>
                  <a:stCxn id="140" idx="4"/>
                </p:cNvCxnSpPr>
                <p:nvPr/>
              </p:nvCxnSpPr>
              <p:spPr>
                <a:xfrm flipH="1">
                  <a:off x="844837" y="1322551"/>
                  <a:ext cx="2973" cy="1703462"/>
                </a:xfrm>
                <a:prstGeom prst="line">
                  <a:avLst/>
                </a:prstGeom>
                <a:ln>
                  <a:solidFill>
                    <a:srgbClr val="F4E7D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9" name="Google Shape;499;p14">
                <a:extLst>
                  <a:ext uri="{FF2B5EF4-FFF2-40B4-BE49-F238E27FC236}">
                    <a16:creationId xmlns:a16="http://schemas.microsoft.com/office/drawing/2014/main" id="{36BECC06-386D-6D03-25CB-54C42F45F5CB}"/>
                  </a:ext>
                </a:extLst>
              </p:cNvPr>
              <p:cNvSpPr txBox="1"/>
              <p:nvPr/>
            </p:nvSpPr>
            <p:spPr>
              <a:xfrm>
                <a:off x="1107720" y="4381434"/>
                <a:ext cx="1186600" cy="25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수정 및 보완</a:t>
                </a:r>
                <a:endParaRPr lang="en-US" altLang="ko-KR" sz="1050" dirty="0">
                  <a:solidFill>
                    <a:schemeClr val="dk1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0673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14D6FF31-1A47-08A6-47FA-17CC71144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6029FAB4-4933-A18F-9675-617D63EA6C63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005F1383-6670-E381-CC70-05E97F13AEB2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rgbClr val="375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Malgun Gothic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77CB2FDC-A099-54FC-E9E9-08AF1B1E55ED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12501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2DF75288-BE50-DDD2-0AA0-43D055420CF9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part3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9D349E32-2F69-92E5-0E64-B09B2F2FB7AE}"/>
              </a:ext>
            </a:extLst>
          </p:cNvPr>
          <p:cNvSpPr txBox="1"/>
          <p:nvPr/>
        </p:nvSpPr>
        <p:spPr>
          <a:xfrm>
            <a:off x="888646" y="319330"/>
            <a:ext cx="617255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추진 전략 및 기대효과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ko-KR" alt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기대효과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A224282A-E546-E495-ECAE-D6071B62A7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AC5C8E1C-38DB-A8BA-99EA-27FA26CAB04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56044A61-20D3-1315-5E68-377180B6CDD4}"/>
              </a:ext>
            </a:extLst>
          </p:cNvPr>
          <p:cNvSpPr/>
          <p:nvPr/>
        </p:nvSpPr>
        <p:spPr>
          <a:xfrm>
            <a:off x="716547" y="1430532"/>
            <a:ext cx="4693742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기대효과</a:t>
            </a:r>
            <a:endParaRPr lang="en-US" sz="3667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57FA4DE2-60C9-11B9-4F75-0CA9DB1EF21B}"/>
              </a:ext>
            </a:extLst>
          </p:cNvPr>
          <p:cNvSpPr/>
          <p:nvPr/>
        </p:nvSpPr>
        <p:spPr>
          <a:xfrm>
            <a:off x="698103" y="2704310"/>
            <a:ext cx="622379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b="1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운영 효율성 향상</a:t>
            </a:r>
            <a:endParaRPr lang="en-US" sz="1542" b="1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1AACAC4-5551-D84F-E3CE-4B7057A03B36}"/>
              </a:ext>
            </a:extLst>
          </p:cNvPr>
          <p:cNvSpPr/>
          <p:nvPr/>
        </p:nvSpPr>
        <p:spPr>
          <a:xfrm>
            <a:off x="698103" y="3793446"/>
            <a:ext cx="622379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b="1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개인정보 보호 강화</a:t>
            </a:r>
            <a:endParaRPr lang="en-US" sz="1542" b="1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1E63487-4E7D-5567-2B68-4D933D38D778}"/>
              </a:ext>
            </a:extLst>
          </p:cNvPr>
          <p:cNvSpPr/>
          <p:nvPr/>
        </p:nvSpPr>
        <p:spPr>
          <a:xfrm>
            <a:off x="698103" y="4882582"/>
            <a:ext cx="622379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b="1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시스템 성능 개선</a:t>
            </a:r>
            <a:endParaRPr lang="en-US" sz="1542" b="1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6BFB5A32-697C-17A8-12E8-CE8B2DC175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5074" y="348174"/>
            <a:ext cx="4572000" cy="6858000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1E0E523E-31D3-B633-79E0-75377488B6DF}"/>
              </a:ext>
            </a:extLst>
          </p:cNvPr>
          <p:cNvSpPr/>
          <p:nvPr/>
        </p:nvSpPr>
        <p:spPr>
          <a:xfrm>
            <a:off x="667902" y="3048756"/>
            <a:ext cx="6223794" cy="661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>
              <a:lnSpc>
                <a:spcPts val="2500"/>
              </a:lnSpc>
              <a:buSzPct val="100000"/>
            </a:pPr>
            <a:r>
              <a:rPr lang="ko-KR" altLang="en-US" sz="1200" dirty="0">
                <a:solidFill>
                  <a:srgbClr val="37512F"/>
                </a:solidFill>
              </a:rPr>
              <a:t>로컬 및 </a:t>
            </a:r>
            <a:r>
              <a:rPr lang="ko-KR" altLang="en-US" sz="1200" dirty="0" err="1">
                <a:solidFill>
                  <a:srgbClr val="37512F"/>
                </a:solidFill>
              </a:rPr>
              <a:t>엣지</a:t>
            </a:r>
            <a:r>
              <a:rPr lang="ko-KR" altLang="en-US" sz="1200" dirty="0">
                <a:solidFill>
                  <a:srgbClr val="37512F"/>
                </a:solidFill>
              </a:rPr>
              <a:t> 환경에서 외부 시스템 실시간 배치</a:t>
            </a:r>
            <a:endParaRPr lang="en-US" altLang="ko-KR" sz="1200" dirty="0">
              <a:solidFill>
                <a:srgbClr val="37512F"/>
              </a:solidFill>
            </a:endParaRPr>
          </a:p>
          <a:p>
            <a:pPr lvl="1">
              <a:lnSpc>
                <a:spcPts val="2500"/>
              </a:lnSpc>
              <a:buSzPct val="100000"/>
            </a:pPr>
            <a:r>
              <a:rPr lang="ko-KR" altLang="en-US" sz="1200" dirty="0">
                <a:solidFill>
                  <a:srgbClr val="37512F"/>
                </a:solidFill>
              </a:rPr>
              <a:t>데이터 처리 속도 향상</a:t>
            </a:r>
            <a:r>
              <a:rPr lang="en-US" altLang="ko-KR" sz="1200" dirty="0">
                <a:solidFill>
                  <a:srgbClr val="37512F"/>
                </a:solidFill>
              </a:rPr>
              <a:t>,</a:t>
            </a:r>
            <a:r>
              <a:rPr lang="ko-KR" altLang="en-US" sz="1200" dirty="0">
                <a:solidFill>
                  <a:srgbClr val="37512F"/>
                </a:solidFill>
              </a:rPr>
              <a:t> 운영비용 절감</a:t>
            </a:r>
            <a:endParaRPr lang="en-US" sz="1200" dirty="0">
              <a:solidFill>
                <a:srgbClr val="37512F"/>
              </a:solidFill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C7FE2F5C-AE55-EE92-04C4-E215B6DC4574}"/>
              </a:ext>
            </a:extLst>
          </p:cNvPr>
          <p:cNvSpPr/>
          <p:nvPr/>
        </p:nvSpPr>
        <p:spPr>
          <a:xfrm>
            <a:off x="667902" y="4149624"/>
            <a:ext cx="6223794" cy="661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>
              <a:lnSpc>
                <a:spcPts val="2500"/>
              </a:lnSpc>
              <a:buSzPct val="100000"/>
            </a:pPr>
            <a:r>
              <a:rPr lang="ko-KR" altLang="en-US" sz="1200" dirty="0" err="1">
                <a:solidFill>
                  <a:srgbClr val="37512F"/>
                </a:solidFill>
              </a:rPr>
              <a:t>프라이빗</a:t>
            </a:r>
            <a:r>
              <a:rPr lang="ko-KR" altLang="en-US" sz="1200" dirty="0">
                <a:solidFill>
                  <a:srgbClr val="37512F"/>
                </a:solidFill>
              </a:rPr>
              <a:t> 데이터가 외부로 노출되지 않음</a:t>
            </a:r>
            <a:r>
              <a:rPr lang="en-US" altLang="ko-KR" sz="1200" dirty="0">
                <a:solidFill>
                  <a:srgbClr val="37512F"/>
                </a:solidFill>
              </a:rPr>
              <a:t>.</a:t>
            </a:r>
          </a:p>
          <a:p>
            <a:pPr lvl="1">
              <a:lnSpc>
                <a:spcPts val="2500"/>
              </a:lnSpc>
              <a:buSzPct val="100000"/>
            </a:pPr>
            <a:r>
              <a:rPr lang="en-US" sz="1200" dirty="0">
                <a:solidFill>
                  <a:srgbClr val="37512F"/>
                </a:solidFill>
              </a:rPr>
              <a:t>GDPR</a:t>
            </a:r>
            <a:r>
              <a:rPr lang="ko-KR" altLang="en-US" sz="1200" dirty="0">
                <a:solidFill>
                  <a:srgbClr val="37512F"/>
                </a:solidFill>
              </a:rPr>
              <a:t>과 같은 개인정보 보호 규제를 준수할 수 있음</a:t>
            </a:r>
            <a:r>
              <a:rPr lang="en-US" altLang="ko-KR" sz="1200" dirty="0"/>
              <a:t>.</a:t>
            </a:r>
            <a:endParaRPr lang="en-US" sz="12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177D9329-4EB2-E24D-030E-B166C23C0FEE}"/>
              </a:ext>
            </a:extLst>
          </p:cNvPr>
          <p:cNvSpPr/>
          <p:nvPr/>
        </p:nvSpPr>
        <p:spPr>
          <a:xfrm>
            <a:off x="665926" y="5240172"/>
            <a:ext cx="6223794" cy="661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>
              <a:lnSpc>
                <a:spcPts val="2500"/>
              </a:lnSpc>
              <a:buSzPct val="100000"/>
            </a:pPr>
            <a:r>
              <a:rPr lang="ko-KR" altLang="en-US" sz="1200" dirty="0">
                <a:solidFill>
                  <a:srgbClr val="37512F"/>
                </a:solidFill>
              </a:rPr>
              <a:t>플랫폼 성능 검증을 통해 시스템의 안정성 및 효율성을 개선</a:t>
            </a:r>
            <a:endParaRPr lang="en-US" altLang="ko-KR" sz="1200" dirty="0">
              <a:solidFill>
                <a:srgbClr val="3751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618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D3A478F-1D01-4B76-1D65-C25919A5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E765680-677F-1B37-81FB-2A83DC0E1A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0548053" y="5021439"/>
            <a:ext cx="1643947" cy="1844449"/>
          </a:xfrm>
          <a:prstGeom prst="rect">
            <a:avLst/>
          </a:prstGeom>
        </p:spPr>
      </p:pic>
      <p:sp>
        <p:nvSpPr>
          <p:cNvPr id="94" name="Google Shape;94;p1">
            <a:extLst>
              <a:ext uri="{FF2B5EF4-FFF2-40B4-BE49-F238E27FC236}">
                <a16:creationId xmlns:a16="http://schemas.microsoft.com/office/drawing/2014/main" id="{8B20C3F7-FC3B-D29B-9483-FAB7532129E2}"/>
              </a:ext>
            </a:extLst>
          </p:cNvPr>
          <p:cNvSpPr/>
          <p:nvPr/>
        </p:nvSpPr>
        <p:spPr>
          <a:xfrm>
            <a:off x="5315957" y="2768789"/>
            <a:ext cx="1864885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6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QnA</a:t>
            </a:r>
            <a:endParaRPr dirty="0"/>
          </a:p>
        </p:txBody>
      </p:sp>
      <p:pic>
        <p:nvPicPr>
          <p:cNvPr id="95" name="Google Shape;95;p1">
            <a:extLst>
              <a:ext uri="{FF2B5EF4-FFF2-40B4-BE49-F238E27FC236}">
                <a16:creationId xmlns:a16="http://schemas.microsoft.com/office/drawing/2014/main" id="{C80521CA-5104-F8AD-11EA-AB56E94745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C01FDD-36B2-3742-33CF-0CBF7B542FE2}"/>
              </a:ext>
            </a:extLst>
          </p:cNvPr>
          <p:cNvSpPr txBox="1"/>
          <p:nvPr/>
        </p:nvSpPr>
        <p:spPr>
          <a:xfrm>
            <a:off x="4318000" y="492760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  <a:p>
            <a:endParaRPr kumimoji="1" lang="ko-KR" altLang="en-US" dirty="0"/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0172838A-B2E5-346D-8B77-E9134BAB71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0B77A19-48FE-D254-7F1E-D5C22CB41A89}"/>
              </a:ext>
            </a:extLst>
          </p:cNvPr>
          <p:cNvGrpSpPr/>
          <p:nvPr/>
        </p:nvGrpSpPr>
        <p:grpSpPr>
          <a:xfrm>
            <a:off x="-13254" y="-88356"/>
            <a:ext cx="1015040" cy="7032716"/>
            <a:chOff x="-13254" y="-88356"/>
            <a:chExt cx="1015040" cy="7032716"/>
          </a:xfrm>
        </p:grpSpPr>
        <p:sp>
          <p:nvSpPr>
            <p:cNvPr id="3" name="직각 삼각형[R] 2">
              <a:extLst>
                <a:ext uri="{FF2B5EF4-FFF2-40B4-BE49-F238E27FC236}">
                  <a16:creationId xmlns:a16="http://schemas.microsoft.com/office/drawing/2014/main" id="{80B23DFD-0E9D-3D00-F98B-961A0CEC417B}"/>
                </a:ext>
              </a:extLst>
            </p:cNvPr>
            <p:cNvSpPr/>
            <p:nvPr/>
          </p:nvSpPr>
          <p:spPr>
            <a:xfrm>
              <a:off x="-13254" y="-88356"/>
              <a:ext cx="977273" cy="6959600"/>
            </a:xfrm>
            <a:prstGeom prst="rtTriangle">
              <a:avLst/>
            </a:prstGeom>
            <a:solidFill>
              <a:srgbClr val="F4E7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직각 삼각형[R] 3">
              <a:extLst>
                <a:ext uri="{FF2B5EF4-FFF2-40B4-BE49-F238E27FC236}">
                  <a16:creationId xmlns:a16="http://schemas.microsoft.com/office/drawing/2014/main" id="{8479359F-543F-398D-49A8-F9108CD27F27}"/>
                </a:ext>
              </a:extLst>
            </p:cNvPr>
            <p:cNvSpPr/>
            <p:nvPr/>
          </p:nvSpPr>
          <p:spPr>
            <a:xfrm rot="10800000">
              <a:off x="24513" y="-15240"/>
              <a:ext cx="977273" cy="6959600"/>
            </a:xfrm>
            <a:prstGeom prst="rtTriangle">
              <a:avLst/>
            </a:prstGeom>
            <a:solidFill>
              <a:srgbClr val="3751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8" name="직각 삼각형[R] 7">
            <a:extLst>
              <a:ext uri="{FF2B5EF4-FFF2-40B4-BE49-F238E27FC236}">
                <a16:creationId xmlns:a16="http://schemas.microsoft.com/office/drawing/2014/main" id="{72FD6BD6-05C0-C4B6-5D6B-6050125311C5}"/>
              </a:ext>
            </a:extLst>
          </p:cNvPr>
          <p:cNvSpPr/>
          <p:nvPr/>
        </p:nvSpPr>
        <p:spPr>
          <a:xfrm>
            <a:off x="979259" y="-86016"/>
            <a:ext cx="977273" cy="6959600"/>
          </a:xfrm>
          <a:prstGeom prst="rtTriangle">
            <a:avLst/>
          </a:prstGeom>
          <a:solidFill>
            <a:srgbClr val="3751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0516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E1B619B3-3952-7D02-17C3-D2A215D43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1550CF4-E9E5-7F96-590F-08C283CF41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0548053" y="5021439"/>
            <a:ext cx="1643947" cy="1844449"/>
          </a:xfrm>
          <a:prstGeom prst="rect">
            <a:avLst/>
          </a:prstGeom>
        </p:spPr>
      </p:pic>
      <p:sp>
        <p:nvSpPr>
          <p:cNvPr id="94" name="Google Shape;94;p1">
            <a:extLst>
              <a:ext uri="{FF2B5EF4-FFF2-40B4-BE49-F238E27FC236}">
                <a16:creationId xmlns:a16="http://schemas.microsoft.com/office/drawing/2014/main" id="{43EEF42B-257C-1C69-6768-CCC5C504137D}"/>
              </a:ext>
            </a:extLst>
          </p:cNvPr>
          <p:cNvSpPr/>
          <p:nvPr/>
        </p:nvSpPr>
        <p:spPr>
          <a:xfrm>
            <a:off x="3697714" y="2768789"/>
            <a:ext cx="4231093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r>
              <a:rPr lang="en-US" altLang="ko-KR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95" name="Google Shape;95;p1">
            <a:extLst>
              <a:ext uri="{FF2B5EF4-FFF2-40B4-BE49-F238E27FC236}">
                <a16:creationId xmlns:a16="http://schemas.microsoft.com/office/drawing/2014/main" id="{77001A0A-8963-60B6-E112-F61267B95F2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2DAC65-E3FB-163B-9B48-8AC329D03011}"/>
              </a:ext>
            </a:extLst>
          </p:cNvPr>
          <p:cNvSpPr txBox="1"/>
          <p:nvPr/>
        </p:nvSpPr>
        <p:spPr>
          <a:xfrm>
            <a:off x="4318000" y="492760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  <a:p>
            <a:endParaRPr kumimoji="1" lang="ko-KR" altLang="en-US" dirty="0"/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5CCF5E93-DCAD-6724-9931-9FD475B94C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4B07C6-F7EA-2C45-09F3-0D4E6FFE5701}"/>
              </a:ext>
            </a:extLst>
          </p:cNvPr>
          <p:cNvGrpSpPr/>
          <p:nvPr/>
        </p:nvGrpSpPr>
        <p:grpSpPr>
          <a:xfrm>
            <a:off x="-13254" y="-88356"/>
            <a:ext cx="1015040" cy="7032716"/>
            <a:chOff x="-13254" y="-88356"/>
            <a:chExt cx="1015040" cy="7032716"/>
          </a:xfrm>
        </p:grpSpPr>
        <p:sp>
          <p:nvSpPr>
            <p:cNvPr id="3" name="직각 삼각형[R] 2">
              <a:extLst>
                <a:ext uri="{FF2B5EF4-FFF2-40B4-BE49-F238E27FC236}">
                  <a16:creationId xmlns:a16="http://schemas.microsoft.com/office/drawing/2014/main" id="{1E4C15E0-5D08-294F-9EAF-6518770A3C0E}"/>
                </a:ext>
              </a:extLst>
            </p:cNvPr>
            <p:cNvSpPr/>
            <p:nvPr/>
          </p:nvSpPr>
          <p:spPr>
            <a:xfrm>
              <a:off x="-13254" y="-88356"/>
              <a:ext cx="977273" cy="6959600"/>
            </a:xfrm>
            <a:prstGeom prst="rtTriangle">
              <a:avLst/>
            </a:prstGeom>
            <a:solidFill>
              <a:srgbClr val="F4E7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직각 삼각형[R] 3">
              <a:extLst>
                <a:ext uri="{FF2B5EF4-FFF2-40B4-BE49-F238E27FC236}">
                  <a16:creationId xmlns:a16="http://schemas.microsoft.com/office/drawing/2014/main" id="{D4393283-92FF-2C0A-6D74-8776B26B82D5}"/>
                </a:ext>
              </a:extLst>
            </p:cNvPr>
            <p:cNvSpPr/>
            <p:nvPr/>
          </p:nvSpPr>
          <p:spPr>
            <a:xfrm rot="10800000">
              <a:off x="24513" y="-15240"/>
              <a:ext cx="977273" cy="6959600"/>
            </a:xfrm>
            <a:prstGeom prst="rtTriangle">
              <a:avLst/>
            </a:prstGeom>
            <a:solidFill>
              <a:srgbClr val="3751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F764B129-8577-B9B7-4B6D-AC4C49D21C4A}"/>
              </a:ext>
            </a:extLst>
          </p:cNvPr>
          <p:cNvGrpSpPr/>
          <p:nvPr/>
        </p:nvGrpSpPr>
        <p:grpSpPr>
          <a:xfrm rot="10800000">
            <a:off x="979259" y="-86016"/>
            <a:ext cx="1015040" cy="7032716"/>
            <a:chOff x="-13254" y="-88356"/>
            <a:chExt cx="1015040" cy="7032716"/>
          </a:xfrm>
        </p:grpSpPr>
        <p:sp>
          <p:nvSpPr>
            <p:cNvPr id="7" name="직각 삼각형[R] 6">
              <a:extLst>
                <a:ext uri="{FF2B5EF4-FFF2-40B4-BE49-F238E27FC236}">
                  <a16:creationId xmlns:a16="http://schemas.microsoft.com/office/drawing/2014/main" id="{1F50984B-D00A-3C6C-BDFA-B8132BD97FEF}"/>
                </a:ext>
              </a:extLst>
            </p:cNvPr>
            <p:cNvSpPr/>
            <p:nvPr/>
          </p:nvSpPr>
          <p:spPr>
            <a:xfrm>
              <a:off x="-13254" y="-88356"/>
              <a:ext cx="977273" cy="6959600"/>
            </a:xfrm>
            <a:prstGeom prst="rtTriangle">
              <a:avLst/>
            </a:prstGeom>
            <a:solidFill>
              <a:srgbClr val="F4E7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" name="직각 삼각형[R] 7">
              <a:extLst>
                <a:ext uri="{FF2B5EF4-FFF2-40B4-BE49-F238E27FC236}">
                  <a16:creationId xmlns:a16="http://schemas.microsoft.com/office/drawing/2014/main" id="{60DC3702-95C1-DFF2-69F7-AD542C4D6BE8}"/>
                </a:ext>
              </a:extLst>
            </p:cNvPr>
            <p:cNvSpPr/>
            <p:nvPr/>
          </p:nvSpPr>
          <p:spPr>
            <a:xfrm rot="10800000">
              <a:off x="24513" y="-15240"/>
              <a:ext cx="977273" cy="6959600"/>
            </a:xfrm>
            <a:prstGeom prst="rtTriangle">
              <a:avLst/>
            </a:prstGeom>
            <a:solidFill>
              <a:srgbClr val="3751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3677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6394</TotalTime>
  <Words>1214</Words>
  <Application>Microsoft Macintosh PowerPoint</Application>
  <PresentationFormat>와이드스크린</PresentationFormat>
  <Paragraphs>316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Gulim</vt:lpstr>
      <vt:lpstr>Malgun Gothic</vt:lpstr>
      <vt:lpstr>Malgun Gothic</vt:lpstr>
      <vt:lpstr>Arial</vt:lpstr>
      <vt:lpstr>Calibri</vt:lpstr>
      <vt:lpstr>Lora</vt:lpstr>
      <vt:lpstr>Poppins Black</vt:lpstr>
      <vt:lpstr>Source Sans Pro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권정은</dc:creator>
  <cp:lastModifiedBy>장재혁</cp:lastModifiedBy>
  <cp:revision>42</cp:revision>
  <dcterms:created xsi:type="dcterms:W3CDTF">2025-03-05T08:24:53Z</dcterms:created>
  <dcterms:modified xsi:type="dcterms:W3CDTF">2025-05-07T13:52:54Z</dcterms:modified>
</cp:coreProperties>
</file>