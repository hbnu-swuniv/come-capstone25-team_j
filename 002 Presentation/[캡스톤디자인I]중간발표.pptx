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0" r:id="rId4"/>
    <p:sldId id="257" r:id="rId5"/>
    <p:sldId id="258" r:id="rId6"/>
    <p:sldId id="259" r:id="rId7"/>
    <p:sldId id="269" r:id="rId8"/>
    <p:sldId id="268" r:id="rId9"/>
    <p:sldId id="261" r:id="rId10"/>
    <p:sldId id="262" r:id="rId11"/>
    <p:sldId id="263" r:id="rId12"/>
    <p:sldId id="264" r:id="rId13"/>
    <p:sldId id="265" r:id="rId14"/>
    <p:sldId id="266" r:id="rId15"/>
    <p:sldId id="260" r:id="rId16"/>
    <p:sldId id="26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3"/>
    <p:restoredTop sz="78901"/>
  </p:normalViewPr>
  <p:slideViewPr>
    <p:cSldViewPr snapToGrid="0">
      <p:cViewPr>
        <p:scale>
          <a:sx n="139" d="100"/>
          <a:sy n="139" d="100"/>
        </p:scale>
        <p:origin x="1016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57894-5E31-5E4B-B581-5D90DEC9A092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6F3D0-8964-9E43-8E2B-B06D05015BB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558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3871A-F1CF-8144-A26F-C1B6C498DE1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6903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간단한 시스템 아키텍처는 다음과 같습니다 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사용자가 결합하고자 하는 데이터를 업로드를 하게 되면 필드를 추출 후 유사도 판단기법을 이용하여 필드를 </a:t>
            </a:r>
            <a:r>
              <a:rPr kumimoji="1" lang="ko-KR" altLang="en-US" dirty="0" err="1"/>
              <a:t>매핑시킵니다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그것을 토대로 결합키 후보를 추출하고 결합합니다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 중 유사도 판단에 대해서는 다음장에서 소개하겠습니다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3871A-F1CF-8144-A26F-C1B6C498DE1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5388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(</a:t>
            </a:r>
            <a:r>
              <a:rPr kumimoji="1" lang="ko-KR" altLang="en-US" dirty="0"/>
              <a:t>우선 </a:t>
            </a:r>
            <a:r>
              <a:rPr kumimoji="1" lang="ko-KR" altLang="en-US" dirty="0" err="1"/>
              <a:t>필드명</a:t>
            </a:r>
            <a:r>
              <a:rPr kumimoji="1" lang="ko-KR" altLang="en-US" dirty="0"/>
              <a:t> 자체는 단어기반이기 때문에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문장 및 문맥에 관한 유사도 판단기법은 차치했습니다</a:t>
            </a:r>
            <a:r>
              <a:rPr kumimoji="1" lang="en-US" altLang="ko-KR" dirty="0"/>
              <a:t>.)</a:t>
            </a:r>
          </a:p>
          <a:p>
            <a:r>
              <a:rPr kumimoji="1" lang="ko-KR" altLang="en-US" dirty="0"/>
              <a:t>유사도 판단기법은 크게 다음과 같습니다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여기서 자연어처리기반</a:t>
            </a:r>
            <a:r>
              <a:rPr kumimoji="1" lang="en-US" altLang="ko-KR" dirty="0"/>
              <a:t>((NLP)</a:t>
            </a:r>
            <a:r>
              <a:rPr kumimoji="1" lang="ko-KR" altLang="en-US" dirty="0"/>
              <a:t>은 </a:t>
            </a:r>
            <a:r>
              <a:rPr kumimoji="1" lang="ko-KR" altLang="en-US" dirty="0" err="1"/>
              <a:t>임베딩</a:t>
            </a:r>
            <a:r>
              <a:rPr kumimoji="1" lang="ko-KR" altLang="en-US" dirty="0"/>
              <a:t> 기반 </a:t>
            </a:r>
            <a:r>
              <a:rPr kumimoji="1" lang="ko-KR" altLang="en-US" dirty="0" err="1"/>
              <a:t>유사도기법입니다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 err="1"/>
              <a:t>임베딩</a:t>
            </a:r>
            <a:r>
              <a:rPr kumimoji="1" lang="ko-KR" altLang="en-US" dirty="0"/>
              <a:t> 기반 유사도는 단어 단위의 의미를 벡터로 변환 후 유사도를 측정합니다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이름</a:t>
            </a:r>
            <a:r>
              <a:rPr kumimoji="1" lang="en-US" altLang="ko-KR" dirty="0"/>
              <a:t>”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“</a:t>
            </a:r>
            <a:r>
              <a:rPr kumimoji="1" lang="ko-KR" altLang="en-US" dirty="0"/>
              <a:t>성명</a:t>
            </a:r>
            <a:r>
              <a:rPr kumimoji="1" lang="en-US" altLang="ko-KR" dirty="0"/>
              <a:t>”</a:t>
            </a:r>
            <a:r>
              <a:rPr kumimoji="1" lang="ko-KR" altLang="en-US" dirty="0"/>
              <a:t>같은 의미적 유사성을 판단할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다음장에서 어떻게 다룰지 소개하겠습니다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3871A-F1CF-8144-A26F-C1B6C498DE1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9006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우선 앞에서 말씀드렸던 유사도 판단 기법 중에서 룰기반으로 시작하되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사전에 없는 것은 의미 추론을 할 수 있도록 </a:t>
            </a:r>
            <a:r>
              <a:rPr kumimoji="1" lang="ko-KR" altLang="en-US" dirty="0" err="1"/>
              <a:t>임베딩기반</a:t>
            </a:r>
            <a:r>
              <a:rPr kumimoji="1" lang="ko-KR" altLang="en-US" dirty="0"/>
              <a:t> 유사기법을 사용할 것입니다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기본 정규화 후 사전 매핑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보완추론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학습강화 순서입니다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br>
              <a:rPr kumimoji="1" lang="en-US" altLang="ko-KR" dirty="0"/>
            </a:br>
            <a:r>
              <a:rPr kumimoji="1" lang="ko-KR" altLang="en-US" dirty="0"/>
              <a:t>아래 세 과정은 좀 더 자세히 다음장에서 설명하겠습니다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3871A-F1CF-8144-A26F-C1B6C498DE1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7634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전처리된</a:t>
            </a:r>
            <a:r>
              <a:rPr kumimoji="1" lang="ko-KR" altLang="en-US" dirty="0"/>
              <a:t> 각각의 필드명이 도메인 사전을 기반으로 먼저 매핑에 성공한다면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결합키 후보를 바로 추출할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도메인 사전에서 매핑이 되지 않았을 경우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BERT</a:t>
            </a:r>
            <a:r>
              <a:rPr kumimoji="1" lang="ko-KR" altLang="en-US" dirty="0"/>
              <a:t>기반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임베딩기반</a:t>
            </a:r>
            <a:r>
              <a:rPr kumimoji="1" lang="ko-KR" altLang="en-US" dirty="0"/>
              <a:t> 유사도</a:t>
            </a:r>
            <a:r>
              <a:rPr kumimoji="1" lang="en-US" altLang="ko-KR" dirty="0"/>
              <a:t>)</a:t>
            </a:r>
            <a:r>
              <a:rPr kumimoji="1" lang="ko-KR" altLang="en-US" dirty="0"/>
              <a:t> 모델을 사용하여 계산 후 사용자에게 결합키 후보를 추천을 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확정이 된다면 결합키 후보를 추출합니다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 후 사용자 피드백을 수용하여 </a:t>
            </a:r>
            <a:r>
              <a:rPr kumimoji="1" lang="en-US" altLang="ko-KR" dirty="0"/>
              <a:t>DB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의미적 유사성으로 </a:t>
            </a:r>
            <a:r>
              <a:rPr kumimoji="1" lang="ko-KR" altLang="en-US" dirty="0" err="1"/>
              <a:t>군집화하여</a:t>
            </a:r>
            <a:r>
              <a:rPr kumimoji="1" lang="ko-KR" altLang="en-US" dirty="0"/>
              <a:t> 동일한 피드백이 </a:t>
            </a:r>
            <a:r>
              <a:rPr kumimoji="1" lang="ko-KR" altLang="en-US" dirty="0" err="1"/>
              <a:t>여러번</a:t>
            </a:r>
            <a:r>
              <a:rPr kumimoji="1" lang="ko-KR" altLang="en-US" dirty="0"/>
              <a:t> 들어왔을 경우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도메인 사전을 확장하거나 사용자추천시 우선순위에 반영하게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/>
              <a:t>결과 </a:t>
            </a:r>
            <a:r>
              <a:rPr kumimoji="1" lang="ko-KR" altLang="en-US" dirty="0"/>
              <a:t>확정 및 수정 단계 시 사용자가 바로 확정</a:t>
            </a:r>
            <a:r>
              <a:rPr kumimoji="1" lang="en-US" altLang="ko-KR" dirty="0"/>
              <a:t>(</a:t>
            </a:r>
            <a:r>
              <a:rPr kumimoji="1" lang="ko-KR" altLang="en-US" dirty="0"/>
              <a:t>수락</a:t>
            </a:r>
            <a:r>
              <a:rPr kumimoji="1" lang="en-US" altLang="ko-KR" dirty="0"/>
              <a:t>)</a:t>
            </a:r>
            <a:r>
              <a:rPr kumimoji="1" lang="ko-KR" altLang="en-US" dirty="0"/>
              <a:t>하게 되는 횟수가 점점 늘어나게 되고 피드백이 필요가 없어지면 자동화할 수 있게 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3871A-F1CF-8144-A26F-C1B6C498DE1D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7736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5</a:t>
            </a:r>
            <a:r>
              <a:rPr kumimoji="1" lang="ko-KR" altLang="en-US" dirty="0"/>
              <a:t>월부터 </a:t>
            </a:r>
            <a:r>
              <a:rPr kumimoji="1" lang="ko-KR" altLang="en-US" dirty="0" err="1"/>
              <a:t>프로토타입개발에</a:t>
            </a:r>
            <a:r>
              <a:rPr kumimoji="1" lang="ko-KR" altLang="en-US" dirty="0"/>
              <a:t> 들어가서 </a:t>
            </a:r>
            <a:r>
              <a:rPr kumimoji="1" lang="en-US" altLang="ko-KR" dirty="0"/>
              <a:t>6</a:t>
            </a:r>
            <a:r>
              <a:rPr kumimoji="1" lang="ko-KR" altLang="en-US" dirty="0"/>
              <a:t>월에 성능실험 및 재학습을 하여 자동화시스템에 가까워지도록 하겠습니다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 err="1"/>
              <a:t>기술스택</a:t>
            </a:r>
            <a:r>
              <a:rPr kumimoji="1" lang="ko-KR" altLang="en-US" dirty="0"/>
              <a:t> 고려사항으로 언어는 </a:t>
            </a:r>
            <a:r>
              <a:rPr kumimoji="1" lang="en-US" altLang="ko-KR" dirty="0"/>
              <a:t>python,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임베딩</a:t>
            </a:r>
            <a:r>
              <a:rPr kumimoji="1" lang="ko-KR" altLang="en-US" dirty="0"/>
              <a:t> 모델은 </a:t>
            </a:r>
            <a:r>
              <a:rPr kumimoji="1" lang="en-US" altLang="ko-KR" dirty="0"/>
              <a:t>KoBERT(</a:t>
            </a:r>
            <a:r>
              <a:rPr kumimoji="1" lang="ko-KR" altLang="en-US" dirty="0"/>
              <a:t>한국어 특화된 </a:t>
            </a:r>
            <a:r>
              <a:rPr kumimoji="1" lang="en-US" altLang="ko-KR" dirty="0"/>
              <a:t>BERT</a:t>
            </a:r>
            <a:r>
              <a:rPr kumimoji="1" lang="ko-KR" altLang="en-US" dirty="0"/>
              <a:t>기반 모델</a:t>
            </a:r>
            <a:r>
              <a:rPr kumimoji="1" lang="en-US" altLang="ko-KR" dirty="0"/>
              <a:t>)</a:t>
            </a:r>
            <a:r>
              <a:rPr kumimoji="1" lang="ko-KR" altLang="en-US" dirty="0"/>
              <a:t>혹은 </a:t>
            </a:r>
            <a:r>
              <a:rPr kumimoji="1" lang="en-US" altLang="ko-KR" dirty="0" err="1"/>
              <a:t>FastText</a:t>
            </a:r>
            <a:r>
              <a:rPr kumimoji="1" lang="en-US" altLang="ko-KR" dirty="0"/>
              <a:t>(</a:t>
            </a:r>
            <a:r>
              <a:rPr kumimoji="1" lang="ko-KR" altLang="en-US" dirty="0"/>
              <a:t>한국어모델</a:t>
            </a:r>
            <a:r>
              <a:rPr kumimoji="1" lang="en-US" altLang="ko-KR" dirty="0"/>
              <a:t>),</a:t>
            </a:r>
            <a:r>
              <a:rPr kumimoji="1" lang="ko-KR" altLang="en-US" dirty="0"/>
              <a:t>생각하고 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 </a:t>
            </a:r>
            <a:r>
              <a:rPr kumimoji="1" lang="en-US" altLang="ko-KR" dirty="0"/>
              <a:t>DB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SQLite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생각하고있고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군집화기반 자동학습 모듈은 더 찾아봐야 할 것 같습니다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3871A-F1CF-8144-A26F-C1B6C498DE1D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3660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F5D05-500D-86B0-96C4-26E44D8FC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16C979-CB81-2C72-5CFC-16284388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4BDAD-2F55-579F-11D6-8D7BCA5B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9B7BA-B516-91AE-239F-1F6A5302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8123A-CF5B-EAB4-E565-AB05D432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318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F982F-BD47-FB0D-7855-7179C736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6FDCAA-4E3D-9637-83AD-96A2CCEE7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0CBE42-AE42-56F3-8653-FA063CD7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89E3B-EEA1-D097-7ACA-7F5231B4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99B64-B114-F284-9B57-1407F221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43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55F39-D357-44F8-EE7F-5AA37DB3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A38B1B-C344-9072-8EB3-A7BD0B5E8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BEA2B-C42F-B27F-3F5D-F4458965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DEBB4A-CB2F-F286-F9CB-0FB22146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E7A4A-4252-F638-FFC5-E1AC3F0E0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880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2697F-A9F0-B667-7162-FEAE619F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F269E8-E056-37EA-A661-5B0070956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673A04-A0EE-3CB4-24BE-74D5E4957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39B364-020D-C8C3-CAF5-BC1045A9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3E3ACE-BB6E-CA50-7EAB-E39A5B54C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2E3D95-3B54-1456-C8E9-B868DC56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732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325B8-02C3-D350-AA1E-BDBB6687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87340B-B697-0DCE-AB2F-8675B940D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7CA7E5-DB75-8DAF-249C-A859644F9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040260-8E77-80C9-5A4B-2A513BB74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E64D6F-C323-A19A-5689-C74BDE29A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51EA53-AA3B-D5F5-DCA8-2D909340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74BEF7-ACE5-0716-37D0-3106BC21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100DDB-FDFB-C19A-5D97-ED5B610E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268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F4638-900E-4A61-0D36-01677BE0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F5E028-CA4E-62BC-E206-8BDE79AC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7DD2FA-2EE0-A403-0645-27DFDA12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298869-2DCF-51C6-0D08-6F7BD296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634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0BFA61-0B48-667E-8271-F0D4BC62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496C56-A161-A5AF-A983-E54FF515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5FDB96-F9C0-9FCF-559C-25207EDA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82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35BF3-1A77-2622-862F-BB94D6DA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ACE81-A5B6-760E-DC48-B2C71A008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44F749-0176-4F4A-6574-A2CAAC2F7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3FE5F5-BBC7-0059-0DA6-BC864DF1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68AC38-DCEB-33F7-1C97-9DB8DE4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C0D2CF-4984-7B88-1FC8-513808CD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134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BAF58-5131-593A-0997-5C0EC77A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7DB9F-EEAB-32B6-C226-92CA2BD5B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7846EF-53DF-F59C-2628-5973026D9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42A831-A181-1A00-90CB-66637DE4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E34BD7-05B3-3005-EBD9-B7EB4BD8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1D262-6FCE-7624-963C-E557A4EB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066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2C6A4-763F-C66C-72FE-9D9ADC12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D5F871-24AD-A642-3339-DBB4BE56A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6BC393-3774-71D2-F0FE-FB3C94E1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D0FF1-6922-775D-1DEC-60218A71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A94E0-F8AB-27CF-FFB9-C50F9676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837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388190-71FE-C8AD-705A-BF4D475D0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2B6F64-5D22-166B-A3E7-3415B5C16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18FB15-5720-E1C6-4465-4DC852DA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ECFF6F-3CB9-5BBA-2F06-41C96BC05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8EDAFD-B31B-6846-54E0-D2478DD7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598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6F604A-2210-0CB2-98BB-267D4E0E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6771E0-FE6F-B1CD-3589-8A7C2D35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93055E-F0F9-D024-9BE3-33B51EB9E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56A18-4DA0-2241-B7C9-223642CBA4FC}" type="datetimeFigureOut">
              <a:rPr kumimoji="1" lang="ko-KR" altLang="en-US" smtClean="0"/>
              <a:t>2025. 5. 7.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046122-5220-CAFA-DEEA-DF94E84B9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80694F-2CF8-ABE8-BB5B-D637DB034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72535-3724-2F44-A0C5-2EB1CBD7F5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267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41E363-1B6E-3FDE-9D5C-3602802895A9}"/>
              </a:ext>
            </a:extLst>
          </p:cNvPr>
          <p:cNvSpPr txBox="1"/>
          <p:nvPr/>
        </p:nvSpPr>
        <p:spPr>
          <a:xfrm>
            <a:off x="3325049" y="2798058"/>
            <a:ext cx="554190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4000" b="1" dirty="0" err="1"/>
              <a:t>캡스톤디자인</a:t>
            </a:r>
            <a:r>
              <a:rPr kumimoji="1" lang="ko-KR" altLang="en-US" sz="4000" b="1" dirty="0"/>
              <a:t> 중간발표</a:t>
            </a:r>
            <a:endParaRPr kumimoji="1" lang="en-US" altLang="ko-KR" sz="4000" b="1" dirty="0"/>
          </a:p>
          <a:p>
            <a:pPr algn="r"/>
            <a:r>
              <a:rPr kumimoji="1" lang="en-US" altLang="ko-KR" sz="2400" b="1" dirty="0"/>
              <a:t>J</a:t>
            </a:r>
          </a:p>
          <a:p>
            <a:pPr algn="r"/>
            <a:r>
              <a:rPr kumimoji="1" lang="ko-KR" altLang="en-US" dirty="0"/>
              <a:t>팀장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20201753</a:t>
            </a:r>
            <a:r>
              <a:rPr kumimoji="1" lang="ko-KR" altLang="en-US" dirty="0"/>
              <a:t> 장재혁</a:t>
            </a:r>
            <a:endParaRPr kumimoji="1" lang="en-US" altLang="ko-KR" dirty="0"/>
          </a:p>
          <a:p>
            <a:pPr algn="r"/>
            <a:r>
              <a:rPr kumimoji="1" lang="ko-KR" altLang="en-US" dirty="0"/>
              <a:t>팀원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20211868</a:t>
            </a:r>
            <a:r>
              <a:rPr kumimoji="1" lang="ko-KR" altLang="en-US" dirty="0"/>
              <a:t> 권정은</a:t>
            </a:r>
          </a:p>
        </p:txBody>
      </p:sp>
    </p:spTree>
    <p:extLst>
      <p:ext uri="{BB962C8B-B14F-4D97-AF65-F5344CB8AC3E}">
        <p14:creationId xmlns:p14="http://schemas.microsoft.com/office/powerpoint/2010/main" val="215741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FBA3FE-E5E0-31FB-44ED-11C16ED891DE}"/>
              </a:ext>
            </a:extLst>
          </p:cNvPr>
          <p:cNvSpPr txBox="1"/>
          <p:nvPr/>
        </p:nvSpPr>
        <p:spPr>
          <a:xfrm>
            <a:off x="1593767" y="2351782"/>
            <a:ext cx="900446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/>
              <a:t>데이터의 활용 및 유통 활성화를 위한 실시간 </a:t>
            </a:r>
            <a:endParaRPr lang="en-US" altLang="ko-KR" sz="3200" b="1" dirty="0"/>
          </a:p>
          <a:p>
            <a:pPr algn="ctr"/>
            <a:r>
              <a:rPr lang="ko-KR" altLang="en-US" sz="3200" b="1" dirty="0"/>
              <a:t>가명정보 처리 플랫폼의 설계 및 구현</a:t>
            </a:r>
            <a:endParaRPr lang="en-US" altLang="ko-KR" sz="3200" b="1" dirty="0"/>
          </a:p>
          <a:p>
            <a:pPr algn="ctr"/>
            <a:endParaRPr lang="en-US" altLang="ko-KR" sz="3200" b="1" dirty="0"/>
          </a:p>
          <a:p>
            <a:pPr algn="r"/>
            <a:r>
              <a:rPr lang="ko-KR" altLang="en-US" sz="2000" dirty="0"/>
              <a:t>담당자</a:t>
            </a:r>
            <a:r>
              <a:rPr lang="en-US" altLang="ko-KR" sz="2000" dirty="0"/>
              <a:t>:</a:t>
            </a:r>
            <a:r>
              <a:rPr lang="ko-KR" altLang="en-US" sz="2000" dirty="0"/>
              <a:t> 장재혁</a:t>
            </a:r>
          </a:p>
        </p:txBody>
      </p:sp>
    </p:spTree>
    <p:extLst>
      <p:ext uri="{BB962C8B-B14F-4D97-AF65-F5344CB8AC3E}">
        <p14:creationId xmlns:p14="http://schemas.microsoft.com/office/powerpoint/2010/main" val="330746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5887F-D813-6884-D899-AABD9237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F6432-5B84-72AA-0B63-7C0C33ED308F}"/>
              </a:ext>
            </a:extLst>
          </p:cNvPr>
          <p:cNvSpPr txBox="1"/>
          <p:nvPr/>
        </p:nvSpPr>
        <p:spPr>
          <a:xfrm>
            <a:off x="360000" y="360000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00.</a:t>
            </a:r>
            <a:r>
              <a:rPr kumimoji="1" lang="ko-KR" altLang="en-US" sz="2000" b="1" dirty="0"/>
              <a:t> 가명정보와 결합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1FBB953-2CEE-A20E-2784-B703DBA3E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732799"/>
              </p:ext>
            </p:extLst>
          </p:nvPr>
        </p:nvGraphicFramePr>
        <p:xfrm>
          <a:off x="849580" y="1862942"/>
          <a:ext cx="723900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05300">
                  <a:extLst>
                    <a:ext uri="{9D8B030D-6E8A-4147-A177-3AD203B41FA5}">
                      <a16:colId xmlns:a16="http://schemas.microsoft.com/office/drawing/2014/main" val="353072247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181625674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개인정보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가명정보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939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홍길동</a:t>
                      </a:r>
                      <a:r>
                        <a:rPr lang="en-US" altLang="ko-KR" sz="1200" u="none" strike="noStrike" dirty="0">
                          <a:effectLst/>
                        </a:rPr>
                        <a:t>, 24</a:t>
                      </a:r>
                      <a:r>
                        <a:rPr lang="ko-KR" altLang="en-US" sz="1200" u="none" strike="noStrike" dirty="0">
                          <a:effectLst/>
                        </a:rPr>
                        <a:t>세</a:t>
                      </a:r>
                      <a:r>
                        <a:rPr lang="en-US" altLang="ko-KR" sz="1200" u="none" strike="noStrike" dirty="0">
                          <a:effectLst/>
                        </a:rPr>
                        <a:t>, 010-1234-5678, </a:t>
                      </a:r>
                      <a:r>
                        <a:rPr lang="ko-KR" altLang="en-US" sz="1200" u="none" strike="noStrike" dirty="0">
                          <a:effectLst/>
                        </a:rPr>
                        <a:t>대전 유성구 </a:t>
                      </a:r>
                      <a:r>
                        <a:rPr lang="ko-KR" altLang="en-US" sz="1200" u="none" strike="noStrike" dirty="0" err="1">
                          <a:effectLst/>
                        </a:rPr>
                        <a:t>덕명동</a:t>
                      </a:r>
                      <a:r>
                        <a:rPr lang="ko-KR" altLang="en-US" sz="1200" u="none" strike="noStrike" dirty="0">
                          <a:effectLst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</a:rPr>
                        <a:t>123-4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홍**</a:t>
                      </a:r>
                      <a:r>
                        <a:rPr lang="en-US" altLang="ko-KR" sz="1200" u="none" strike="noStrike" dirty="0">
                          <a:effectLst/>
                        </a:rPr>
                        <a:t>, 20</a:t>
                      </a:r>
                      <a:r>
                        <a:rPr lang="ko-KR" altLang="en-US" sz="1200" u="none" strike="noStrike" dirty="0">
                          <a:effectLst/>
                        </a:rPr>
                        <a:t>세</a:t>
                      </a:r>
                      <a:r>
                        <a:rPr lang="en-US" altLang="ko-KR" sz="1200" u="none" strike="noStrike" dirty="0">
                          <a:effectLst/>
                        </a:rPr>
                        <a:t>, 010-12**-****, </a:t>
                      </a:r>
                      <a:r>
                        <a:rPr lang="ko-KR" altLang="en-US" sz="1200" u="none" strike="noStrike" dirty="0">
                          <a:effectLst/>
                        </a:rPr>
                        <a:t>대전 유성구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2289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김첨지</a:t>
                      </a:r>
                      <a:r>
                        <a:rPr lang="en-US" altLang="ko-KR" sz="1200" u="none" strike="noStrike">
                          <a:effectLst/>
                        </a:rPr>
                        <a:t>, 38</a:t>
                      </a:r>
                      <a:r>
                        <a:rPr lang="ko-KR" altLang="en-US" sz="1200" u="none" strike="noStrike">
                          <a:effectLst/>
                        </a:rPr>
                        <a:t>세</a:t>
                      </a:r>
                      <a:r>
                        <a:rPr lang="en-US" altLang="ko-KR" sz="1200" u="none" strike="noStrike">
                          <a:effectLst/>
                        </a:rPr>
                        <a:t>, 010-3456-3456, </a:t>
                      </a:r>
                      <a:r>
                        <a:rPr lang="ko-KR" altLang="en-US" sz="1200" u="none" strike="noStrike">
                          <a:effectLst/>
                        </a:rPr>
                        <a:t>월 </a:t>
                      </a:r>
                      <a:r>
                        <a:rPr lang="en-US" altLang="ko-KR" sz="1200" u="none" strike="noStrike">
                          <a:effectLst/>
                        </a:rPr>
                        <a:t>432</a:t>
                      </a:r>
                      <a:r>
                        <a:rPr lang="ko-KR" altLang="en-US" sz="1200" u="none" strike="noStrike">
                          <a:effectLst/>
                        </a:rPr>
                        <a:t>만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김**</a:t>
                      </a:r>
                      <a:r>
                        <a:rPr lang="en-US" altLang="ko-KR" sz="1200" u="none" strike="noStrike" dirty="0">
                          <a:effectLst/>
                        </a:rPr>
                        <a:t>, 30</a:t>
                      </a:r>
                      <a:r>
                        <a:rPr lang="ko-KR" altLang="en-US" sz="1200" u="none" strike="noStrike" dirty="0">
                          <a:effectLst/>
                        </a:rPr>
                        <a:t>세</a:t>
                      </a:r>
                      <a:r>
                        <a:rPr lang="en-US" altLang="ko-KR" sz="1200" u="none" strike="noStrike" dirty="0">
                          <a:effectLst/>
                        </a:rPr>
                        <a:t>, 010-****-****, </a:t>
                      </a:r>
                      <a:r>
                        <a:rPr lang="ko-KR" altLang="en-US" sz="1200" u="none" strike="noStrike" dirty="0">
                          <a:effectLst/>
                        </a:rPr>
                        <a:t>월 </a:t>
                      </a:r>
                      <a:r>
                        <a:rPr lang="en-US" altLang="ko-KR" sz="1200" u="none" strike="noStrike" dirty="0">
                          <a:effectLst/>
                        </a:rPr>
                        <a:t>400</a:t>
                      </a:r>
                      <a:r>
                        <a:rPr lang="ko-KR" altLang="en-US" sz="1200" u="none" strike="noStrike" dirty="0">
                          <a:effectLst/>
                        </a:rPr>
                        <a:t>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9373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D6F78A-B1B1-F4C7-7DF9-8661EA93FF36}"/>
              </a:ext>
            </a:extLst>
          </p:cNvPr>
          <p:cNvSpPr txBox="1"/>
          <p:nvPr/>
        </p:nvSpPr>
        <p:spPr>
          <a:xfrm>
            <a:off x="849580" y="1524388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/>
              <a:t>가명정보 예시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F3E5693-0D85-9D00-7D39-54CFD0F71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29648"/>
              </p:ext>
            </p:extLst>
          </p:nvPr>
        </p:nvGraphicFramePr>
        <p:xfrm>
          <a:off x="849580" y="4095501"/>
          <a:ext cx="935990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03840">
                  <a:extLst>
                    <a:ext uri="{9D8B030D-6E8A-4147-A177-3AD203B41FA5}">
                      <a16:colId xmlns:a16="http://schemas.microsoft.com/office/drawing/2014/main" val="3417955942"/>
                    </a:ext>
                  </a:extLst>
                </a:gridCol>
                <a:gridCol w="2932705">
                  <a:extLst>
                    <a:ext uri="{9D8B030D-6E8A-4147-A177-3AD203B41FA5}">
                      <a16:colId xmlns:a16="http://schemas.microsoft.com/office/drawing/2014/main" val="4196716499"/>
                    </a:ext>
                  </a:extLst>
                </a:gridCol>
                <a:gridCol w="2123355">
                  <a:extLst>
                    <a:ext uri="{9D8B030D-6E8A-4147-A177-3AD203B41FA5}">
                      <a16:colId xmlns:a16="http://schemas.microsoft.com/office/drawing/2014/main" val="142905364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u="none" strike="noStrike" dirty="0">
                          <a:effectLst/>
                        </a:rPr>
                        <a:t>A </a:t>
                      </a:r>
                      <a:r>
                        <a:rPr lang="ko-KR" altLang="en-US" sz="1200" u="none" strike="noStrike" dirty="0">
                          <a:effectLst/>
                        </a:rPr>
                        <a:t>가명정보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u="none" strike="noStrike">
                          <a:effectLst/>
                        </a:rPr>
                        <a:t>B </a:t>
                      </a:r>
                      <a:r>
                        <a:rPr lang="ko-KR" altLang="en-US" sz="1200" u="none" strike="noStrike">
                          <a:effectLst/>
                        </a:rPr>
                        <a:t>가명정보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u="none" strike="noStrike">
                          <a:effectLst/>
                        </a:rPr>
                        <a:t>A+B </a:t>
                      </a:r>
                      <a:r>
                        <a:rPr lang="ko-KR" altLang="en-US" sz="1200" u="none" strike="noStrike">
                          <a:effectLst/>
                        </a:rPr>
                        <a:t>결합정보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2201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홍**</a:t>
                      </a:r>
                      <a:r>
                        <a:rPr lang="en-US" altLang="ko-KR" sz="1200" u="none" strike="noStrike">
                          <a:effectLst/>
                        </a:rPr>
                        <a:t>, </a:t>
                      </a:r>
                      <a:r>
                        <a:rPr lang="ko-KR" altLang="en-US" sz="1200" u="none" strike="noStrike">
                          <a:effectLst/>
                        </a:rPr>
                        <a:t>대전 유성구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김**</a:t>
                      </a:r>
                      <a:r>
                        <a:rPr lang="en-US" altLang="ko-KR" sz="1200" u="none" strike="noStrike" dirty="0">
                          <a:effectLst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</a:rPr>
                        <a:t>월 </a:t>
                      </a:r>
                      <a:r>
                        <a:rPr lang="en-US" altLang="ko-KR" sz="1200" u="none" strike="noStrike" dirty="0">
                          <a:effectLst/>
                        </a:rPr>
                        <a:t>700</a:t>
                      </a:r>
                      <a:r>
                        <a:rPr lang="ko-KR" altLang="en-US" sz="1200" u="none" strike="noStrike" dirty="0">
                          <a:effectLst/>
                        </a:rPr>
                        <a:t>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홍**</a:t>
                      </a:r>
                      <a:r>
                        <a:rPr lang="en-US" altLang="ko-KR" sz="1200" u="none" strike="noStrike">
                          <a:effectLst/>
                        </a:rPr>
                        <a:t>, </a:t>
                      </a:r>
                      <a:r>
                        <a:rPr lang="ko-KR" altLang="en-US" sz="1200" u="none" strike="noStrike">
                          <a:effectLst/>
                        </a:rPr>
                        <a:t>월 </a:t>
                      </a:r>
                      <a:r>
                        <a:rPr lang="en-US" altLang="ko-KR" sz="1200" u="none" strike="noStrike">
                          <a:effectLst/>
                        </a:rPr>
                        <a:t>400</a:t>
                      </a:r>
                      <a:r>
                        <a:rPr lang="ko-KR" altLang="en-US" sz="1200" u="none" strike="noStrike">
                          <a:effectLst/>
                        </a:rPr>
                        <a:t>만</a:t>
                      </a:r>
                      <a:r>
                        <a:rPr lang="en-US" altLang="ko-KR" sz="1200" u="none" strike="noStrike">
                          <a:effectLst/>
                        </a:rPr>
                        <a:t>, </a:t>
                      </a:r>
                      <a:r>
                        <a:rPr lang="ko-KR" altLang="en-US" sz="1200" u="none" strike="noStrike">
                          <a:effectLst/>
                        </a:rPr>
                        <a:t>대전 유성구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57966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>
                          <a:effectLst/>
                        </a:rPr>
                        <a:t>김**</a:t>
                      </a:r>
                      <a:r>
                        <a:rPr lang="en-US" altLang="ko-KR" sz="1200" u="none" strike="noStrike">
                          <a:effectLst/>
                        </a:rPr>
                        <a:t>, 30</a:t>
                      </a:r>
                      <a:r>
                        <a:rPr lang="ko-KR" altLang="en-US" sz="1200" u="none" strike="noStrike">
                          <a:effectLst/>
                        </a:rPr>
                        <a:t>세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홍**</a:t>
                      </a:r>
                      <a:r>
                        <a:rPr lang="en-US" altLang="ko-KR" sz="1200" u="none" strike="noStrike" dirty="0">
                          <a:effectLst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</a:rPr>
                        <a:t>월 </a:t>
                      </a:r>
                      <a:r>
                        <a:rPr lang="en-US" altLang="ko-KR" sz="1200" u="none" strike="noStrike" dirty="0">
                          <a:effectLst/>
                        </a:rPr>
                        <a:t>400</a:t>
                      </a:r>
                      <a:r>
                        <a:rPr lang="ko-KR" altLang="en-US" sz="1200" u="none" strike="noStrike" dirty="0">
                          <a:effectLst/>
                        </a:rPr>
                        <a:t>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</a:rPr>
                        <a:t>김**</a:t>
                      </a:r>
                      <a:r>
                        <a:rPr lang="en-US" altLang="ko-KR" sz="1200" u="none" strike="noStrike" dirty="0">
                          <a:effectLst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</a:rPr>
                        <a:t>월 </a:t>
                      </a:r>
                      <a:r>
                        <a:rPr lang="en-US" altLang="ko-KR" sz="1200" u="none" strike="noStrike" dirty="0">
                          <a:effectLst/>
                        </a:rPr>
                        <a:t>700</a:t>
                      </a:r>
                      <a:r>
                        <a:rPr lang="ko-KR" altLang="en-US" sz="1200" u="none" strike="noStrike" dirty="0">
                          <a:effectLst/>
                        </a:rPr>
                        <a:t>만</a:t>
                      </a:r>
                      <a:r>
                        <a:rPr lang="en-US" altLang="ko-KR" sz="1200" u="none" strike="noStrike" dirty="0">
                          <a:effectLst/>
                        </a:rPr>
                        <a:t>, 30</a:t>
                      </a:r>
                      <a:r>
                        <a:rPr lang="ko-KR" altLang="en-US" sz="1200" u="none" strike="noStrike" dirty="0">
                          <a:effectLst/>
                        </a:rPr>
                        <a:t>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5688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101D3D8-7E57-C112-4EDD-0DA6447F10C8}"/>
              </a:ext>
            </a:extLst>
          </p:cNvPr>
          <p:cNvSpPr txBox="1"/>
          <p:nvPr/>
        </p:nvSpPr>
        <p:spPr>
          <a:xfrm>
            <a:off x="849580" y="3756947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/>
              <a:t>결합정보 예시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ED3AE-0209-CDFE-0F96-3B98B06D83C0}"/>
              </a:ext>
            </a:extLst>
          </p:cNvPr>
          <p:cNvSpPr txBox="1"/>
          <p:nvPr/>
        </p:nvSpPr>
        <p:spPr>
          <a:xfrm>
            <a:off x="849580" y="2627220"/>
            <a:ext cx="7435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 가명처리는 개인정보를 통계작성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과학적 연구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공익적 기록을 목적으로 사용하기 위해 가명정보화</a:t>
            </a:r>
            <a:endParaRPr kumimoji="1" lang="en-US" altLang="ko-KR" sz="1200" dirty="0"/>
          </a:p>
          <a:p>
            <a:r>
              <a:rPr kumimoji="1" lang="ko-KR" altLang="en-US" sz="1200" dirty="0"/>
              <a:t>* 개인정보의 일부를 삭제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대체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범주화 등의 방식으로 데이터의 가치는 유지하면서 비식별화 하는 과정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E9C0F-80DA-6FED-41B0-302BF0598A2F}"/>
              </a:ext>
            </a:extLst>
          </p:cNvPr>
          <p:cNvSpPr txBox="1"/>
          <p:nvPr/>
        </p:nvSpPr>
        <p:spPr>
          <a:xfrm>
            <a:off x="849580" y="4846724"/>
            <a:ext cx="8657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 결합은 서로 다른 가명정보에서 동일한 엔티티</a:t>
            </a:r>
            <a:r>
              <a:rPr kumimoji="1" lang="en-US" altLang="ko-KR" sz="1200" dirty="0"/>
              <a:t>(</a:t>
            </a:r>
            <a:r>
              <a:rPr kumimoji="1" lang="ko-KR" altLang="en-US" sz="1200" dirty="0"/>
              <a:t>사람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사물</a:t>
            </a:r>
            <a:r>
              <a:rPr kumimoji="1" lang="en-US" altLang="ko-KR" sz="1200" dirty="0"/>
              <a:t>)</a:t>
            </a:r>
            <a:r>
              <a:rPr kumimoji="1" lang="ko-KR" altLang="en-US" sz="1200" dirty="0" err="1"/>
              <a:t>에</a:t>
            </a:r>
            <a:r>
              <a:rPr kumimoji="1" lang="ko-KR" altLang="en-US" sz="1200" dirty="0"/>
              <a:t> 대한 정보를 합치는 과정</a:t>
            </a:r>
            <a:endParaRPr kumimoji="1" lang="en-US" altLang="ko-KR" sz="1200" dirty="0"/>
          </a:p>
          <a:p>
            <a:r>
              <a:rPr kumimoji="1" lang="ko-KR" altLang="en-US" sz="1200" dirty="0"/>
              <a:t>* 동일한 엔티티임을 확인하기 위해 결합신청자</a:t>
            </a:r>
            <a:r>
              <a:rPr kumimoji="1" lang="en-US" altLang="ko-KR" sz="1200" dirty="0"/>
              <a:t>(A, B)</a:t>
            </a:r>
            <a:r>
              <a:rPr kumimoji="1" lang="ko-KR" altLang="en-US" sz="1200" dirty="0"/>
              <a:t>간의 협의를 통해 결합키를 생성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동일한 결합키를 기반으로 결합 진행</a:t>
            </a:r>
          </a:p>
        </p:txBody>
      </p:sp>
    </p:spTree>
    <p:extLst>
      <p:ext uri="{BB962C8B-B14F-4D97-AF65-F5344CB8AC3E}">
        <p14:creationId xmlns:p14="http://schemas.microsoft.com/office/powerpoint/2010/main" val="24324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C467-FEA7-4463-D159-A60B3732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FB3AF8-4CE9-5886-0216-60B9AFA8AAFF}"/>
              </a:ext>
            </a:extLst>
          </p:cNvPr>
          <p:cNvSpPr txBox="1"/>
          <p:nvPr/>
        </p:nvSpPr>
        <p:spPr>
          <a:xfrm>
            <a:off x="360000" y="360000"/>
            <a:ext cx="3986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01.</a:t>
            </a:r>
            <a:r>
              <a:rPr kumimoji="1" lang="ko-KR" altLang="en-US" sz="2000" b="1" dirty="0"/>
              <a:t> 가명정보 결합 과정의 문제점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C47561-6219-7937-5DC2-F9DD93C2315A}"/>
              </a:ext>
            </a:extLst>
          </p:cNvPr>
          <p:cNvSpPr txBox="1"/>
          <p:nvPr/>
        </p:nvSpPr>
        <p:spPr>
          <a:xfrm>
            <a:off x="817739" y="1584674"/>
            <a:ext cx="5153975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1.</a:t>
            </a:r>
            <a:r>
              <a:rPr kumimoji="1" lang="ko-KR" altLang="en-US" sz="1400" dirty="0"/>
              <a:t> 사전준비 및 결합 신청</a:t>
            </a:r>
            <a:endParaRPr kumimoji="1" lang="en-US" altLang="ko-KR" sz="14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결합 목적 달성에 필요한 데이터 선정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반복결합 여부 선택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추가절차</a:t>
            </a:r>
            <a:r>
              <a:rPr kumimoji="1" lang="en-US" altLang="ko-KR" sz="1200" dirty="0"/>
              <a:t>(</a:t>
            </a:r>
            <a:r>
              <a:rPr kumimoji="1" lang="ko-KR" altLang="en-US" sz="1200" dirty="0"/>
              <a:t>모의결합</a:t>
            </a:r>
            <a:r>
              <a:rPr kumimoji="1" lang="en-US" altLang="ko-KR" sz="1200" dirty="0"/>
              <a:t>/</a:t>
            </a:r>
            <a:r>
              <a:rPr kumimoji="1" lang="ko-KR" altLang="en-US" sz="1200" dirty="0"/>
              <a:t>결합률 확인</a:t>
            </a:r>
            <a:r>
              <a:rPr kumimoji="1" lang="en-US" altLang="ko-KR" sz="1200" dirty="0"/>
              <a:t>/</a:t>
            </a:r>
            <a:r>
              <a:rPr kumimoji="1" lang="ko-KR" altLang="en-US" sz="1200" dirty="0"/>
              <a:t>가명정보 추출</a:t>
            </a:r>
            <a:r>
              <a:rPr kumimoji="1" lang="en-US" altLang="ko-KR" sz="1200" dirty="0"/>
              <a:t>)</a:t>
            </a:r>
            <a:r>
              <a:rPr kumimoji="1" lang="ko-KR" altLang="en-US" sz="1200" dirty="0"/>
              <a:t> 신청 여부 선택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결합신청자간 협의를 통해 결합키 생성항목 선정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결합신청서 작성</a:t>
            </a:r>
            <a:endParaRPr kumimoji="1"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A08C82-5E66-8066-807B-03FCABEB9DE8}"/>
              </a:ext>
            </a:extLst>
          </p:cNvPr>
          <p:cNvSpPr txBox="1"/>
          <p:nvPr/>
        </p:nvSpPr>
        <p:spPr>
          <a:xfrm>
            <a:off x="890970" y="3142280"/>
            <a:ext cx="525817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2.</a:t>
            </a:r>
            <a:r>
              <a:rPr kumimoji="1" lang="ko-KR" altLang="en-US" sz="1400" dirty="0"/>
              <a:t> 결합수행 및 추가절차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모의결합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결합률 확인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 가명정보 추출</a:t>
            </a:r>
            <a:r>
              <a:rPr kumimoji="1" lang="en-US" altLang="ko-KR" sz="1400" dirty="0"/>
              <a:t>)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 err="1"/>
              <a:t>결합키관리기관에</a:t>
            </a:r>
            <a:r>
              <a:rPr kumimoji="1" lang="ko-KR" altLang="en-US" sz="1200" dirty="0"/>
              <a:t> 결합키와 일련번호 전송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결합전문기관에 일련번호 및 결합대상정보 전송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en-US" altLang="ko-KR" sz="1200" dirty="0"/>
              <a:t>(</a:t>
            </a:r>
            <a:r>
              <a:rPr kumimoji="1" lang="ko-KR" altLang="en-US" sz="1200" dirty="0"/>
              <a:t>모의결합 진행 및 결합률 확인</a:t>
            </a:r>
            <a:r>
              <a:rPr kumimoji="1" lang="en-US" altLang="ko-KR" sz="1200" dirty="0"/>
              <a:t>)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결합 진행</a:t>
            </a:r>
            <a:endParaRPr kumimoji="1" lang="en-US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983AA6-5E1A-8049-C550-CA45F3837A5F}"/>
              </a:ext>
            </a:extLst>
          </p:cNvPr>
          <p:cNvSpPr txBox="1"/>
          <p:nvPr/>
        </p:nvSpPr>
        <p:spPr>
          <a:xfrm>
            <a:off x="890970" y="4515220"/>
            <a:ext cx="323037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3.</a:t>
            </a:r>
            <a:r>
              <a:rPr kumimoji="1" lang="ko-KR" altLang="en-US" sz="1400" dirty="0"/>
              <a:t> 추가절차 및 적정성 검사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결합정보 적정성 검사</a:t>
            </a:r>
            <a:r>
              <a:rPr kumimoji="1" lang="en-US" altLang="ko-KR" sz="1200" dirty="0"/>
              <a:t>(</a:t>
            </a:r>
            <a:r>
              <a:rPr kumimoji="1" lang="ko-KR" altLang="en-US" sz="1200" dirty="0" err="1"/>
              <a:t>식별성</a:t>
            </a:r>
            <a:r>
              <a:rPr kumimoji="1" lang="ko-KR" altLang="en-US" sz="1200" dirty="0"/>
              <a:t> 검사</a:t>
            </a:r>
            <a:r>
              <a:rPr kumimoji="1" lang="en-US" altLang="ko-KR" sz="1200" dirty="0"/>
              <a:t>)</a:t>
            </a:r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필요시 추가 가명처리</a:t>
            </a:r>
            <a:endParaRPr kumimoji="1"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9716DD-C9DB-6F0C-BD35-B92CFA215087}"/>
              </a:ext>
            </a:extLst>
          </p:cNvPr>
          <p:cNvSpPr txBox="1"/>
          <p:nvPr/>
        </p:nvSpPr>
        <p:spPr>
          <a:xfrm>
            <a:off x="890970" y="5518827"/>
            <a:ext cx="225895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4.</a:t>
            </a:r>
            <a:r>
              <a:rPr kumimoji="1" lang="ko-KR" altLang="en-US" sz="1400" dirty="0"/>
              <a:t> 반출심사 및 사후관리</a:t>
            </a:r>
            <a:endParaRPr kumimoji="1" lang="en-US" altLang="ko-KR" sz="14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반출 요청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반출심사위원회 조성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반출 심사</a:t>
            </a:r>
            <a:endParaRPr kumimoji="1" lang="en-US" altLang="ko-KR" sz="1200" dirty="0"/>
          </a:p>
          <a:p>
            <a:pPr marL="628650" lvl="1" indent="-171450">
              <a:buFont typeface="Wingdings" pitchFamily="2" charset="2"/>
              <a:buChar char="Ø"/>
            </a:pPr>
            <a:r>
              <a:rPr kumimoji="1" lang="ko-KR" altLang="en-US" sz="1200" dirty="0"/>
              <a:t>반출 진행</a:t>
            </a:r>
            <a:endParaRPr kumimoji="1"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582CB-2B76-E5DB-458E-39847D0EF5F7}"/>
              </a:ext>
            </a:extLst>
          </p:cNvPr>
          <p:cNvSpPr txBox="1"/>
          <p:nvPr/>
        </p:nvSpPr>
        <p:spPr>
          <a:xfrm>
            <a:off x="6584456" y="2822372"/>
            <a:ext cx="5293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b="1" dirty="0"/>
              <a:t>｢</a:t>
            </a:r>
            <a:r>
              <a:rPr kumimoji="1" lang="ko-KR" altLang="en-US" sz="1200" b="1" dirty="0"/>
              <a:t>개인정보 보호법</a:t>
            </a:r>
            <a:r>
              <a:rPr kumimoji="1" lang="en-US" altLang="ko-KR" sz="1200" b="1" dirty="0"/>
              <a:t>｣</a:t>
            </a:r>
            <a:r>
              <a:rPr kumimoji="1" lang="ko-KR" altLang="en-US" sz="1200" b="1" dirty="0"/>
              <a:t> 제 </a:t>
            </a:r>
            <a:r>
              <a:rPr kumimoji="1" lang="en-US" altLang="ko-KR" sz="1200" b="1" dirty="0"/>
              <a:t>28</a:t>
            </a:r>
            <a:r>
              <a:rPr kumimoji="1" lang="ko-KR" altLang="en-US" sz="1200" b="1" dirty="0"/>
              <a:t>조 </a:t>
            </a:r>
            <a:r>
              <a:rPr kumimoji="1" lang="en-US" altLang="ko-KR" sz="1200" b="1" dirty="0"/>
              <a:t>3</a:t>
            </a:r>
            <a:r>
              <a:rPr kumimoji="1" lang="ko-KR" altLang="en-US" sz="1200" b="1" dirty="0" err="1"/>
              <a:t>에</a:t>
            </a:r>
            <a:r>
              <a:rPr kumimoji="1" lang="ko-KR" altLang="en-US" sz="1200" b="1" dirty="0"/>
              <a:t> 따라 가명정보의 결합은 보호위원회 또는 </a:t>
            </a:r>
            <a:endParaRPr kumimoji="1" lang="en-US" altLang="ko-KR" sz="1200" b="1" dirty="0"/>
          </a:p>
          <a:p>
            <a:r>
              <a:rPr kumimoji="1" lang="ko-KR" altLang="en-US" sz="1200" b="1" dirty="0"/>
              <a:t>관계 중앙행정기관의 장이 지정하는 </a:t>
            </a:r>
            <a:r>
              <a:rPr kumimoji="1" lang="ko-KR" altLang="en-US" sz="1200" b="1" dirty="0">
                <a:solidFill>
                  <a:srgbClr val="FF0000"/>
                </a:solidFill>
              </a:rPr>
              <a:t>전문기관에서 수행</a:t>
            </a:r>
            <a:r>
              <a:rPr kumimoji="1" lang="ko-KR" altLang="en-US" sz="1200" b="1" dirty="0"/>
              <a:t>해야 함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285FE0-ECDC-9CB7-7F32-3C8A4D6D4B3C}"/>
              </a:ext>
            </a:extLst>
          </p:cNvPr>
          <p:cNvSpPr txBox="1"/>
          <p:nvPr/>
        </p:nvSpPr>
        <p:spPr>
          <a:xfrm>
            <a:off x="6584456" y="3506572"/>
            <a:ext cx="3425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반출심사위원회는 결합기관과 이해관계가 없는</a:t>
            </a:r>
            <a:endParaRPr kumimoji="1" lang="en-US" altLang="ko-KR" sz="1200" b="1" dirty="0"/>
          </a:p>
          <a:p>
            <a:r>
              <a:rPr kumimoji="1" lang="ko-KR" altLang="en-US" sz="1200" b="1" dirty="0">
                <a:solidFill>
                  <a:srgbClr val="FF0000"/>
                </a:solidFill>
              </a:rPr>
              <a:t>외부전문가</a:t>
            </a:r>
            <a:r>
              <a:rPr kumimoji="1" lang="ko-KR" altLang="en-US" sz="1200" b="1" dirty="0"/>
              <a:t>로만 </a:t>
            </a:r>
            <a:r>
              <a:rPr kumimoji="1" lang="en-US" altLang="ko-KR" sz="1200" b="1" dirty="0">
                <a:solidFill>
                  <a:srgbClr val="FF0000"/>
                </a:solidFill>
              </a:rPr>
              <a:t>3</a:t>
            </a:r>
            <a:r>
              <a:rPr kumimoji="1" lang="ko-KR" altLang="en-US" sz="1200" b="1" dirty="0">
                <a:solidFill>
                  <a:srgbClr val="FF0000"/>
                </a:solidFill>
              </a:rPr>
              <a:t>인</a:t>
            </a:r>
            <a:r>
              <a:rPr kumimoji="1" lang="ko-KR" altLang="en-US" sz="1200" b="1" dirty="0"/>
              <a:t>을 구성해야 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B57DE6-0EE4-ED3D-F590-914E88017D91}"/>
              </a:ext>
            </a:extLst>
          </p:cNvPr>
          <p:cNvSpPr txBox="1"/>
          <p:nvPr/>
        </p:nvSpPr>
        <p:spPr>
          <a:xfrm>
            <a:off x="773747" y="1060949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가명정보 결합 과정 현황</a:t>
            </a:r>
          </a:p>
        </p:txBody>
      </p:sp>
    </p:spTree>
    <p:extLst>
      <p:ext uri="{BB962C8B-B14F-4D97-AF65-F5344CB8AC3E}">
        <p14:creationId xmlns:p14="http://schemas.microsoft.com/office/powerpoint/2010/main" val="322777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9A68-BC63-BBF7-EA2C-8E83B048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2F9A0-1848-8851-0EF9-50DB07B37AFA}"/>
              </a:ext>
            </a:extLst>
          </p:cNvPr>
          <p:cNvSpPr txBox="1"/>
          <p:nvPr/>
        </p:nvSpPr>
        <p:spPr>
          <a:xfrm>
            <a:off x="360000" y="360000"/>
            <a:ext cx="2268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02.</a:t>
            </a:r>
            <a:r>
              <a:rPr kumimoji="1" lang="ko-KR" altLang="en-US" sz="2000" b="1" dirty="0"/>
              <a:t> 프로젝트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A4C4E-5E8E-D536-9D7B-31EBA1661ADB}"/>
              </a:ext>
            </a:extLst>
          </p:cNvPr>
          <p:cNvSpPr txBox="1"/>
          <p:nvPr/>
        </p:nvSpPr>
        <p:spPr>
          <a:xfrm>
            <a:off x="1088058" y="2272593"/>
            <a:ext cx="10015883" cy="2312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/>
              <a:t>01.</a:t>
            </a:r>
            <a:r>
              <a:rPr kumimoji="1" lang="ko-KR" altLang="en-US" sz="1400" dirty="0"/>
              <a:t> 개인정보 보호법 및 가명정보 처리 가이드라인에 저촉되지 않는 결합 자동화 플랫폼 구축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02.</a:t>
            </a:r>
            <a:r>
              <a:rPr kumimoji="1" lang="ko-KR" altLang="en-US" sz="1400" dirty="0"/>
              <a:t> 복잡한 가명정보 결합 과정을 축소하고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관리자 및 사용자의 개입을 배제한 완전 자동화를 목표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03.</a:t>
            </a:r>
            <a:r>
              <a:rPr kumimoji="1" lang="ko-KR" altLang="en-US" sz="1400" dirty="0"/>
              <a:t> 현행법상 민관기관에서는 결합이 불가능하므로 데이터안심구역과 같은 민감정보 관리 기관에서 운영되는 것을 목표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04.</a:t>
            </a:r>
            <a:r>
              <a:rPr kumimoji="1" lang="ko-KR" altLang="en-US" sz="1400" dirty="0"/>
              <a:t> 파이프라인을 구축하여 민감정보 대규모 파일 </a:t>
            </a:r>
            <a:r>
              <a:rPr kumimoji="1" lang="ko-KR" altLang="en-US" sz="1400" dirty="0" err="1"/>
              <a:t>청크</a:t>
            </a:r>
            <a:r>
              <a:rPr kumimoji="1" lang="en-US" altLang="ko-KR" sz="1400" dirty="0"/>
              <a:t>(chunk)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전송 받아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메타데이터를 기반으로 원복 후 결합과정 진행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05.</a:t>
            </a:r>
            <a:r>
              <a:rPr kumimoji="1" lang="ko-KR" altLang="en-US" sz="1400" dirty="0"/>
              <a:t> 도메인 사전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규칙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과 </a:t>
            </a:r>
            <a:r>
              <a:rPr kumimoji="1" lang="en-US" altLang="ko-KR" sz="1400" dirty="0"/>
              <a:t>NLP</a:t>
            </a:r>
            <a:r>
              <a:rPr kumimoji="1" lang="ko-KR" altLang="en-US" sz="1400" dirty="0"/>
              <a:t> 등의 </a:t>
            </a:r>
            <a:r>
              <a:rPr kumimoji="1" lang="en-US" altLang="ko-KR" sz="1400" dirty="0"/>
              <a:t>AI </a:t>
            </a:r>
            <a:r>
              <a:rPr kumimoji="1" lang="ko-KR" altLang="en-US" sz="1400" dirty="0" err="1"/>
              <a:t>임베딩</a:t>
            </a:r>
            <a:r>
              <a:rPr kumimoji="1" lang="ko-KR" altLang="en-US" sz="1400" dirty="0"/>
              <a:t> 기반 식별정보 알고리즘을 통해 결합키 생성에 필요한 데이터 추출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06.</a:t>
            </a:r>
            <a:r>
              <a:rPr kumimoji="1" lang="ko-KR" altLang="en-US" sz="1400" dirty="0"/>
              <a:t> 결합키를 기반으로 결합 진행 후 결합률 계산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07.</a:t>
            </a:r>
            <a:r>
              <a:rPr kumimoji="1" lang="ko-KR" altLang="en-US" sz="1400" dirty="0"/>
              <a:t> 반출심사위원회를 대체하는 합의 알고리즘을 통해 결합정보의 적정성을 검사하고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즉시 반출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활용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 혹은 추가 처리 지원</a:t>
            </a:r>
            <a:endParaRPr kumimoji="1"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2981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7CEF-63A0-BE0C-4C9D-BBB37EC6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D6E37-8CE4-5468-3955-597C82D4ECFB}"/>
              </a:ext>
            </a:extLst>
          </p:cNvPr>
          <p:cNvSpPr txBox="1"/>
          <p:nvPr/>
        </p:nvSpPr>
        <p:spPr>
          <a:xfrm>
            <a:off x="360000" y="360000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03.</a:t>
            </a:r>
            <a:r>
              <a:rPr kumimoji="1" lang="ko-KR" altLang="en-US" sz="2000" b="1" dirty="0"/>
              <a:t> 플랫폼 아키텍처</a:t>
            </a:r>
          </a:p>
        </p:txBody>
      </p:sp>
      <p:grpSp>
        <p:nvGrpSpPr>
          <p:cNvPr id="1126" name="그룹 1125">
            <a:extLst>
              <a:ext uri="{FF2B5EF4-FFF2-40B4-BE49-F238E27FC236}">
                <a16:creationId xmlns:a16="http://schemas.microsoft.com/office/drawing/2014/main" id="{CD01410F-23CC-F049-E743-DEA74253E968}"/>
              </a:ext>
            </a:extLst>
          </p:cNvPr>
          <p:cNvGrpSpPr/>
          <p:nvPr/>
        </p:nvGrpSpPr>
        <p:grpSpPr>
          <a:xfrm>
            <a:off x="1580864" y="1419330"/>
            <a:ext cx="9030272" cy="4698740"/>
            <a:chOff x="1673547" y="1300577"/>
            <a:chExt cx="9030272" cy="4698740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87793D76-8BD4-012F-B0CD-BE1F5E94031B}"/>
                </a:ext>
              </a:extLst>
            </p:cNvPr>
            <p:cNvSpPr/>
            <p:nvPr/>
          </p:nvSpPr>
          <p:spPr>
            <a:xfrm>
              <a:off x="1673547" y="1608354"/>
              <a:ext cx="9030272" cy="3166440"/>
            </a:xfrm>
            <a:prstGeom prst="roundRect">
              <a:avLst>
                <a:gd name="adj" fmla="val 9594"/>
              </a:avLst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1D6EFF-00EB-051D-03A5-5884B4188AEB}"/>
                </a:ext>
              </a:extLst>
            </p:cNvPr>
            <p:cNvSpPr txBox="1"/>
            <p:nvPr/>
          </p:nvSpPr>
          <p:spPr>
            <a:xfrm>
              <a:off x="1673547" y="1300577"/>
              <a:ext cx="27687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400" dirty="0"/>
                <a:t>민감정보 관리 기관 시스템 내부</a:t>
              </a:r>
            </a:p>
          </p:txBody>
        </p:sp>
        <p:pic>
          <p:nvPicPr>
            <p:cNvPr id="1028" name="Picture 4" descr="새 데이터베이스 - 무료 과학 기술개 아이콘">
              <a:extLst>
                <a:ext uri="{FF2B5EF4-FFF2-40B4-BE49-F238E27FC236}">
                  <a16:creationId xmlns:a16="http://schemas.microsoft.com/office/drawing/2014/main" id="{134EBB51-4B97-3113-4AB9-E70DFA8AA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9629" y="2334219"/>
              <a:ext cx="546734" cy="546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새 데이터베이스 - 무료 과학 기술개 아이콘">
              <a:extLst>
                <a:ext uri="{FF2B5EF4-FFF2-40B4-BE49-F238E27FC236}">
                  <a16:creationId xmlns:a16="http://schemas.microsoft.com/office/drawing/2014/main" id="{12CBC404-E412-E93D-3757-517DE4EB1F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9629" y="3060084"/>
              <a:ext cx="546734" cy="546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새 데이터베이스 - 무료 과학 기술개 아이콘">
              <a:extLst>
                <a:ext uri="{FF2B5EF4-FFF2-40B4-BE49-F238E27FC236}">
                  <a16:creationId xmlns:a16="http://schemas.microsoft.com/office/drawing/2014/main" id="{C7648390-61E7-9F55-8D9C-FE690088A5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9629" y="3775613"/>
              <a:ext cx="546734" cy="546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접 액세스 저장소 11">
              <a:extLst>
                <a:ext uri="{FF2B5EF4-FFF2-40B4-BE49-F238E27FC236}">
                  <a16:creationId xmlns:a16="http://schemas.microsoft.com/office/drawing/2014/main" id="{41A798FC-B241-35C0-D26E-9F7586619474}"/>
                </a:ext>
              </a:extLst>
            </p:cNvPr>
            <p:cNvSpPr/>
            <p:nvPr/>
          </p:nvSpPr>
          <p:spPr>
            <a:xfrm>
              <a:off x="3372445" y="2932822"/>
              <a:ext cx="1143637" cy="795234"/>
            </a:xfrm>
            <a:prstGeom prst="flowChartMagneticDru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4E3F85-9646-7A83-DF1A-C9ADD57195BB}"/>
                </a:ext>
              </a:extLst>
            </p:cNvPr>
            <p:cNvSpPr txBox="1"/>
            <p:nvPr/>
          </p:nvSpPr>
          <p:spPr>
            <a:xfrm>
              <a:off x="3260986" y="2639867"/>
              <a:ext cx="13163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/>
                <a:t>입력 파이프라인</a:t>
              </a:r>
            </a:p>
          </p:txBody>
        </p: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226E5194-EE13-BEF1-1267-DAAD7E06F1C1}"/>
                </a:ext>
              </a:extLst>
            </p:cNvPr>
            <p:cNvCxnSpPr>
              <a:cxnSpLocks/>
              <a:stCxn id="1028" idx="3"/>
              <a:endCxn id="12" idx="1"/>
            </p:cNvCxnSpPr>
            <p:nvPr/>
          </p:nvCxnSpPr>
          <p:spPr>
            <a:xfrm>
              <a:off x="2796363" y="2607586"/>
              <a:ext cx="576082" cy="722853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꺾인 연결선[E] 15">
              <a:extLst>
                <a:ext uri="{FF2B5EF4-FFF2-40B4-BE49-F238E27FC236}">
                  <a16:creationId xmlns:a16="http://schemas.microsoft.com/office/drawing/2014/main" id="{057D3DF3-FAE5-5378-76C4-EA7FB9A508E1}"/>
                </a:ext>
              </a:extLst>
            </p:cNvPr>
            <p:cNvCxnSpPr>
              <a:cxnSpLocks/>
              <a:stCxn id="9" idx="3"/>
              <a:endCxn id="12" idx="1"/>
            </p:cNvCxnSpPr>
            <p:nvPr/>
          </p:nvCxnSpPr>
          <p:spPr>
            <a:xfrm flipV="1">
              <a:off x="2796363" y="3330439"/>
              <a:ext cx="576082" cy="301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꺾인 연결선[E] 18">
              <a:extLst>
                <a:ext uri="{FF2B5EF4-FFF2-40B4-BE49-F238E27FC236}">
                  <a16:creationId xmlns:a16="http://schemas.microsoft.com/office/drawing/2014/main" id="{F44DB998-4312-BB8D-C59E-4C965E6C8F26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 flipV="1">
              <a:off x="2796363" y="3330439"/>
              <a:ext cx="576082" cy="718541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770FF010-924E-600B-17FA-71056717E4D4}"/>
                </a:ext>
              </a:extLst>
            </p:cNvPr>
            <p:cNvSpPr/>
            <p:nvPr/>
          </p:nvSpPr>
          <p:spPr>
            <a:xfrm>
              <a:off x="5188031" y="2277659"/>
              <a:ext cx="3496013" cy="2105560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C1E323-3474-D453-F5D1-4230BB2E6754}"/>
                </a:ext>
              </a:extLst>
            </p:cNvPr>
            <p:cNvSpPr txBox="1"/>
            <p:nvPr/>
          </p:nvSpPr>
          <p:spPr>
            <a:xfrm>
              <a:off x="5188032" y="2000660"/>
              <a:ext cx="20409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/>
                <a:t>자동 결합정보 플랫폼 내부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6996918-53D0-8AD1-9071-B778F028A6D3}"/>
                </a:ext>
              </a:extLst>
            </p:cNvPr>
            <p:cNvCxnSpPr>
              <a:cxnSpLocks/>
              <a:stCxn id="12" idx="4"/>
              <a:endCxn id="22" idx="1"/>
            </p:cNvCxnSpPr>
            <p:nvPr/>
          </p:nvCxnSpPr>
          <p:spPr>
            <a:xfrm>
              <a:off x="4516082" y="3330439"/>
              <a:ext cx="6719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8AC1BA-1ADA-F147-EA4B-CEE28674BB35}"/>
                </a:ext>
              </a:extLst>
            </p:cNvPr>
            <p:cNvSpPr txBox="1"/>
            <p:nvPr/>
          </p:nvSpPr>
          <p:spPr>
            <a:xfrm>
              <a:off x="1710113" y="1978372"/>
              <a:ext cx="16257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/>
                <a:t>기관 내 민감정보 </a:t>
              </a:r>
              <a:r>
                <a:rPr kumimoji="1" lang="en-US" altLang="ko-KR" sz="1200" dirty="0"/>
                <a:t>DB</a:t>
              </a:r>
              <a:endParaRPr kumimoji="1" lang="ko-KR" altLang="en-US" sz="1200" dirty="0"/>
            </a:p>
          </p:txBody>
        </p:sp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A502C4C1-FC0F-4FBB-842E-8C5CD76EE18C}"/>
                </a:ext>
              </a:extLst>
            </p:cNvPr>
            <p:cNvSpPr/>
            <p:nvPr/>
          </p:nvSpPr>
          <p:spPr>
            <a:xfrm>
              <a:off x="5621174" y="2513557"/>
              <a:ext cx="1379347" cy="36185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도메인 사전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</a:rPr>
                <a:t>/</a:t>
              </a:r>
              <a:r>
                <a:rPr kumimoji="1" lang="ko-KR" altLang="en-US" sz="800" dirty="0" err="1">
                  <a:solidFill>
                    <a:sysClr val="windowText" lastClr="000000"/>
                  </a:solidFill>
                </a:rPr>
                <a:t>임베딩</a:t>
              </a:r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 기반 </a:t>
              </a:r>
              <a:endParaRPr kumimoji="1" lang="en-US" altLang="ko-KR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식별정보 탐지 알고리즘</a:t>
              </a:r>
            </a:p>
          </p:txBody>
        </p:sp>
        <p:cxnSp>
          <p:nvCxnSpPr>
            <p:cNvPr id="42" name="꺾인 연결선[E] 41">
              <a:extLst>
                <a:ext uri="{FF2B5EF4-FFF2-40B4-BE49-F238E27FC236}">
                  <a16:creationId xmlns:a16="http://schemas.microsoft.com/office/drawing/2014/main" id="{363B2463-F1AF-B4FE-565D-DEE7A4544B02}"/>
                </a:ext>
              </a:extLst>
            </p:cNvPr>
            <p:cNvCxnSpPr>
              <a:cxnSpLocks/>
              <a:stCxn id="22" idx="1"/>
              <a:endCxn id="31" idx="1"/>
            </p:cNvCxnSpPr>
            <p:nvPr/>
          </p:nvCxnSpPr>
          <p:spPr>
            <a:xfrm rot="10800000" flipH="1">
              <a:off x="5188030" y="2694483"/>
              <a:ext cx="433143" cy="635956"/>
            </a:xfrm>
            <a:prstGeom prst="bentConnector3">
              <a:avLst>
                <a:gd name="adj1" fmla="val 4359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CDE28B41-CC48-0C6A-1C46-3A056F6987D3}"/>
                </a:ext>
              </a:extLst>
            </p:cNvPr>
            <p:cNvSpPr/>
            <p:nvPr/>
          </p:nvSpPr>
          <p:spPr>
            <a:xfrm>
              <a:off x="7315047" y="2496558"/>
              <a:ext cx="1046376" cy="3958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결합키 생성 모듈</a:t>
              </a:r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798069AD-FEF9-AF92-F21D-609D79ECF1D2}"/>
                </a:ext>
              </a:extLst>
            </p:cNvPr>
            <p:cNvCxnSpPr>
              <a:cxnSpLocks/>
              <a:stCxn id="31" idx="3"/>
              <a:endCxn id="46" idx="1"/>
            </p:cNvCxnSpPr>
            <p:nvPr/>
          </p:nvCxnSpPr>
          <p:spPr>
            <a:xfrm>
              <a:off x="7000521" y="2694483"/>
              <a:ext cx="31452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E15EA428-0DF4-7C6F-6A38-341306106987}"/>
                </a:ext>
              </a:extLst>
            </p:cNvPr>
            <p:cNvSpPr/>
            <p:nvPr/>
          </p:nvSpPr>
          <p:spPr>
            <a:xfrm>
              <a:off x="7315047" y="3169406"/>
              <a:ext cx="1046376" cy="3958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결합키 기반 결합 모듈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735CA9FE-B628-9A87-4529-8C69D25E04C5}"/>
                </a:ext>
              </a:extLst>
            </p:cNvPr>
            <p:cNvCxnSpPr>
              <a:cxnSpLocks/>
              <a:stCxn id="46" idx="2"/>
              <a:endCxn id="51" idx="0"/>
            </p:cNvCxnSpPr>
            <p:nvPr/>
          </p:nvCxnSpPr>
          <p:spPr>
            <a:xfrm>
              <a:off x="7838235" y="2892407"/>
              <a:ext cx="0" cy="2769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B1B738D5-DDD6-5389-FCDB-28CF60D358AB}"/>
                </a:ext>
              </a:extLst>
            </p:cNvPr>
            <p:cNvSpPr/>
            <p:nvPr/>
          </p:nvSpPr>
          <p:spPr>
            <a:xfrm>
              <a:off x="5787659" y="3169405"/>
              <a:ext cx="1046376" cy="3958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결합률 계산 모듈</a:t>
              </a: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93B97216-29E6-ED24-9A5E-0610632309F3}"/>
                </a:ext>
              </a:extLst>
            </p:cNvPr>
            <p:cNvCxnSpPr>
              <a:cxnSpLocks/>
              <a:stCxn id="51" idx="1"/>
              <a:endCxn id="55" idx="3"/>
            </p:cNvCxnSpPr>
            <p:nvPr/>
          </p:nvCxnSpPr>
          <p:spPr>
            <a:xfrm flipH="1" flipV="1">
              <a:off x="6834035" y="3367330"/>
              <a:ext cx="48101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직선 화살표 연결선 1024">
              <a:extLst>
                <a:ext uri="{FF2B5EF4-FFF2-40B4-BE49-F238E27FC236}">
                  <a16:creationId xmlns:a16="http://schemas.microsoft.com/office/drawing/2014/main" id="{B8EB3F0B-8B06-8BA0-3839-E3C49233E0E0}"/>
                </a:ext>
              </a:extLst>
            </p:cNvPr>
            <p:cNvCxnSpPr>
              <a:cxnSpLocks/>
              <a:stCxn id="55" idx="0"/>
              <a:endCxn id="31" idx="2"/>
            </p:cNvCxnSpPr>
            <p:nvPr/>
          </p:nvCxnSpPr>
          <p:spPr>
            <a:xfrm flipV="1">
              <a:off x="6310847" y="2875409"/>
              <a:ext cx="1" cy="2939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모서리가 둥근 직사각형 1032">
              <a:extLst>
                <a:ext uri="{FF2B5EF4-FFF2-40B4-BE49-F238E27FC236}">
                  <a16:creationId xmlns:a16="http://schemas.microsoft.com/office/drawing/2014/main" id="{3B9D6961-CE6E-4F1B-1BE3-DA0B7808E281}"/>
                </a:ext>
              </a:extLst>
            </p:cNvPr>
            <p:cNvSpPr/>
            <p:nvPr/>
          </p:nvSpPr>
          <p:spPr>
            <a:xfrm>
              <a:off x="5787659" y="3780013"/>
              <a:ext cx="1046376" cy="3958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추가 가명처리</a:t>
              </a:r>
              <a:endParaRPr kumimoji="1" lang="en-US" altLang="ko-KR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모듈</a:t>
              </a:r>
            </a:p>
          </p:txBody>
        </p:sp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E094D507-0593-E5BA-49AB-2F8500C38ECF}"/>
                </a:ext>
              </a:extLst>
            </p:cNvPr>
            <p:cNvCxnSpPr>
              <a:cxnSpLocks/>
              <a:stCxn id="55" idx="2"/>
              <a:endCxn id="1033" idx="0"/>
            </p:cNvCxnSpPr>
            <p:nvPr/>
          </p:nvCxnSpPr>
          <p:spPr>
            <a:xfrm>
              <a:off x="6310847" y="3565254"/>
              <a:ext cx="0" cy="2147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E9CC9CA4-E4A3-6DDA-2078-FB537752CCC0}"/>
                </a:ext>
              </a:extLst>
            </p:cNvPr>
            <p:cNvSpPr txBox="1"/>
            <p:nvPr/>
          </p:nvSpPr>
          <p:spPr>
            <a:xfrm>
              <a:off x="5333916" y="2458585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①</a:t>
              </a:r>
              <a:endParaRPr kumimoji="1" lang="ko-KR" altLang="en-US" sz="800" dirty="0"/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632EA49C-1149-24D6-B716-50518E947A9A}"/>
                </a:ext>
              </a:extLst>
            </p:cNvPr>
            <p:cNvSpPr txBox="1"/>
            <p:nvPr/>
          </p:nvSpPr>
          <p:spPr>
            <a:xfrm>
              <a:off x="7000521" y="2484080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②</a:t>
              </a:r>
              <a:endParaRPr kumimoji="1" lang="ko-KR" altLang="en-US" sz="800" dirty="0"/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AF3C241E-5E57-D87A-6308-5B726236A531}"/>
                </a:ext>
              </a:extLst>
            </p:cNvPr>
            <p:cNvSpPr txBox="1"/>
            <p:nvPr/>
          </p:nvSpPr>
          <p:spPr>
            <a:xfrm>
              <a:off x="7838235" y="2923184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③</a:t>
              </a:r>
              <a:endParaRPr kumimoji="1" lang="ko-KR" altLang="en-US" sz="800" dirty="0"/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A32CF312-4CE2-C7C2-867E-26478C70CB3E}"/>
                </a:ext>
              </a:extLst>
            </p:cNvPr>
            <p:cNvSpPr txBox="1"/>
            <p:nvPr/>
          </p:nvSpPr>
          <p:spPr>
            <a:xfrm>
              <a:off x="6962697" y="3163841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④</a:t>
              </a:r>
              <a:endParaRPr kumimoji="1" lang="ko-KR" altLang="en-US" sz="800" dirty="0"/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317AFAB5-4A7E-AF6A-7D9E-84FF8658AC00}"/>
                </a:ext>
              </a:extLst>
            </p:cNvPr>
            <p:cNvSpPr txBox="1"/>
            <p:nvPr/>
          </p:nvSpPr>
          <p:spPr>
            <a:xfrm>
              <a:off x="6068362" y="2945462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⑤</a:t>
              </a:r>
              <a:endParaRPr kumimoji="1" lang="ko-KR" altLang="en-US" sz="800" dirty="0"/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63B0C754-F450-0D77-3427-5020EDCE70E0}"/>
                </a:ext>
              </a:extLst>
            </p:cNvPr>
            <p:cNvSpPr txBox="1"/>
            <p:nvPr/>
          </p:nvSpPr>
          <p:spPr>
            <a:xfrm>
              <a:off x="6047690" y="3544714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⑥</a:t>
              </a:r>
              <a:endParaRPr kumimoji="1" lang="ko-KR" altLang="en-US" sz="800" dirty="0"/>
            </a:p>
          </p:txBody>
        </p:sp>
        <p:sp>
          <p:nvSpPr>
            <p:cNvPr id="1072" name="모서리가 둥근 직사각형 1071">
              <a:extLst>
                <a:ext uri="{FF2B5EF4-FFF2-40B4-BE49-F238E27FC236}">
                  <a16:creationId xmlns:a16="http://schemas.microsoft.com/office/drawing/2014/main" id="{A539260D-FC44-D0B9-3FF7-31C59D17192E}"/>
                </a:ext>
              </a:extLst>
            </p:cNvPr>
            <p:cNvSpPr/>
            <p:nvPr/>
          </p:nvSpPr>
          <p:spPr>
            <a:xfrm>
              <a:off x="7315047" y="3780012"/>
              <a:ext cx="1046376" cy="3958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합의 알고리즘</a:t>
              </a:r>
            </a:p>
          </p:txBody>
        </p:sp>
        <p:cxnSp>
          <p:nvCxnSpPr>
            <p:cNvPr id="1073" name="직선 화살표 연결선 1072">
              <a:extLst>
                <a:ext uri="{FF2B5EF4-FFF2-40B4-BE49-F238E27FC236}">
                  <a16:creationId xmlns:a16="http://schemas.microsoft.com/office/drawing/2014/main" id="{A3C3D50A-27DF-94D6-090D-CA05A73FFB6B}"/>
                </a:ext>
              </a:extLst>
            </p:cNvPr>
            <p:cNvCxnSpPr>
              <a:cxnSpLocks/>
              <a:stCxn id="1033" idx="3"/>
              <a:endCxn id="1072" idx="1"/>
            </p:cNvCxnSpPr>
            <p:nvPr/>
          </p:nvCxnSpPr>
          <p:spPr>
            <a:xfrm flipV="1">
              <a:off x="6834035" y="3977937"/>
              <a:ext cx="48101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꺾인 연결선[E] 1085">
              <a:extLst>
                <a:ext uri="{FF2B5EF4-FFF2-40B4-BE49-F238E27FC236}">
                  <a16:creationId xmlns:a16="http://schemas.microsoft.com/office/drawing/2014/main" id="{9C440285-3455-4144-C6A8-48D166F77E3E}"/>
                </a:ext>
              </a:extLst>
            </p:cNvPr>
            <p:cNvCxnSpPr>
              <a:cxnSpLocks/>
              <a:stCxn id="1072" idx="2"/>
              <a:endCxn id="1033" idx="1"/>
            </p:cNvCxnSpPr>
            <p:nvPr/>
          </p:nvCxnSpPr>
          <p:spPr>
            <a:xfrm rot="5400000" flipH="1">
              <a:off x="6713985" y="3051612"/>
              <a:ext cx="197923" cy="2050576"/>
            </a:xfrm>
            <a:prstGeom prst="bentConnector4">
              <a:avLst>
                <a:gd name="adj1" fmla="val -56137"/>
                <a:gd name="adj2" fmla="val 11114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C4AA337C-6151-BF30-FE2D-BA9E25AB8495}"/>
                </a:ext>
              </a:extLst>
            </p:cNvPr>
            <p:cNvSpPr txBox="1"/>
            <p:nvPr/>
          </p:nvSpPr>
          <p:spPr>
            <a:xfrm>
              <a:off x="6905247" y="3760158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⑦</a:t>
              </a:r>
              <a:endParaRPr kumimoji="1" lang="ko-KR" altLang="en-US" sz="800" dirty="0"/>
            </a:p>
          </p:txBody>
        </p:sp>
        <p:cxnSp>
          <p:nvCxnSpPr>
            <p:cNvPr id="1094" name="꺾인 연결선[E] 1093">
              <a:extLst>
                <a:ext uri="{FF2B5EF4-FFF2-40B4-BE49-F238E27FC236}">
                  <a16:creationId xmlns:a16="http://schemas.microsoft.com/office/drawing/2014/main" id="{5C16962C-4759-BE20-F8F0-E758ED8A22D4}"/>
                </a:ext>
              </a:extLst>
            </p:cNvPr>
            <p:cNvCxnSpPr>
              <a:cxnSpLocks/>
              <a:stCxn id="1072" idx="3"/>
              <a:endCxn id="22" idx="3"/>
            </p:cNvCxnSpPr>
            <p:nvPr/>
          </p:nvCxnSpPr>
          <p:spPr>
            <a:xfrm flipV="1">
              <a:off x="8361423" y="3330439"/>
              <a:ext cx="322621" cy="647498"/>
            </a:xfrm>
            <a:prstGeom prst="bentConnector3">
              <a:avLst>
                <a:gd name="adj1" fmla="val 4576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8" name="TextBox 1097">
              <a:extLst>
                <a:ext uri="{FF2B5EF4-FFF2-40B4-BE49-F238E27FC236}">
                  <a16:creationId xmlns:a16="http://schemas.microsoft.com/office/drawing/2014/main" id="{E3C5E518-DB05-9707-BAF3-DCECCB2123FE}"/>
                </a:ext>
              </a:extLst>
            </p:cNvPr>
            <p:cNvSpPr txBox="1"/>
            <p:nvPr/>
          </p:nvSpPr>
          <p:spPr>
            <a:xfrm>
              <a:off x="5498794" y="3760158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⑧</a:t>
              </a:r>
              <a:endParaRPr kumimoji="1" lang="ko-KR" altLang="en-US" sz="800" dirty="0"/>
            </a:p>
          </p:txBody>
        </p:sp>
        <p:sp>
          <p:nvSpPr>
            <p:cNvPr id="1099" name="TextBox 1098">
              <a:extLst>
                <a:ext uri="{FF2B5EF4-FFF2-40B4-BE49-F238E27FC236}">
                  <a16:creationId xmlns:a16="http://schemas.microsoft.com/office/drawing/2014/main" id="{59F8CE57-8720-C8CE-6E94-BA3CE7B0F87C}"/>
                </a:ext>
              </a:extLst>
            </p:cNvPr>
            <p:cNvSpPr txBox="1"/>
            <p:nvPr/>
          </p:nvSpPr>
          <p:spPr>
            <a:xfrm>
              <a:off x="8423493" y="3114995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/>
                <a:t>⑨</a:t>
              </a:r>
              <a:endParaRPr kumimoji="1" lang="ko-KR" altLang="en-US" sz="800" dirty="0"/>
            </a:p>
          </p:txBody>
        </p:sp>
        <p:sp>
          <p:nvSpPr>
            <p:cNvPr id="1100" name="TextBox 1099">
              <a:extLst>
                <a:ext uri="{FF2B5EF4-FFF2-40B4-BE49-F238E27FC236}">
                  <a16:creationId xmlns:a16="http://schemas.microsoft.com/office/drawing/2014/main" id="{4F8CC244-0E7F-6DEE-D65A-BA1AFB7830E9}"/>
                </a:ext>
              </a:extLst>
            </p:cNvPr>
            <p:cNvSpPr txBox="1"/>
            <p:nvPr/>
          </p:nvSpPr>
          <p:spPr>
            <a:xfrm>
              <a:off x="4362496" y="4829766"/>
              <a:ext cx="3050835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/>
                <a:t>①</a:t>
              </a:r>
              <a:r>
                <a:rPr kumimoji="1" lang="ko-KR" altLang="en-US" sz="1400" dirty="0"/>
                <a:t> 민감정보</a:t>
              </a:r>
              <a:r>
                <a:rPr kumimoji="1" lang="en-US" altLang="ko-KR" sz="1400" dirty="0"/>
                <a:t>(</a:t>
              </a:r>
              <a:r>
                <a:rPr kumimoji="1" lang="ko-KR" altLang="en-US" sz="1400" dirty="0"/>
                <a:t>가명</a:t>
              </a:r>
              <a:r>
                <a:rPr kumimoji="1" lang="en-US" altLang="ko-KR" sz="1400" dirty="0"/>
                <a:t>)</a:t>
              </a:r>
              <a:r>
                <a:rPr kumimoji="1" lang="ko-KR" altLang="en-US" sz="1400" dirty="0"/>
                <a:t> 획득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②</a:t>
              </a:r>
              <a:r>
                <a:rPr kumimoji="1" lang="ko-KR" altLang="en-US" sz="1400" dirty="0"/>
                <a:t> 식별정보 전달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③</a:t>
              </a:r>
              <a:r>
                <a:rPr kumimoji="1" lang="ko-KR" altLang="en-US" sz="1400" dirty="0"/>
                <a:t> 결합키 전달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④</a:t>
              </a:r>
              <a:r>
                <a:rPr kumimoji="1" lang="ko-KR" altLang="en-US" sz="1400" dirty="0"/>
                <a:t> 결합정보 전달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⑤</a:t>
              </a:r>
              <a:r>
                <a:rPr kumimoji="1" lang="ko-KR" altLang="en-US" sz="1400" dirty="0"/>
                <a:t> 적정 결합률 </a:t>
              </a:r>
              <a:r>
                <a:rPr kumimoji="1" lang="ko-KR" altLang="en-US" sz="1400" dirty="0" err="1"/>
                <a:t>미달성</a:t>
              </a:r>
              <a:r>
                <a:rPr kumimoji="1" lang="en-US" altLang="ko-KR" sz="1400" dirty="0"/>
                <a:t>,</a:t>
              </a:r>
              <a:r>
                <a:rPr kumimoji="1" lang="ko-KR" altLang="en-US" sz="1400" dirty="0"/>
                <a:t> </a:t>
              </a:r>
              <a:r>
                <a:rPr kumimoji="1" lang="ko-KR" altLang="en-US" sz="1400" dirty="0" err="1"/>
                <a:t>재식별</a:t>
              </a:r>
              <a:r>
                <a:rPr kumimoji="1" lang="ko-KR" altLang="en-US" sz="1400" dirty="0"/>
                <a:t> 진행</a:t>
              </a:r>
              <a:endParaRPr kumimoji="1" lang="en-US" altLang="ko-KR" sz="1400" dirty="0"/>
            </a:p>
          </p:txBody>
        </p:sp>
        <p:sp>
          <p:nvSpPr>
            <p:cNvPr id="1101" name="TextBox 1100">
              <a:extLst>
                <a:ext uri="{FF2B5EF4-FFF2-40B4-BE49-F238E27FC236}">
                  <a16:creationId xmlns:a16="http://schemas.microsoft.com/office/drawing/2014/main" id="{F4BC8610-7F42-9E79-F947-D95C9B64C61F}"/>
                </a:ext>
              </a:extLst>
            </p:cNvPr>
            <p:cNvSpPr txBox="1"/>
            <p:nvPr/>
          </p:nvSpPr>
          <p:spPr>
            <a:xfrm>
              <a:off x="7392351" y="4829766"/>
              <a:ext cx="301076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/>
                <a:t>⑥</a:t>
              </a:r>
              <a:r>
                <a:rPr kumimoji="1" lang="ko-KR" altLang="en-US" sz="1400" dirty="0"/>
                <a:t> 적정 결합률 달성</a:t>
              </a:r>
              <a:r>
                <a:rPr kumimoji="1" lang="en-US" altLang="ko-KR" sz="1400" dirty="0"/>
                <a:t>,</a:t>
              </a:r>
              <a:r>
                <a:rPr kumimoji="1" lang="ko-KR" altLang="en-US" sz="1400" dirty="0"/>
                <a:t> 반출 심사 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⑦</a:t>
              </a:r>
              <a:r>
                <a:rPr kumimoji="1" lang="ko-KR" altLang="en-US" sz="1400" dirty="0"/>
                <a:t> 합의 알고리즘을 통한 반출 심사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⑧</a:t>
              </a:r>
              <a:r>
                <a:rPr kumimoji="1" lang="ko-KR" altLang="en-US" sz="1400" dirty="0"/>
                <a:t> 반출 불허</a:t>
              </a:r>
              <a:r>
                <a:rPr kumimoji="1" lang="en-US" altLang="ko-KR" sz="1400" dirty="0"/>
                <a:t>,</a:t>
              </a:r>
              <a:r>
                <a:rPr kumimoji="1" lang="ko-KR" altLang="en-US" sz="1400" dirty="0"/>
                <a:t> 추가 가명처리 진행</a:t>
              </a:r>
              <a:endParaRPr kumimoji="1" lang="en-US" altLang="ko-KR" sz="1400" dirty="0"/>
            </a:p>
            <a:p>
              <a:r>
                <a:rPr kumimoji="1" lang="en-US" altLang="ko-KR" sz="1400" dirty="0"/>
                <a:t>⑨</a:t>
              </a:r>
              <a:r>
                <a:rPr kumimoji="1" lang="ko-KR" altLang="en-US" sz="1400" dirty="0"/>
                <a:t> 반출</a:t>
              </a:r>
            </a:p>
          </p:txBody>
        </p:sp>
        <p:pic>
          <p:nvPicPr>
            <p:cNvPr id="1118" name="Picture 8" descr="설정 - 무료 도구 및기구개 아이콘">
              <a:extLst>
                <a:ext uri="{FF2B5EF4-FFF2-40B4-BE49-F238E27FC236}">
                  <a16:creationId xmlns:a16="http://schemas.microsoft.com/office/drawing/2014/main" id="{37F76B22-A892-E839-E898-0B42B3A61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6957" y="3012461"/>
              <a:ext cx="581241" cy="5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9" name="TextBox 1118">
              <a:extLst>
                <a:ext uri="{FF2B5EF4-FFF2-40B4-BE49-F238E27FC236}">
                  <a16:creationId xmlns:a16="http://schemas.microsoft.com/office/drawing/2014/main" id="{7AB1E433-DB1F-8C32-B451-010A407DB3F2}"/>
                </a:ext>
              </a:extLst>
            </p:cNvPr>
            <p:cNvSpPr txBox="1"/>
            <p:nvPr/>
          </p:nvSpPr>
          <p:spPr>
            <a:xfrm>
              <a:off x="9004883" y="2430369"/>
              <a:ext cx="14253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200" dirty="0"/>
                <a:t>기관 내 결합정보 </a:t>
              </a:r>
              <a:endParaRPr kumimoji="1" lang="en-US" altLang="ko-KR" sz="1200" dirty="0"/>
            </a:p>
            <a:p>
              <a:pPr algn="ctr"/>
              <a:r>
                <a:rPr kumimoji="1" lang="ko-KR" altLang="en-US" sz="1200" dirty="0"/>
                <a:t>분석 프로그램</a:t>
              </a:r>
            </a:p>
          </p:txBody>
        </p:sp>
        <p:cxnSp>
          <p:nvCxnSpPr>
            <p:cNvPr id="1120" name="직선 화살표 연결선 1119">
              <a:extLst>
                <a:ext uri="{FF2B5EF4-FFF2-40B4-BE49-F238E27FC236}">
                  <a16:creationId xmlns:a16="http://schemas.microsoft.com/office/drawing/2014/main" id="{8907EC0F-59C2-AD52-BBDD-C86BF3385C68}"/>
                </a:ext>
              </a:extLst>
            </p:cNvPr>
            <p:cNvCxnSpPr>
              <a:cxnSpLocks/>
            </p:cNvCxnSpPr>
            <p:nvPr/>
          </p:nvCxnSpPr>
          <p:spPr>
            <a:xfrm>
              <a:off x="8684044" y="3338938"/>
              <a:ext cx="69577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94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1CA3-8684-163B-7C92-1668CDCF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AF740-5F08-FBE5-137D-313A48754648}"/>
              </a:ext>
            </a:extLst>
          </p:cNvPr>
          <p:cNvSpPr txBox="1"/>
          <p:nvPr/>
        </p:nvSpPr>
        <p:spPr>
          <a:xfrm>
            <a:off x="360000" y="360000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03.</a:t>
            </a:r>
            <a:r>
              <a:rPr kumimoji="1" lang="ko-KR" altLang="en-US" sz="2000" b="1" dirty="0"/>
              <a:t> 플랫폼 아키텍처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9AAD409-5687-3E37-6DCE-DBB0ED8395F9}"/>
              </a:ext>
            </a:extLst>
          </p:cNvPr>
          <p:cNvGrpSpPr/>
          <p:nvPr/>
        </p:nvGrpSpPr>
        <p:grpSpPr>
          <a:xfrm>
            <a:off x="1553266" y="2060483"/>
            <a:ext cx="9085466" cy="2737033"/>
            <a:chOff x="1376663" y="1728088"/>
            <a:chExt cx="9085466" cy="2737033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2718FCF8-BA04-2028-4783-3635FFB3279F}"/>
                </a:ext>
              </a:extLst>
            </p:cNvPr>
            <p:cNvSpPr/>
            <p:nvPr/>
          </p:nvSpPr>
          <p:spPr>
            <a:xfrm>
              <a:off x="1376664" y="2035865"/>
              <a:ext cx="8323077" cy="2429256"/>
            </a:xfrm>
            <a:prstGeom prst="roundRect">
              <a:avLst>
                <a:gd name="adj" fmla="val 9594"/>
              </a:avLst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564A3C-2F05-03D4-4D16-82A421E7CFB6}"/>
                </a:ext>
              </a:extLst>
            </p:cNvPr>
            <p:cNvSpPr txBox="1"/>
            <p:nvPr/>
          </p:nvSpPr>
          <p:spPr>
            <a:xfrm>
              <a:off x="1376664" y="1728088"/>
              <a:ext cx="1925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400" dirty="0">
                  <a:solidFill>
                    <a:srgbClr val="0070C0"/>
                  </a:solidFill>
                </a:rPr>
                <a:t>입력 파이프라인 내부</a:t>
              </a:r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2BF408CA-B1EF-74B8-C227-5780DA71CEA7}"/>
                </a:ext>
              </a:extLst>
            </p:cNvPr>
            <p:cNvSpPr/>
            <p:nvPr/>
          </p:nvSpPr>
          <p:spPr>
            <a:xfrm>
              <a:off x="1898493" y="2576332"/>
              <a:ext cx="1379347" cy="36185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민감정보 파일 분할 모듈</a:t>
              </a:r>
              <a:endParaRPr kumimoji="1" lang="en-US" altLang="ko-KR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 dirty="0">
                  <a:solidFill>
                    <a:sysClr val="windowText" lastClr="000000"/>
                  </a:solidFill>
                </a:rPr>
                <a:t>(</a:t>
              </a:r>
              <a:r>
                <a:rPr kumimoji="1" lang="ko-KR" altLang="en-US" sz="800" dirty="0" err="1">
                  <a:solidFill>
                    <a:sysClr val="windowText" lastClr="000000"/>
                  </a:solidFill>
                </a:rPr>
                <a:t>청크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</a:rPr>
                <a:t>(chunk)</a:t>
              </a:r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화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</a:rPr>
                <a:t>)</a:t>
              </a:r>
              <a:endParaRPr kumimoji="1" lang="ko-KR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66705F4C-A1BC-962F-DCCF-317058BF58F1}"/>
                </a:ext>
              </a:extLst>
            </p:cNvPr>
            <p:cNvSpPr/>
            <p:nvPr/>
          </p:nvSpPr>
          <p:spPr>
            <a:xfrm>
              <a:off x="1898492" y="3245961"/>
              <a:ext cx="1379347" cy="6105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민감정보 파일 </a:t>
              </a:r>
              <a:endParaRPr kumimoji="1" lang="en-US" altLang="ko-KR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메타데이터 생성 모듈</a:t>
              </a:r>
              <a:endParaRPr kumimoji="1" lang="en-US" altLang="ko-KR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ko-KR" sz="800" dirty="0">
                  <a:solidFill>
                    <a:sysClr val="windowText" lastClr="000000"/>
                  </a:solidFill>
                </a:rPr>
                <a:t>(sequence number</a:t>
              </a:r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 등</a:t>
              </a:r>
              <a:r>
                <a:rPr kumimoji="1" lang="en-US" altLang="ko-KR" sz="800" dirty="0">
                  <a:solidFill>
                    <a:sysClr val="windowText" lastClr="000000"/>
                  </a:solidFill>
                </a:rPr>
                <a:t>)</a:t>
              </a:r>
            </a:p>
          </p:txBody>
        </p:sp>
        <p:sp>
          <p:nvSpPr>
            <p:cNvPr id="8" name="직접 액세스 저장소 7">
              <a:extLst>
                <a:ext uri="{FF2B5EF4-FFF2-40B4-BE49-F238E27FC236}">
                  <a16:creationId xmlns:a16="http://schemas.microsoft.com/office/drawing/2014/main" id="{94639E96-323A-CAF4-B4D5-F91709A0CDD2}"/>
                </a:ext>
              </a:extLst>
            </p:cNvPr>
            <p:cNvSpPr/>
            <p:nvPr/>
          </p:nvSpPr>
          <p:spPr>
            <a:xfrm>
              <a:off x="3799667" y="2848344"/>
              <a:ext cx="1143637" cy="795234"/>
            </a:xfrm>
            <a:prstGeom prst="flowChartMagneticDru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89209-361D-0C48-7F9E-8BA27724DFCF}"/>
                </a:ext>
              </a:extLst>
            </p:cNvPr>
            <p:cNvSpPr txBox="1"/>
            <p:nvPr/>
          </p:nvSpPr>
          <p:spPr>
            <a:xfrm>
              <a:off x="3726304" y="2386679"/>
              <a:ext cx="121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200" dirty="0" err="1"/>
                <a:t>청크</a:t>
              </a:r>
              <a:r>
                <a:rPr kumimoji="1" lang="ko-KR" altLang="en-US" sz="1200" dirty="0"/>
                <a:t> 전송 소켓</a:t>
              </a:r>
              <a:endParaRPr kumimoji="1" lang="en-US" altLang="ko-KR" sz="1200" dirty="0"/>
            </a:p>
            <a:p>
              <a:pPr algn="ctr"/>
              <a:r>
                <a:rPr kumimoji="1" lang="en-US" altLang="ko-KR" sz="1200" dirty="0"/>
                <a:t>(</a:t>
              </a:r>
              <a:r>
                <a:rPr kumimoji="1" lang="en-US" altLang="ko-KR" sz="1200" dirty="0" err="1"/>
                <a:t>zeroMQ</a:t>
              </a:r>
              <a:r>
                <a:rPr kumimoji="1" lang="ko-KR" altLang="en-US" sz="1200" dirty="0"/>
                <a:t> 등</a:t>
              </a:r>
              <a:r>
                <a:rPr kumimoji="1" lang="en-US" altLang="ko-KR" sz="1200" dirty="0"/>
                <a:t>)</a:t>
              </a:r>
              <a:endParaRPr kumimoji="1" lang="ko-KR" altLang="en-US" sz="1200" dirty="0"/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72F10F67-A61C-A7DD-AD20-622B397EEBC9}"/>
                </a:ext>
              </a:extLst>
            </p:cNvPr>
            <p:cNvSpPr/>
            <p:nvPr/>
          </p:nvSpPr>
          <p:spPr>
            <a:xfrm>
              <a:off x="5627480" y="2629199"/>
              <a:ext cx="1217000" cy="16696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FAD60B-719C-191C-5D0F-E6FB42A073DC}"/>
                </a:ext>
              </a:extLst>
            </p:cNvPr>
            <p:cNvSpPr txBox="1"/>
            <p:nvPr/>
          </p:nvSpPr>
          <p:spPr>
            <a:xfrm>
              <a:off x="5559276" y="2155846"/>
              <a:ext cx="1370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200" dirty="0"/>
                <a:t>중앙 </a:t>
              </a:r>
              <a:r>
                <a:rPr kumimoji="1" lang="ko-KR" altLang="en-US" sz="1200" dirty="0" err="1"/>
                <a:t>버퍼링</a:t>
              </a:r>
              <a:r>
                <a:rPr kumimoji="1" lang="ko-KR" altLang="en-US" sz="1200" dirty="0"/>
                <a:t> 모듈</a:t>
              </a:r>
              <a:br>
                <a:rPr kumimoji="1" lang="en-US" altLang="ko-KR" sz="1200" dirty="0"/>
              </a:br>
              <a:r>
                <a:rPr kumimoji="1" lang="en-US" altLang="ko-KR" sz="1200" dirty="0"/>
                <a:t>(Kafka)</a:t>
              </a:r>
              <a:endParaRPr kumimoji="1" lang="ko-KR" altLang="en-US" sz="1200" dirty="0"/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BC1854AA-9814-367B-53DE-F2B1B356D0AF}"/>
                </a:ext>
              </a:extLst>
            </p:cNvPr>
            <p:cNvSpPr/>
            <p:nvPr/>
          </p:nvSpPr>
          <p:spPr>
            <a:xfrm>
              <a:off x="5839257" y="2734099"/>
              <a:ext cx="810926" cy="3567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 err="1">
                  <a:solidFill>
                    <a:schemeClr val="tx1"/>
                  </a:solidFill>
                </a:rPr>
                <a:t>청크</a:t>
              </a:r>
              <a:r>
                <a:rPr kumimoji="1" lang="ko-KR" altLang="en-US" sz="800" dirty="0">
                  <a:solidFill>
                    <a:schemeClr val="tx1"/>
                  </a:solidFill>
                </a:rPr>
                <a:t> 저장</a:t>
              </a:r>
            </a:p>
          </p:txBody>
        </p: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D7648758-F797-C014-A059-8D1D01A29B1A}"/>
                </a:ext>
              </a:extLst>
            </p:cNvPr>
            <p:cNvSpPr/>
            <p:nvPr/>
          </p:nvSpPr>
          <p:spPr>
            <a:xfrm>
              <a:off x="5809568" y="3771975"/>
              <a:ext cx="870304" cy="3567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chemeClr val="tx1"/>
                  </a:solidFill>
                </a:rPr>
                <a:t>메타데이터</a:t>
              </a:r>
              <a:endParaRPr kumimoji="1"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800" dirty="0">
                  <a:solidFill>
                    <a:schemeClr val="tx1"/>
                  </a:solidFill>
                </a:rPr>
                <a:t>저장</a:t>
              </a:r>
            </a:p>
          </p:txBody>
        </p:sp>
        <p:sp>
          <p:nvSpPr>
            <p:cNvPr id="29" name="모서리가 둥근 직사각형 28">
              <a:extLst>
                <a:ext uri="{FF2B5EF4-FFF2-40B4-BE49-F238E27FC236}">
                  <a16:creationId xmlns:a16="http://schemas.microsoft.com/office/drawing/2014/main" id="{39140D1D-A0C6-4F45-7708-E9CC9C7A5065}"/>
                </a:ext>
              </a:extLst>
            </p:cNvPr>
            <p:cNvSpPr/>
            <p:nvPr/>
          </p:nvSpPr>
          <p:spPr>
            <a:xfrm>
              <a:off x="7197942" y="2993333"/>
              <a:ext cx="1217001" cy="65024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파일 </a:t>
              </a:r>
              <a:r>
                <a:rPr kumimoji="1" lang="ko-KR" altLang="en-US" sz="800" dirty="0" err="1">
                  <a:solidFill>
                    <a:sysClr val="windowText" lastClr="000000"/>
                  </a:solidFill>
                </a:rPr>
                <a:t>재조립</a:t>
              </a:r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 및 </a:t>
              </a:r>
              <a:endParaRPr kumimoji="1" lang="en-US" altLang="ko-KR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ko-KR" altLang="en-US" sz="800" dirty="0">
                  <a:solidFill>
                    <a:sysClr val="windowText" lastClr="000000"/>
                  </a:solidFill>
                </a:rPr>
                <a:t>가명처리 모듈</a:t>
              </a:r>
            </a:p>
          </p:txBody>
        </p:sp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A40B5252-C204-ED49-803A-5FB6041972A5}"/>
                </a:ext>
              </a:extLst>
            </p:cNvPr>
            <p:cNvSpPr/>
            <p:nvPr/>
          </p:nvSpPr>
          <p:spPr>
            <a:xfrm>
              <a:off x="5839257" y="3242760"/>
              <a:ext cx="810926" cy="3567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dirty="0" err="1">
                  <a:solidFill>
                    <a:schemeClr val="tx1"/>
                  </a:solidFill>
                </a:rPr>
                <a:t>청크</a:t>
              </a:r>
              <a:r>
                <a:rPr kumimoji="1" lang="ko-KR" altLang="en-US" sz="800" dirty="0">
                  <a:solidFill>
                    <a:schemeClr val="tx1"/>
                  </a:solidFill>
                </a:rPr>
                <a:t> 저장</a:t>
              </a:r>
            </a:p>
          </p:txBody>
        </p:sp>
        <p:sp>
          <p:nvSpPr>
            <p:cNvPr id="33" name="직접 액세스 저장소 32">
              <a:extLst>
                <a:ext uri="{FF2B5EF4-FFF2-40B4-BE49-F238E27FC236}">
                  <a16:creationId xmlns:a16="http://schemas.microsoft.com/office/drawing/2014/main" id="{F955B0C7-0F90-6485-0368-F247DE9B56CC}"/>
                </a:ext>
              </a:extLst>
            </p:cNvPr>
            <p:cNvSpPr/>
            <p:nvPr/>
          </p:nvSpPr>
          <p:spPr>
            <a:xfrm>
              <a:off x="9077931" y="2924356"/>
              <a:ext cx="1143637" cy="795234"/>
            </a:xfrm>
            <a:prstGeom prst="flowChartMagneticDrum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A70FD3-6429-FCAA-A508-F5AF45AF332D}"/>
                </a:ext>
              </a:extLst>
            </p:cNvPr>
            <p:cNvSpPr txBox="1"/>
            <p:nvPr/>
          </p:nvSpPr>
          <p:spPr>
            <a:xfrm>
              <a:off x="8937353" y="2535457"/>
              <a:ext cx="1524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200" dirty="0"/>
                <a:t>가명정보 전송 소켓</a:t>
              </a:r>
            </a:p>
          </p:txBody>
        </p:sp>
        <p:cxnSp>
          <p:nvCxnSpPr>
            <p:cNvPr id="35" name="꺾인 연결선[E] 34">
              <a:extLst>
                <a:ext uri="{FF2B5EF4-FFF2-40B4-BE49-F238E27FC236}">
                  <a16:creationId xmlns:a16="http://schemas.microsoft.com/office/drawing/2014/main" id="{666071A2-0034-D7CA-B0E7-9624F866A9D1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3277840" y="2757258"/>
              <a:ext cx="521827" cy="488703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[E] 37">
              <a:extLst>
                <a:ext uri="{FF2B5EF4-FFF2-40B4-BE49-F238E27FC236}">
                  <a16:creationId xmlns:a16="http://schemas.microsoft.com/office/drawing/2014/main" id="{D8ACA540-3EFF-0A09-3DE3-9789C313FCB2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 flipV="1">
              <a:off x="3277839" y="3245961"/>
              <a:ext cx="521828" cy="305275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[E] 40">
              <a:extLst>
                <a:ext uri="{FF2B5EF4-FFF2-40B4-BE49-F238E27FC236}">
                  <a16:creationId xmlns:a16="http://schemas.microsoft.com/office/drawing/2014/main" id="{61717642-F3DC-72A0-131E-D5B15546F122}"/>
                </a:ext>
              </a:extLst>
            </p:cNvPr>
            <p:cNvCxnSpPr>
              <a:cxnSpLocks/>
              <a:stCxn id="8" idx="4"/>
              <a:endCxn id="14" idx="1"/>
            </p:cNvCxnSpPr>
            <p:nvPr/>
          </p:nvCxnSpPr>
          <p:spPr>
            <a:xfrm>
              <a:off x="4943304" y="3245961"/>
              <a:ext cx="684176" cy="21807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[E] 44">
              <a:extLst>
                <a:ext uri="{FF2B5EF4-FFF2-40B4-BE49-F238E27FC236}">
                  <a16:creationId xmlns:a16="http://schemas.microsoft.com/office/drawing/2014/main" id="{3E019B40-A913-3D41-083D-7D2BB58D52F7}"/>
                </a:ext>
              </a:extLst>
            </p:cNvPr>
            <p:cNvCxnSpPr>
              <a:cxnSpLocks/>
              <a:stCxn id="18" idx="3"/>
              <a:endCxn id="29" idx="1"/>
            </p:cNvCxnSpPr>
            <p:nvPr/>
          </p:nvCxnSpPr>
          <p:spPr>
            <a:xfrm>
              <a:off x="6650183" y="2912482"/>
              <a:ext cx="547759" cy="405974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꺾인 연결선[E] 49">
              <a:extLst>
                <a:ext uri="{FF2B5EF4-FFF2-40B4-BE49-F238E27FC236}">
                  <a16:creationId xmlns:a16="http://schemas.microsoft.com/office/drawing/2014/main" id="{D0B974A2-A4B8-EE8E-F3A0-7FD541174148}"/>
                </a:ext>
              </a:extLst>
            </p:cNvPr>
            <p:cNvCxnSpPr>
              <a:cxnSpLocks/>
              <a:stCxn id="24" idx="3"/>
              <a:endCxn id="29" idx="1"/>
            </p:cNvCxnSpPr>
            <p:nvPr/>
          </p:nvCxnSpPr>
          <p:spPr>
            <a:xfrm flipV="1">
              <a:off x="6679872" y="3318456"/>
              <a:ext cx="518070" cy="63190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꺾인 연결선[E] 56">
              <a:extLst>
                <a:ext uri="{FF2B5EF4-FFF2-40B4-BE49-F238E27FC236}">
                  <a16:creationId xmlns:a16="http://schemas.microsoft.com/office/drawing/2014/main" id="{30AAE708-DAF6-5D8F-03AE-8705BC20F4E1}"/>
                </a:ext>
              </a:extLst>
            </p:cNvPr>
            <p:cNvCxnSpPr>
              <a:cxnSpLocks/>
              <a:stCxn id="29" idx="3"/>
              <a:endCxn id="33" idx="1"/>
            </p:cNvCxnSpPr>
            <p:nvPr/>
          </p:nvCxnSpPr>
          <p:spPr>
            <a:xfrm>
              <a:off x="8414943" y="3318456"/>
              <a:ext cx="662988" cy="3517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꺾인 연결선[E] 61">
              <a:extLst>
                <a:ext uri="{FF2B5EF4-FFF2-40B4-BE49-F238E27FC236}">
                  <a16:creationId xmlns:a16="http://schemas.microsoft.com/office/drawing/2014/main" id="{BD7964DB-C671-2074-89ED-34900E6847AE}"/>
                </a:ext>
              </a:extLst>
            </p:cNvPr>
            <p:cNvCxnSpPr>
              <a:cxnSpLocks/>
              <a:stCxn id="3" idx="1"/>
              <a:endCxn id="5" idx="1"/>
            </p:cNvCxnSpPr>
            <p:nvPr/>
          </p:nvCxnSpPr>
          <p:spPr>
            <a:xfrm rot="10800000" flipH="1">
              <a:off x="1376663" y="2757259"/>
              <a:ext cx="521829" cy="493235"/>
            </a:xfrm>
            <a:prstGeom prst="bentConnector3">
              <a:avLst>
                <a:gd name="adj1" fmla="val 5177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꺾인 연결선[E] 1026">
              <a:extLst>
                <a:ext uri="{FF2B5EF4-FFF2-40B4-BE49-F238E27FC236}">
                  <a16:creationId xmlns:a16="http://schemas.microsoft.com/office/drawing/2014/main" id="{AE30BCDB-7D73-C5C1-4584-7019EB6F261B}"/>
                </a:ext>
              </a:extLst>
            </p:cNvPr>
            <p:cNvCxnSpPr>
              <a:cxnSpLocks/>
              <a:stCxn id="3" idx="1"/>
              <a:endCxn id="6" idx="1"/>
            </p:cNvCxnSpPr>
            <p:nvPr/>
          </p:nvCxnSpPr>
          <p:spPr>
            <a:xfrm rot="10800000" flipH="1" flipV="1">
              <a:off x="1376664" y="3250492"/>
              <a:ext cx="521828" cy="300743"/>
            </a:xfrm>
            <a:prstGeom prst="bentConnector3">
              <a:avLst>
                <a:gd name="adj1" fmla="val 5177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1AAD594-0692-CEEA-4C97-081CE5D1F83D}"/>
              </a:ext>
            </a:extLst>
          </p:cNvPr>
          <p:cNvSpPr txBox="1"/>
          <p:nvPr/>
        </p:nvSpPr>
        <p:spPr>
          <a:xfrm>
            <a:off x="720000" y="900000"/>
            <a:ext cx="255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2</a:t>
            </a:r>
            <a:r>
              <a:rPr kumimoji="1" lang="ko-KR" altLang="en-US" b="1" dirty="0"/>
              <a:t>계층 입력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274396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C6433-3320-4DEA-E4E4-2D675A04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3D825B-0EDA-46F9-F4DF-DA6359C2C78C}"/>
              </a:ext>
            </a:extLst>
          </p:cNvPr>
          <p:cNvSpPr txBox="1"/>
          <p:nvPr/>
        </p:nvSpPr>
        <p:spPr>
          <a:xfrm>
            <a:off x="360000" y="360000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04.</a:t>
            </a:r>
            <a:r>
              <a:rPr kumimoji="1" lang="ko-KR" altLang="en-US" sz="2000" b="1" dirty="0"/>
              <a:t> 계획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BB8D15A-D614-B44C-CBAC-37564EF0F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64059"/>
              </p:ext>
            </p:extLst>
          </p:nvPr>
        </p:nvGraphicFramePr>
        <p:xfrm>
          <a:off x="2387211" y="2184400"/>
          <a:ext cx="7417577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855">
                  <a:extLst>
                    <a:ext uri="{9D8B030D-6E8A-4147-A177-3AD203B41FA5}">
                      <a16:colId xmlns:a16="http://schemas.microsoft.com/office/drawing/2014/main" val="788636627"/>
                    </a:ext>
                  </a:extLst>
                </a:gridCol>
                <a:gridCol w="1289573">
                  <a:extLst>
                    <a:ext uri="{9D8B030D-6E8A-4147-A177-3AD203B41FA5}">
                      <a16:colId xmlns:a16="http://schemas.microsoft.com/office/drawing/2014/main" val="3160296785"/>
                    </a:ext>
                  </a:extLst>
                </a:gridCol>
                <a:gridCol w="5510149">
                  <a:extLst>
                    <a:ext uri="{9D8B030D-6E8A-4147-A177-3AD203B41FA5}">
                      <a16:colId xmlns:a16="http://schemas.microsoft.com/office/drawing/2014/main" val="3474639080"/>
                    </a:ext>
                  </a:extLst>
                </a:gridCol>
              </a:tblGrid>
              <a:tr h="31861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주차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07787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입력 파이프라인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계층 구현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8718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식별정보 탐지 알고리즘 모듈화 및 플랫폼 틀 구현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9523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결합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결합률 계산 모듈 구현 및 합의 알고리즘 내재화 방안 연구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094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합의 알고리즘 구현 및 프로토타입 완성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20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캡스톤디자인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최종발표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723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22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[R] 9">
            <a:extLst>
              <a:ext uri="{FF2B5EF4-FFF2-40B4-BE49-F238E27FC236}">
                <a16:creationId xmlns:a16="http://schemas.microsoft.com/office/drawing/2014/main" id="{2EB4AE19-BA18-B714-9D0D-10D5FA733871}"/>
              </a:ext>
            </a:extLst>
          </p:cNvPr>
          <p:cNvSpPr/>
          <p:nvPr/>
        </p:nvSpPr>
        <p:spPr>
          <a:xfrm rot="16200000">
            <a:off x="7290171" y="1956171"/>
            <a:ext cx="3707659" cy="6096001"/>
          </a:xfrm>
          <a:prstGeom prst="rtTriangle">
            <a:avLst/>
          </a:prstGeom>
          <a:solidFill>
            <a:srgbClr val="EDE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각 삼각형[R] 8">
            <a:extLst>
              <a:ext uri="{FF2B5EF4-FFF2-40B4-BE49-F238E27FC236}">
                <a16:creationId xmlns:a16="http://schemas.microsoft.com/office/drawing/2014/main" id="{A74F3815-42A4-E0FE-AD77-660EAFD2C370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prstGeom prst="rtTriangle">
            <a:avLst/>
          </a:prstGeom>
          <a:solidFill>
            <a:srgbClr val="EDE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BF4F490-3603-A9AC-875A-0B2144ADE55E}"/>
              </a:ext>
            </a:extLst>
          </p:cNvPr>
          <p:cNvSpPr/>
          <p:nvPr/>
        </p:nvSpPr>
        <p:spPr>
          <a:xfrm>
            <a:off x="1420809" y="2441565"/>
            <a:ext cx="95128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인공지능 기반 실시간 민감정보 인식 알고리즘</a:t>
            </a:r>
            <a:endParaRPr lang="ko-KR" altLang="ko-KR" sz="1800" dirty="0">
              <a:effectLst/>
              <a:latin typeface="Arial" panose="020B0604020202020204" pitchFamily="34" charset="0"/>
              <a:ea typeface="맑은 고딕" panose="020B0503020000020004" pitchFamily="34" charset="-127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BFEB790-A8C3-5309-FB3F-A03994F89104}"/>
              </a:ext>
            </a:extLst>
          </p:cNvPr>
          <p:cNvSpPr/>
          <p:nvPr/>
        </p:nvSpPr>
        <p:spPr>
          <a:xfrm>
            <a:off x="793790" y="513254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2710DE94-3020-3CD5-123A-B0AD946F0D23}"/>
              </a:ext>
            </a:extLst>
          </p:cNvPr>
          <p:cNvSpPr/>
          <p:nvPr/>
        </p:nvSpPr>
        <p:spPr>
          <a:xfrm>
            <a:off x="8752449" y="3707657"/>
            <a:ext cx="21811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5550"/>
              </a:lnSpc>
            </a:pPr>
            <a:r>
              <a:rPr lang="ko-KR" altLang="en-US" sz="3600" dirty="0" err="1">
                <a:solidFill>
                  <a:srgbClr val="161613"/>
                </a:solidFill>
                <a:latin typeface="+mj-lt"/>
                <a:ea typeface="DM Sans Medium" pitchFamily="34" charset="-122"/>
                <a:cs typeface="DM Sans Medium" pitchFamily="34" charset="-120"/>
              </a:rPr>
              <a:t>담장자</a:t>
            </a:r>
            <a:r>
              <a:rPr lang="en-US" altLang="ko-KR" sz="3600" dirty="0">
                <a:solidFill>
                  <a:srgbClr val="161613"/>
                </a:solidFill>
                <a:latin typeface="+mj-lt"/>
                <a:ea typeface="DM Sans Medium" pitchFamily="34" charset="-122"/>
                <a:cs typeface="DM Sans Medium" pitchFamily="34" charset="-120"/>
              </a:rPr>
              <a:t>:</a:t>
            </a:r>
            <a:r>
              <a:rPr lang="ko-KR" altLang="en-US" sz="3600" dirty="0">
                <a:solidFill>
                  <a:srgbClr val="161613"/>
                </a:solidFill>
                <a:latin typeface="+mj-lt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altLang="ko-KR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권정은</a:t>
            </a:r>
            <a:endParaRPr lang="ko-KR" altLang="ko-KR" sz="1800" dirty="0">
              <a:effectLst/>
              <a:latin typeface="Arial" panose="020B0604020202020204" pitchFamily="34" charset="0"/>
              <a:ea typeface="맑은 고딕" panose="020B0503020000020004" pitchFamily="34" charset="-127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6460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5BE0EB-666E-95E3-7DAD-CA222EE1194E}"/>
              </a:ext>
            </a:extLst>
          </p:cNvPr>
          <p:cNvSpPr/>
          <p:nvPr/>
        </p:nvSpPr>
        <p:spPr>
          <a:xfrm>
            <a:off x="146304" y="2278593"/>
            <a:ext cx="11899392" cy="30095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465BD3C-8477-78A9-B4D5-B72A54B79C6E}"/>
              </a:ext>
            </a:extLst>
          </p:cNvPr>
          <p:cNvSpPr/>
          <p:nvPr/>
        </p:nvSpPr>
        <p:spPr>
          <a:xfrm>
            <a:off x="339792" y="15698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연구 목적</a:t>
            </a:r>
            <a:endParaRPr lang="en-US" sz="40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7347509-3B42-2131-9613-CE70A08F7FE2}"/>
              </a:ext>
            </a:extLst>
          </p:cNvPr>
          <p:cNvGrpSpPr/>
          <p:nvPr/>
        </p:nvGrpSpPr>
        <p:grpSpPr>
          <a:xfrm>
            <a:off x="254722" y="3451550"/>
            <a:ext cx="4158615" cy="1294091"/>
            <a:chOff x="254722" y="3085790"/>
            <a:chExt cx="4158615" cy="1294091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650132B6-B7A6-EC52-DC15-13DE3FCFBCE5}"/>
                </a:ext>
              </a:extLst>
            </p:cNvPr>
            <p:cNvSpPr/>
            <p:nvPr/>
          </p:nvSpPr>
          <p:spPr>
            <a:xfrm>
              <a:off x="254722" y="3085790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5E85DA52-2F11-FDF9-62AE-51247F0B2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792" y="3128296"/>
              <a:ext cx="340162" cy="425291"/>
            </a:xfrm>
            <a:prstGeom prst="rect">
              <a:avLst/>
            </a:prstGeom>
          </p:spPr>
        </p:pic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9FC7B007-5DAD-2EB6-295F-5FEDB2C35185}"/>
                </a:ext>
              </a:extLst>
            </p:cNvPr>
            <p:cNvSpPr/>
            <p:nvPr/>
          </p:nvSpPr>
          <p:spPr>
            <a:xfrm>
              <a:off x="991838" y="3163657"/>
              <a:ext cx="3346133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실시간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민감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정보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필드명 인식</a:t>
              </a:r>
              <a:endParaRPr lang="en-US" dirty="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851C0DDD-1F89-1820-C69B-5590EA8841F9}"/>
                </a:ext>
              </a:extLst>
            </p:cNvPr>
            <p:cNvSpPr/>
            <p:nvPr/>
          </p:nvSpPr>
          <p:spPr>
            <a:xfrm>
              <a:off x="991838" y="3654076"/>
              <a:ext cx="342149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자동화된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필드명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인식</a:t>
              </a:r>
              <a:endParaRPr 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23FDF97-AF60-59C2-B8A9-0AF1BDFA3D8B}"/>
              </a:ext>
            </a:extLst>
          </p:cNvPr>
          <p:cNvGrpSpPr/>
          <p:nvPr/>
        </p:nvGrpSpPr>
        <p:grpSpPr>
          <a:xfrm>
            <a:off x="4696825" y="3451550"/>
            <a:ext cx="4158614" cy="931189"/>
            <a:chOff x="4696825" y="3085790"/>
            <a:chExt cx="4158614" cy="931189"/>
          </a:xfrm>
        </p:grpSpPr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BF19AD05-406F-9C05-1335-9D2EF1ABC455}"/>
                </a:ext>
              </a:extLst>
            </p:cNvPr>
            <p:cNvSpPr/>
            <p:nvPr/>
          </p:nvSpPr>
          <p:spPr>
            <a:xfrm>
              <a:off x="4696825" y="3085790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27FDC451-4C25-1E68-21EA-24017AA4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1895" y="3128296"/>
              <a:ext cx="340162" cy="425291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14A947B9-5333-53E7-7557-67D4E9FF4D41}"/>
                </a:ext>
              </a:extLst>
            </p:cNvPr>
            <p:cNvSpPr/>
            <p:nvPr/>
          </p:nvSpPr>
          <p:spPr>
            <a:xfrm>
              <a:off x="5433940" y="316365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NLP 기반 유사도 판단</a:t>
              </a:r>
              <a:endParaRPr lang="en-US" dirty="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02FEBE03-C86B-EC7C-BC0B-8FFB578DE1CE}"/>
                </a:ext>
              </a:extLst>
            </p:cNvPr>
            <p:cNvSpPr/>
            <p:nvPr/>
          </p:nvSpPr>
          <p:spPr>
            <a:xfrm>
              <a:off x="5433940" y="3654076"/>
              <a:ext cx="342149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공통 필드 자동 식별 및 결합키 도출</a:t>
              </a:r>
              <a:endParaRPr lang="en-US" sz="1400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6FC38A2-F8E4-7880-94E5-DFC5F82D200B}"/>
              </a:ext>
            </a:extLst>
          </p:cNvPr>
          <p:cNvGrpSpPr/>
          <p:nvPr/>
        </p:nvGrpSpPr>
        <p:grpSpPr>
          <a:xfrm>
            <a:off x="9138927" y="3451550"/>
            <a:ext cx="4158615" cy="931189"/>
            <a:chOff x="9138927" y="3085790"/>
            <a:chExt cx="4158615" cy="931189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183C8932-F44A-C515-520B-3FBEF7C7C37C}"/>
                </a:ext>
              </a:extLst>
            </p:cNvPr>
            <p:cNvSpPr/>
            <p:nvPr/>
          </p:nvSpPr>
          <p:spPr>
            <a:xfrm>
              <a:off x="9138927" y="3085790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pic>
          <p:nvPicPr>
            <p:cNvPr id="14" name="Image 2" descr="preencoded.png">
              <a:extLst>
                <a:ext uri="{FF2B5EF4-FFF2-40B4-BE49-F238E27FC236}">
                  <a16:creationId xmlns:a16="http://schemas.microsoft.com/office/drawing/2014/main" id="{1DF650C9-19D1-DAEF-CD9E-D40425DF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23997" y="3128296"/>
              <a:ext cx="340162" cy="425291"/>
            </a:xfrm>
            <a:prstGeom prst="rect">
              <a:avLst/>
            </a:prstGeom>
          </p:spPr>
        </p:pic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5207786C-B0EE-DB00-316B-844E6820C00B}"/>
                </a:ext>
              </a:extLst>
            </p:cNvPr>
            <p:cNvSpPr/>
            <p:nvPr/>
          </p:nvSpPr>
          <p:spPr>
            <a:xfrm>
              <a:off x="9876043" y="316365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프로젝트 목표</a:t>
              </a:r>
              <a:endParaRPr lang="en-US" dirty="0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E6F7E5DE-5CB9-FF0C-E1B6-9DDFFB25A50D}"/>
                </a:ext>
              </a:extLst>
            </p:cNvPr>
            <p:cNvSpPr/>
            <p:nvPr/>
          </p:nvSpPr>
          <p:spPr>
            <a:xfrm>
              <a:off x="9876043" y="3654076"/>
              <a:ext cx="342149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데이터셋 간의 결합 자동화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5063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B028-BFCE-A088-ED40-9A2F0B32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F0324FA0-A21D-8603-FB35-EA7AAB3A5956}"/>
              </a:ext>
            </a:extLst>
          </p:cNvPr>
          <p:cNvSpPr/>
          <p:nvPr/>
        </p:nvSpPr>
        <p:spPr>
          <a:xfrm>
            <a:off x="146304" y="3965544"/>
            <a:ext cx="11899392" cy="13608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7ABBAB-3352-DA36-5546-108E091CB7B2}"/>
              </a:ext>
            </a:extLst>
          </p:cNvPr>
          <p:cNvSpPr/>
          <p:nvPr/>
        </p:nvSpPr>
        <p:spPr>
          <a:xfrm>
            <a:off x="513374" y="2803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시스템</a:t>
            </a:r>
            <a:r>
              <a:rPr lang="en-US" sz="4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ko-KR" altLang="en-US" sz="4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순서도</a:t>
            </a:r>
            <a:endParaRPr lang="en-US" sz="40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37E8701-B441-BC63-FF6A-7ECCC06A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862" y="1243775"/>
            <a:ext cx="1134070" cy="1360884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8DCB8DD9-A493-E0C9-61F8-ADE99659D463}"/>
              </a:ext>
            </a:extLst>
          </p:cNvPr>
          <p:cNvSpPr/>
          <p:nvPr/>
        </p:nvSpPr>
        <p:spPr>
          <a:xfrm>
            <a:off x="2463094" y="1470589"/>
            <a:ext cx="2035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데이터 업로드</a:t>
            </a:r>
            <a:endParaRPr lang="en-US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F5CF5293-C580-4CD1-2647-D32C46077B6D}"/>
              </a:ext>
            </a:extLst>
          </p:cNvPr>
          <p:cNvSpPr/>
          <p:nvPr/>
        </p:nvSpPr>
        <p:spPr>
          <a:xfrm>
            <a:off x="2463095" y="1961008"/>
            <a:ext cx="36329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2개 이상의 데이터 파일 업로드</a:t>
            </a:r>
            <a:endParaRPr lang="en-US" sz="140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D981CFEB-9FB8-9DFF-44F7-6FDF86494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862" y="2604660"/>
            <a:ext cx="1134070" cy="1360884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09B4936C-BA57-687B-F378-DE8D9E1F809F}"/>
              </a:ext>
            </a:extLst>
          </p:cNvPr>
          <p:cNvSpPr/>
          <p:nvPr/>
        </p:nvSpPr>
        <p:spPr>
          <a:xfrm>
            <a:off x="2463094" y="2831474"/>
            <a:ext cx="2035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필드명 추출</a:t>
            </a:r>
            <a:endParaRPr lang="en-US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82AF0666-5E06-2087-922B-E83654F5A2D1}"/>
              </a:ext>
            </a:extLst>
          </p:cNvPr>
          <p:cNvSpPr/>
          <p:nvPr/>
        </p:nvSpPr>
        <p:spPr>
          <a:xfrm>
            <a:off x="2463095" y="3321892"/>
            <a:ext cx="36329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업로드된 </a:t>
            </a:r>
            <a:r>
              <a:rPr lang="en-US" sz="14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데이터에서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필드명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추출</a:t>
            </a:r>
            <a:endParaRPr lang="en-US" sz="140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DB4C1D95-7EBA-4DC7-11F7-D00797F1E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62" y="3965544"/>
            <a:ext cx="1134070" cy="1360884"/>
          </a:xfrm>
          <a:prstGeom prst="rect">
            <a:avLst/>
          </a:prstGeom>
        </p:spPr>
      </p:pic>
      <p:sp>
        <p:nvSpPr>
          <p:cNvPr id="27" name="Text 5">
            <a:extLst>
              <a:ext uri="{FF2B5EF4-FFF2-40B4-BE49-F238E27FC236}">
                <a16:creationId xmlns:a16="http://schemas.microsoft.com/office/drawing/2014/main" id="{623F2CA6-3B07-DA1E-1FCB-D82EC25A761A}"/>
              </a:ext>
            </a:extLst>
          </p:cNvPr>
          <p:cNvSpPr/>
          <p:nvPr/>
        </p:nvSpPr>
        <p:spPr>
          <a:xfrm>
            <a:off x="2463094" y="4192358"/>
            <a:ext cx="2035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유사도</a:t>
            </a:r>
            <a:r>
              <a:rPr 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ko-KR" alt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판단</a:t>
            </a:r>
            <a:endParaRPr lang="en-US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983D0112-8B13-7FD8-CB6C-8543950ACD75}"/>
              </a:ext>
            </a:extLst>
          </p:cNvPr>
          <p:cNvSpPr/>
          <p:nvPr/>
        </p:nvSpPr>
        <p:spPr>
          <a:xfrm>
            <a:off x="2463095" y="4682777"/>
            <a:ext cx="36329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유사도기법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이용</a:t>
            </a:r>
            <a:r>
              <a:rPr lang="ko-KR" alt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공통된 </a:t>
            </a:r>
            <a:r>
              <a:rPr lang="ko-KR" altLang="en-US" sz="1400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필드명</a:t>
            </a:r>
            <a:r>
              <a:rPr lang="ko-KR" alt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추출</a:t>
            </a:r>
            <a:endParaRPr lang="en-US" sz="140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1A017810-69E8-5F69-D46F-4BE0A1CB9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862" y="5326428"/>
            <a:ext cx="1134070" cy="1360884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AE9AC63D-596D-E6E2-FCF9-8186BB230779}"/>
              </a:ext>
            </a:extLst>
          </p:cNvPr>
          <p:cNvSpPr/>
          <p:nvPr/>
        </p:nvSpPr>
        <p:spPr>
          <a:xfrm>
            <a:off x="2463094" y="5553243"/>
            <a:ext cx="2035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결합키 추출 및 결합</a:t>
            </a:r>
            <a:endParaRPr lang="en-US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3883DEE-763C-092A-4B0C-DF8F605F85E5}"/>
              </a:ext>
            </a:extLst>
          </p:cNvPr>
          <p:cNvSpPr/>
          <p:nvPr/>
        </p:nvSpPr>
        <p:spPr>
          <a:xfrm>
            <a:off x="2463095" y="6043661"/>
            <a:ext cx="36329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결합키 후보를 추출 및 결합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18933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2912-4A66-AE95-B903-0532FAF7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BFF319A-0BEF-F69C-D02F-0F4939F0F23D}"/>
              </a:ext>
            </a:extLst>
          </p:cNvPr>
          <p:cNvSpPr/>
          <p:nvPr/>
        </p:nvSpPr>
        <p:spPr>
          <a:xfrm>
            <a:off x="4281845" y="2819400"/>
            <a:ext cx="7910155" cy="2560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504FD4B-E256-810B-EEA8-DABC5F926D4D}"/>
              </a:ext>
            </a:extLst>
          </p:cNvPr>
          <p:cNvSpPr/>
          <p:nvPr/>
        </p:nvSpPr>
        <p:spPr>
          <a:xfrm>
            <a:off x="123230" y="16537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유사도 판단 기법</a:t>
            </a:r>
            <a:endParaRPr lang="en-US" sz="40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9763981-669E-B90E-14ED-AB3DEF657A20}"/>
              </a:ext>
            </a:extLst>
          </p:cNvPr>
          <p:cNvGrpSpPr/>
          <p:nvPr/>
        </p:nvGrpSpPr>
        <p:grpSpPr>
          <a:xfrm>
            <a:off x="123230" y="3157514"/>
            <a:ext cx="4158615" cy="1784508"/>
            <a:chOff x="123230" y="3157514"/>
            <a:chExt cx="4158615" cy="1784508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2EA56DA0-7A1A-685A-3E19-A49383D6E5EA}"/>
                </a:ext>
              </a:extLst>
            </p:cNvPr>
            <p:cNvSpPr/>
            <p:nvPr/>
          </p:nvSpPr>
          <p:spPr>
            <a:xfrm>
              <a:off x="123230" y="3157514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2FED0CCA-2CAF-178E-FF8C-1646BA47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300" y="3200019"/>
              <a:ext cx="340162" cy="425291"/>
            </a:xfrm>
            <a:prstGeom prst="rect">
              <a:avLst/>
            </a:prstGeom>
          </p:spPr>
        </p:pic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82BAAF7F-42AD-1E2B-050E-FC6A3FE770F7}"/>
                </a:ext>
              </a:extLst>
            </p:cNvPr>
            <p:cNvSpPr/>
            <p:nvPr/>
          </p:nvSpPr>
          <p:spPr>
            <a:xfrm>
              <a:off x="860346" y="3235381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텍스트 유사도 판단 기법</a:t>
              </a:r>
              <a:endParaRPr lang="en-US" dirty="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26E08C11-5426-07E8-B63E-D64396EA89A5}"/>
                </a:ext>
              </a:extLst>
            </p:cNvPr>
            <p:cNvSpPr/>
            <p:nvPr/>
          </p:nvSpPr>
          <p:spPr>
            <a:xfrm>
              <a:off x="860346" y="372579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[문자열 알고리즘]</a:t>
              </a:r>
              <a:endParaRPr lang="en-US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FAB37302-A61C-1729-7AFF-61B937BC4F0A}"/>
                </a:ext>
              </a:extLst>
            </p:cNvPr>
            <p:cNvSpPr/>
            <p:nvPr/>
          </p:nvSpPr>
          <p:spPr>
            <a:xfrm>
              <a:off x="860346" y="4216217"/>
              <a:ext cx="342149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Levenshtein Distance, Jaccard 유사도, Cosine유사도 등</a:t>
              </a:r>
              <a:endParaRPr lang="en-US" sz="1400" dirty="0"/>
            </a:p>
          </p:txBody>
        </p:sp>
      </p:grpSp>
      <p:sp>
        <p:nvSpPr>
          <p:cNvPr id="10" name="Shape 5">
            <a:extLst>
              <a:ext uri="{FF2B5EF4-FFF2-40B4-BE49-F238E27FC236}">
                <a16:creationId xmlns:a16="http://schemas.microsoft.com/office/drawing/2014/main" id="{09843784-DEE0-FA40-3D2F-25812EC95A03}"/>
              </a:ext>
            </a:extLst>
          </p:cNvPr>
          <p:cNvSpPr/>
          <p:nvPr/>
        </p:nvSpPr>
        <p:spPr>
          <a:xfrm>
            <a:off x="4565333" y="31575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40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021940C-045B-C18F-E564-FCDAAF5063AF}"/>
              </a:ext>
            </a:extLst>
          </p:cNvPr>
          <p:cNvSpPr/>
          <p:nvPr/>
        </p:nvSpPr>
        <p:spPr>
          <a:xfrm>
            <a:off x="5302448" y="32353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도메인 사전 기반 매핑  </a:t>
            </a:r>
            <a:endParaRPr 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C36308E-A6DC-CDA9-0F29-1E13DDBC7E16}"/>
              </a:ext>
            </a:extLst>
          </p:cNvPr>
          <p:cNvGrpSpPr/>
          <p:nvPr/>
        </p:nvGrpSpPr>
        <p:grpSpPr>
          <a:xfrm>
            <a:off x="4607868" y="3200019"/>
            <a:ext cx="4073544" cy="1379101"/>
            <a:chOff x="4650403" y="3200019"/>
            <a:chExt cx="4073544" cy="1379101"/>
          </a:xfrm>
        </p:grpSpPr>
        <p:pic>
          <p:nvPicPr>
            <p:cNvPr id="11" name="Image 1" descr="preencoded.png">
              <a:extLst>
                <a:ext uri="{FF2B5EF4-FFF2-40B4-BE49-F238E27FC236}">
                  <a16:creationId xmlns:a16="http://schemas.microsoft.com/office/drawing/2014/main" id="{8869E1A1-66A0-8305-9739-09859CBE8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0403" y="3200019"/>
              <a:ext cx="340162" cy="425291"/>
            </a:xfrm>
            <a:prstGeom prst="rect">
              <a:avLst/>
            </a:prstGeom>
          </p:spPr>
        </p:pic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D3DD9297-7625-8DE4-3718-908F4300C421}"/>
                </a:ext>
              </a:extLst>
            </p:cNvPr>
            <p:cNvSpPr/>
            <p:nvPr/>
          </p:nvSpPr>
          <p:spPr>
            <a:xfrm>
              <a:off x="5302448" y="372579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[룰기반]</a:t>
              </a:r>
              <a:endParaRPr lang="en-US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2EE02C34-9F62-6B7B-0B70-F082D196CDF6}"/>
                </a:ext>
              </a:extLst>
            </p:cNvPr>
            <p:cNvSpPr/>
            <p:nvPr/>
          </p:nvSpPr>
          <p:spPr>
            <a:xfrm>
              <a:off x="5302448" y="4216217"/>
              <a:ext cx="342149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도메인 정의 사전 구축 </a:t>
              </a:r>
              <a:endParaRPr lang="en-US" sz="14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6CA11DD-AA98-1BFF-B222-08D220858255}"/>
              </a:ext>
            </a:extLst>
          </p:cNvPr>
          <p:cNvGrpSpPr/>
          <p:nvPr/>
        </p:nvGrpSpPr>
        <p:grpSpPr>
          <a:xfrm>
            <a:off x="9007435" y="3157514"/>
            <a:ext cx="4158615" cy="1784508"/>
            <a:chOff x="9007435" y="3157514"/>
            <a:chExt cx="4158615" cy="1784508"/>
          </a:xfrm>
        </p:grpSpPr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6925105C-EF65-9F65-49CA-B2217938E686}"/>
                </a:ext>
              </a:extLst>
            </p:cNvPr>
            <p:cNvSpPr/>
            <p:nvPr/>
          </p:nvSpPr>
          <p:spPr>
            <a:xfrm>
              <a:off x="9007435" y="3157514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pic>
          <p:nvPicPr>
            <p:cNvPr id="16" name="Image 2" descr="preencoded.png">
              <a:extLst>
                <a:ext uri="{FF2B5EF4-FFF2-40B4-BE49-F238E27FC236}">
                  <a16:creationId xmlns:a16="http://schemas.microsoft.com/office/drawing/2014/main" id="{81F15606-9834-D05E-DAEF-25F977577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92505" y="3200019"/>
              <a:ext cx="340162" cy="425291"/>
            </a:xfrm>
            <a:prstGeom prst="rect">
              <a:avLst/>
            </a:prstGeom>
          </p:spPr>
        </p:pic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EC9B8AF6-3A3F-0D60-07D3-60FCD1D688E1}"/>
                </a:ext>
              </a:extLst>
            </p:cNvPr>
            <p:cNvSpPr/>
            <p:nvPr/>
          </p:nvSpPr>
          <p:spPr>
            <a:xfrm>
              <a:off x="9744551" y="3235381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임베딩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기반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유사도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판단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endParaRPr lang="en-US" dirty="0"/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3A0C52D0-2A0C-A46B-1C78-A37FEF6A8382}"/>
                </a:ext>
              </a:extLst>
            </p:cNvPr>
            <p:cNvSpPr/>
            <p:nvPr/>
          </p:nvSpPr>
          <p:spPr>
            <a:xfrm>
              <a:off x="9744551" y="372579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[NLP]</a:t>
              </a:r>
              <a:endParaRPr lang="en-US" dirty="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FC223AC3-1FBB-BF46-DD5F-ECD2188D7BC2}"/>
                </a:ext>
              </a:extLst>
            </p:cNvPr>
            <p:cNvSpPr/>
            <p:nvPr/>
          </p:nvSpPr>
          <p:spPr>
            <a:xfrm>
              <a:off x="9744551" y="4216217"/>
              <a:ext cx="342149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Word2Vec, BERT, FastText, GloVe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370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7966-54B6-3929-E1D2-53C6478EE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BF2AC1D-D65B-AB8F-8BF1-560D0EDC031C}"/>
              </a:ext>
            </a:extLst>
          </p:cNvPr>
          <p:cNvSpPr/>
          <p:nvPr/>
        </p:nvSpPr>
        <p:spPr>
          <a:xfrm>
            <a:off x="478302" y="2625209"/>
            <a:ext cx="11240086" cy="390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349DCE6-4EE5-785E-0225-5C77ADF3F399}"/>
              </a:ext>
            </a:extLst>
          </p:cNvPr>
          <p:cNvSpPr/>
          <p:nvPr/>
        </p:nvSpPr>
        <p:spPr>
          <a:xfrm>
            <a:off x="601170" y="479448"/>
            <a:ext cx="533935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600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유사도</a:t>
            </a:r>
            <a:r>
              <a:rPr 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판단 및 매핑</a:t>
            </a:r>
            <a:r>
              <a:rPr 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순서도</a:t>
            </a:r>
            <a:endParaRPr lang="en-US" sz="36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248D3E4-4B83-2545-8E7B-A747B871E49B}"/>
              </a:ext>
            </a:extLst>
          </p:cNvPr>
          <p:cNvGrpSpPr/>
          <p:nvPr/>
        </p:nvGrpSpPr>
        <p:grpSpPr>
          <a:xfrm>
            <a:off x="1027890" y="1343858"/>
            <a:ext cx="13135452" cy="1281351"/>
            <a:chOff x="613362" y="1218581"/>
            <a:chExt cx="13135452" cy="1281351"/>
          </a:xfrm>
        </p:grpSpPr>
        <p:pic>
          <p:nvPicPr>
            <p:cNvPr id="3" name="Image 0" descr="preencoded.png">
              <a:extLst>
                <a:ext uri="{FF2B5EF4-FFF2-40B4-BE49-F238E27FC236}">
                  <a16:creationId xmlns:a16="http://schemas.microsoft.com/office/drawing/2014/main" id="{79E47264-DBA7-9F4C-50A1-54C1284D6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362" y="1218581"/>
              <a:ext cx="1067872" cy="1281351"/>
            </a:xfrm>
            <a:prstGeom prst="rect">
              <a:avLst/>
            </a:prstGeom>
          </p:spPr>
        </p:pic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34B5B4C5-5DEE-42F6-844F-51F71B1DE699}"/>
                </a:ext>
              </a:extLst>
            </p:cNvPr>
            <p:cNvSpPr/>
            <p:nvPr/>
          </p:nvSpPr>
          <p:spPr>
            <a:xfrm>
              <a:off x="2001512" y="1432060"/>
              <a:ext cx="2669619" cy="3336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전처리 기반 정규화</a:t>
              </a:r>
              <a:endParaRPr lang="en-US" dirty="0"/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128BF9B0-03F3-4ABE-C132-C813652A89BD}"/>
                </a:ext>
              </a:extLst>
            </p:cNvPr>
            <p:cNvSpPr/>
            <p:nvPr/>
          </p:nvSpPr>
          <p:spPr>
            <a:xfrm>
              <a:off x="2001512" y="1893784"/>
              <a:ext cx="11747302" cy="341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소문자화, 특수문자 제거 등 기본 정규화 수행</a:t>
              </a:r>
              <a:endParaRPr lang="en-US" sz="14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A2D772C-5882-6AA3-A81C-8224B9C28835}"/>
              </a:ext>
            </a:extLst>
          </p:cNvPr>
          <p:cNvGrpSpPr/>
          <p:nvPr/>
        </p:nvGrpSpPr>
        <p:grpSpPr>
          <a:xfrm>
            <a:off x="1027890" y="2644354"/>
            <a:ext cx="13133190" cy="1281352"/>
            <a:chOff x="613362" y="2499933"/>
            <a:chExt cx="13133190" cy="1281352"/>
          </a:xfrm>
        </p:grpSpPr>
        <p:pic>
          <p:nvPicPr>
            <p:cNvPr id="22" name="Image 1" descr="preencoded.png">
              <a:extLst>
                <a:ext uri="{FF2B5EF4-FFF2-40B4-BE49-F238E27FC236}">
                  <a16:creationId xmlns:a16="http://schemas.microsoft.com/office/drawing/2014/main" id="{A1C0FAB3-3478-918E-33C2-78E46EECD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3362" y="2499933"/>
              <a:ext cx="1067872" cy="1281352"/>
            </a:xfrm>
            <a:prstGeom prst="rect">
              <a:avLst/>
            </a:prstGeom>
          </p:spPr>
        </p:pic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D26272A0-E9BB-2BBA-0D03-BBFFC71B3B71}"/>
                </a:ext>
              </a:extLst>
            </p:cNvPr>
            <p:cNvSpPr/>
            <p:nvPr/>
          </p:nvSpPr>
          <p:spPr>
            <a:xfrm>
              <a:off x="1999250" y="2554950"/>
              <a:ext cx="3710464" cy="3336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기본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매핑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-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도메인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사전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기반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매핑</a:t>
              </a:r>
              <a:endParaRPr lang="en-US" dirty="0"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FF69729F-C95F-9DC8-C90F-FB86FE0F313E}"/>
                </a:ext>
              </a:extLst>
            </p:cNvPr>
            <p:cNvSpPr/>
            <p:nvPr/>
          </p:nvSpPr>
          <p:spPr>
            <a:xfrm>
              <a:off x="1999250" y="2942068"/>
              <a:ext cx="11747302" cy="341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사전에 명시된 키워드 및 유의어 기반 직접 매핑</a:t>
              </a:r>
              <a:endParaRPr lang="en-US" sz="140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C7E66078-3620-B882-1827-4000ECC7E462}"/>
                </a:ext>
              </a:extLst>
            </p:cNvPr>
            <p:cNvSpPr/>
            <p:nvPr/>
          </p:nvSpPr>
          <p:spPr>
            <a:xfrm>
              <a:off x="1999250" y="3247184"/>
              <a:ext cx="11747302" cy="341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매핑 실패시, 아래단계로 넘어감</a:t>
              </a:r>
              <a:endParaRPr lang="en-US" sz="140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FF59735-A56B-619A-CAA8-FF0A46BF6644}"/>
              </a:ext>
            </a:extLst>
          </p:cNvPr>
          <p:cNvGrpSpPr/>
          <p:nvPr/>
        </p:nvGrpSpPr>
        <p:grpSpPr>
          <a:xfrm>
            <a:off x="1027890" y="3944851"/>
            <a:ext cx="13135452" cy="1281351"/>
            <a:chOff x="613362" y="4200144"/>
            <a:chExt cx="13135452" cy="1281351"/>
          </a:xfrm>
        </p:grpSpPr>
        <p:pic>
          <p:nvPicPr>
            <p:cNvPr id="26" name="Image 2" descr="preencoded.png">
              <a:extLst>
                <a:ext uri="{FF2B5EF4-FFF2-40B4-BE49-F238E27FC236}">
                  <a16:creationId xmlns:a16="http://schemas.microsoft.com/office/drawing/2014/main" id="{9EBEB8FF-3FCB-C82F-4B4A-0AD65230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362" y="4200144"/>
              <a:ext cx="1067872" cy="1281351"/>
            </a:xfrm>
            <a:prstGeom prst="rect">
              <a:avLst/>
            </a:prstGeom>
          </p:spPr>
        </p:pic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319188E3-EB6A-B79F-D89E-30850D3C58E8}"/>
                </a:ext>
              </a:extLst>
            </p:cNvPr>
            <p:cNvSpPr/>
            <p:nvPr/>
          </p:nvSpPr>
          <p:spPr>
            <a:xfrm>
              <a:off x="1999250" y="4201990"/>
              <a:ext cx="3953470" cy="3336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보완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추론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-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NLP 임베딩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기반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유사도</a:t>
              </a:r>
              <a:endParaRPr lang="en-US" dirty="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7F6B7C72-115A-3270-1B64-5E0403E93CF1}"/>
                </a:ext>
              </a:extLst>
            </p:cNvPr>
            <p:cNvSpPr/>
            <p:nvPr/>
          </p:nvSpPr>
          <p:spPr>
            <a:xfrm>
              <a:off x="2001512" y="4533638"/>
              <a:ext cx="11747302" cy="341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BERT, KoBERT, FastText</a:t>
              </a:r>
              <a:endParaRPr lang="en-US" sz="1400" dirty="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7E7414FE-24BC-AEF5-D569-715F33D257F6}"/>
                </a:ext>
              </a:extLst>
            </p:cNvPr>
            <p:cNvSpPr/>
            <p:nvPr/>
          </p:nvSpPr>
          <p:spPr>
            <a:xfrm>
              <a:off x="2001512" y="4871181"/>
              <a:ext cx="11747302" cy="341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가장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유사한</a:t>
              </a:r>
              <a:r>
                <a:rPr lang="en-US" altLang="ko-KR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(</a:t>
              </a:r>
              <a:r>
                <a:rPr lang="ko-KR" alt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가까운</a:t>
              </a:r>
              <a:r>
                <a:rPr lang="en-US" altLang="ko-KR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필드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ko-KR" alt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반환</a:t>
              </a:r>
              <a:endParaRPr lang="en-US" sz="14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ADE64F4-A5F4-65FF-D6BA-63FD1CFAA0B1}"/>
              </a:ext>
            </a:extLst>
          </p:cNvPr>
          <p:cNvGrpSpPr/>
          <p:nvPr/>
        </p:nvGrpSpPr>
        <p:grpSpPr>
          <a:xfrm>
            <a:off x="1027890" y="5245346"/>
            <a:ext cx="13135452" cy="1281351"/>
            <a:chOff x="613362" y="5900357"/>
            <a:chExt cx="13135452" cy="1281351"/>
          </a:xfrm>
        </p:grpSpPr>
        <p:pic>
          <p:nvPicPr>
            <p:cNvPr id="30" name="Image 3" descr="preencoded.png">
              <a:extLst>
                <a:ext uri="{FF2B5EF4-FFF2-40B4-BE49-F238E27FC236}">
                  <a16:creationId xmlns:a16="http://schemas.microsoft.com/office/drawing/2014/main" id="{F6387765-46B5-D850-7FED-9CC3DCAA3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3362" y="5900357"/>
              <a:ext cx="1067872" cy="1281351"/>
            </a:xfrm>
            <a:prstGeom prst="rect">
              <a:avLst/>
            </a:prstGeom>
          </p:spPr>
        </p:pic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8B6C960E-8D9F-D643-1244-27B7CDACEAC7}"/>
                </a:ext>
              </a:extLst>
            </p:cNvPr>
            <p:cNvSpPr/>
            <p:nvPr/>
          </p:nvSpPr>
          <p:spPr>
            <a:xfrm>
              <a:off x="2001512" y="6113836"/>
              <a:ext cx="2669619" cy="3336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학습강화</a:t>
              </a:r>
              <a:endParaRPr lang="en-US" dirty="0"/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48191ACB-1976-1B1F-4E8F-0F90B9CA38D5}"/>
                </a:ext>
              </a:extLst>
            </p:cNvPr>
            <p:cNvSpPr/>
            <p:nvPr/>
          </p:nvSpPr>
          <p:spPr>
            <a:xfrm>
              <a:off x="2001512" y="6575560"/>
              <a:ext cx="11747302" cy="3417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사용자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피드백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수집</a:t>
              </a:r>
              <a:r>
                <a:rPr lang="ko-KR" alt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및 군집화 기반 학습 시스템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→ 모델 재학습 / 사전 업데이트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5524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305D-10B4-068F-08E8-72972672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B8D39D94-0806-BA7A-BCD3-F760488BFE4E}"/>
              </a:ext>
            </a:extLst>
          </p:cNvPr>
          <p:cNvSpPr/>
          <p:nvPr/>
        </p:nvSpPr>
        <p:spPr>
          <a:xfrm>
            <a:off x="587102" y="746734"/>
            <a:ext cx="533935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매핑</a:t>
            </a:r>
            <a:r>
              <a:rPr lang="en-US" altLang="ko-KR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-</a:t>
            </a: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추론</a:t>
            </a:r>
            <a:r>
              <a:rPr lang="en-US" altLang="ko-KR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-</a:t>
            </a:r>
            <a:r>
              <a:rPr lang="ko-KR" alt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강화</a:t>
            </a:r>
            <a:r>
              <a:rPr 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 아키텍처</a:t>
            </a:r>
            <a:endParaRPr 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81667A-E603-0B87-ECE1-59003718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274" y="1739291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68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F9114-6866-4EB0-B12D-5F5A3FA7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D0B7025-ED6E-F88A-5122-7215E148A797}"/>
              </a:ext>
            </a:extLst>
          </p:cNvPr>
          <p:cNvSpPr/>
          <p:nvPr/>
        </p:nvSpPr>
        <p:spPr>
          <a:xfrm>
            <a:off x="619603" y="6494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향후</a:t>
            </a:r>
            <a:r>
              <a:rPr lang="en-US" sz="4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계획</a:t>
            </a:r>
            <a:endParaRPr lang="en-US" sz="40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5AB14EE-C146-424B-8F80-08B2F74CBF36}"/>
              </a:ext>
            </a:extLst>
          </p:cNvPr>
          <p:cNvSpPr/>
          <p:nvPr/>
        </p:nvSpPr>
        <p:spPr>
          <a:xfrm>
            <a:off x="6050281" y="1833495"/>
            <a:ext cx="45719" cy="4710997"/>
          </a:xfrm>
          <a:prstGeom prst="roundRect">
            <a:avLst>
              <a:gd name="adj" fmla="val 111628"/>
            </a:avLst>
          </a:prstGeom>
          <a:solidFill>
            <a:srgbClr val="D3D1C9"/>
          </a:solidFill>
          <a:ln/>
        </p:spPr>
        <p:txBody>
          <a:bodyPr/>
          <a:lstStyle/>
          <a:p>
            <a:endParaRPr lang="ko-KR" altLang="en-US" sz="140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99C1911-15E5-FB28-8032-F124FE4416DD}"/>
              </a:ext>
            </a:extLst>
          </p:cNvPr>
          <p:cNvGrpSpPr/>
          <p:nvPr/>
        </p:nvGrpSpPr>
        <p:grpSpPr>
          <a:xfrm>
            <a:off x="1737360" y="1752953"/>
            <a:ext cx="4401314" cy="1157334"/>
            <a:chOff x="1328926" y="1031796"/>
            <a:chExt cx="4401314" cy="1157334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EC822BD7-CE4F-FDAF-42EE-7F907565CCB3}"/>
                </a:ext>
              </a:extLst>
            </p:cNvPr>
            <p:cNvSpPr/>
            <p:nvPr/>
          </p:nvSpPr>
          <p:spPr>
            <a:xfrm>
              <a:off x="4751975" y="1401104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D3D1C9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B6702100-B9E8-EFC9-0E6A-9A82C3825036}"/>
                </a:ext>
              </a:extLst>
            </p:cNvPr>
            <p:cNvSpPr/>
            <p:nvPr/>
          </p:nvSpPr>
          <p:spPr>
            <a:xfrm>
              <a:off x="5576959" y="1331881"/>
              <a:ext cx="153281" cy="148471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BF585A81-32E4-5D1A-D302-581BE3861BA0}"/>
                </a:ext>
              </a:extLst>
            </p:cNvPr>
            <p:cNvSpPr/>
            <p:nvPr/>
          </p:nvSpPr>
          <p:spPr>
            <a:xfrm>
              <a:off x="1687782" y="103179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시스템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설계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5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월</a:t>
              </a:r>
              <a:endParaRPr lang="en-US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A99ECFC7-5F3B-9674-4AA3-F74130200B29}"/>
                </a:ext>
              </a:extLst>
            </p:cNvPr>
            <p:cNvSpPr/>
            <p:nvPr/>
          </p:nvSpPr>
          <p:spPr>
            <a:xfrm>
              <a:off x="1328926" y="1480351"/>
              <a:ext cx="3194092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850"/>
                </a:lnSpc>
                <a:buNone/>
              </a:pPr>
              <a:r>
                <a:rPr lang="ko-KR" alt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첫째주</a:t>
              </a:r>
              <a:r>
                <a:rPr lang="en-US" altLang="ko-KR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:</a:t>
              </a:r>
              <a:r>
                <a:rPr lang="ko-KR" alt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아키텍처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설계 및 기술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스택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확정</a:t>
              </a:r>
              <a:endPara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 marL="0" indent="0" algn="r">
                <a:lnSpc>
                  <a:spcPts val="2850"/>
                </a:lnSpc>
                <a:buNone/>
              </a:pPr>
              <a:endParaRPr lang="en-US" sz="1400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7ECD2E5-7D35-9F32-CCA5-568E1B557F5E}"/>
              </a:ext>
            </a:extLst>
          </p:cNvPr>
          <p:cNvGrpSpPr/>
          <p:nvPr/>
        </p:nvGrpSpPr>
        <p:grpSpPr>
          <a:xfrm>
            <a:off x="-455888" y="4431132"/>
            <a:ext cx="6594562" cy="780170"/>
            <a:chOff x="-864322" y="2322100"/>
            <a:chExt cx="6594562" cy="780170"/>
          </a:xfrm>
        </p:grpSpPr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9964659B-2628-A269-133F-5500E0698CE0}"/>
                </a:ext>
              </a:extLst>
            </p:cNvPr>
            <p:cNvSpPr/>
            <p:nvPr/>
          </p:nvSpPr>
          <p:spPr>
            <a:xfrm>
              <a:off x="4751975" y="2727985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D3D1C9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879A6C11-3586-CD51-293D-8419DF482870}"/>
                </a:ext>
              </a:extLst>
            </p:cNvPr>
            <p:cNvSpPr/>
            <p:nvPr/>
          </p:nvSpPr>
          <p:spPr>
            <a:xfrm>
              <a:off x="5576959" y="2658762"/>
              <a:ext cx="153281" cy="148471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C0BC8CAE-3F11-7527-9D1F-E75D251A7A7D}"/>
                </a:ext>
              </a:extLst>
            </p:cNvPr>
            <p:cNvSpPr/>
            <p:nvPr/>
          </p:nvSpPr>
          <p:spPr>
            <a:xfrm>
              <a:off x="1687782" y="232210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성능</a:t>
              </a: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실험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6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월</a:t>
              </a:r>
              <a:endParaRPr lang="en-US" dirty="0"/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A7A8285E-176C-865D-45FD-6481C68B895D}"/>
                </a:ext>
              </a:extLst>
            </p:cNvPr>
            <p:cNvSpPr/>
            <p:nvPr/>
          </p:nvSpPr>
          <p:spPr>
            <a:xfrm>
              <a:off x="-864322" y="2739367"/>
              <a:ext cx="538734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850"/>
                </a:lnSpc>
                <a:buNone/>
              </a:pP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다양한 데이터셋으로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성능</a:t>
              </a:r>
              <a:r>
                <a:rPr 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r>
                <a:rPr 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검증</a:t>
              </a:r>
              <a:r>
                <a:rPr lang="ko-KR" altLang="en-US" sz="1400" dirty="0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및 </a:t>
              </a:r>
              <a:r>
                <a:rPr lang="ko-KR" altLang="en-US" sz="1400" dirty="0" err="1">
                  <a:solidFill>
                    <a:srgbClr val="16161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재학습</a:t>
              </a:r>
              <a:endParaRPr lang="en-US" sz="1400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BA371C6-E813-4647-DEA0-5E2EFAB57E18}"/>
              </a:ext>
            </a:extLst>
          </p:cNvPr>
          <p:cNvGrpSpPr/>
          <p:nvPr/>
        </p:nvGrpSpPr>
        <p:grpSpPr>
          <a:xfrm>
            <a:off x="5985393" y="3083601"/>
            <a:ext cx="4049433" cy="736093"/>
            <a:chOff x="5576959" y="1816728"/>
            <a:chExt cx="4049433" cy="736093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D717A687-557F-5C5C-8615-26E7C672AADB}"/>
                </a:ext>
              </a:extLst>
            </p:cNvPr>
            <p:cNvSpPr/>
            <p:nvPr/>
          </p:nvSpPr>
          <p:spPr>
            <a:xfrm>
              <a:off x="5881759" y="2054853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D3D1C9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65621447-AB50-198D-3C47-D9859112A916}"/>
                </a:ext>
              </a:extLst>
            </p:cNvPr>
            <p:cNvSpPr/>
            <p:nvPr/>
          </p:nvSpPr>
          <p:spPr>
            <a:xfrm>
              <a:off x="5576959" y="1995322"/>
              <a:ext cx="153281" cy="148471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63D178B4-1489-039A-06D0-B630471C86D9}"/>
                </a:ext>
              </a:extLst>
            </p:cNvPr>
            <p:cNvSpPr/>
            <p:nvPr/>
          </p:nvSpPr>
          <p:spPr>
            <a:xfrm>
              <a:off x="6932722" y="2189918"/>
              <a:ext cx="158948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ko-KR" altLang="en-US" sz="1400" dirty="0" err="1"/>
                <a:t>둘째주</a:t>
              </a:r>
              <a:r>
                <a:rPr lang="en-US" altLang="ko-KR" sz="1400" dirty="0"/>
                <a:t>:</a:t>
              </a:r>
              <a:r>
                <a:rPr lang="ko-KR" altLang="en-US" sz="1400" dirty="0"/>
                <a:t> 프로토 타입 개발시작</a:t>
              </a:r>
              <a:endParaRPr lang="en-US" sz="1400" dirty="0"/>
            </a:p>
          </p:txBody>
        </p:sp>
        <p:sp>
          <p:nvSpPr>
            <p:cNvPr id="45" name="Text 16">
              <a:extLst>
                <a:ext uri="{FF2B5EF4-FFF2-40B4-BE49-F238E27FC236}">
                  <a16:creationId xmlns:a16="http://schemas.microsoft.com/office/drawing/2014/main" id="{BD9E7E4E-F4EF-5595-DBCF-9045213CEB7E}"/>
                </a:ext>
              </a:extLst>
            </p:cNvPr>
            <p:cNvSpPr/>
            <p:nvPr/>
          </p:nvSpPr>
          <p:spPr>
            <a:xfrm>
              <a:off x="6791157" y="181672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5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월 프로토타입 개발</a:t>
              </a:r>
              <a:endParaRPr lang="en-US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52224C8-7E38-A727-DF79-BD1A6218DE50}"/>
              </a:ext>
            </a:extLst>
          </p:cNvPr>
          <p:cNvGrpSpPr/>
          <p:nvPr/>
        </p:nvGrpSpPr>
        <p:grpSpPr>
          <a:xfrm>
            <a:off x="5994100" y="5822741"/>
            <a:ext cx="4049433" cy="354330"/>
            <a:chOff x="5576959" y="1816728"/>
            <a:chExt cx="4049433" cy="354330"/>
          </a:xfrm>
        </p:grpSpPr>
        <p:sp>
          <p:nvSpPr>
            <p:cNvPr id="53" name="Shape 6">
              <a:extLst>
                <a:ext uri="{FF2B5EF4-FFF2-40B4-BE49-F238E27FC236}">
                  <a16:creationId xmlns:a16="http://schemas.microsoft.com/office/drawing/2014/main" id="{A30BF755-B04C-C934-E532-5C4D9C4BB724}"/>
                </a:ext>
              </a:extLst>
            </p:cNvPr>
            <p:cNvSpPr/>
            <p:nvPr/>
          </p:nvSpPr>
          <p:spPr>
            <a:xfrm>
              <a:off x="5881759" y="2054853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D3D1C9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4" name="Shape 7">
              <a:extLst>
                <a:ext uri="{FF2B5EF4-FFF2-40B4-BE49-F238E27FC236}">
                  <a16:creationId xmlns:a16="http://schemas.microsoft.com/office/drawing/2014/main" id="{773EAD0D-0ADF-A276-F376-5C77893D4A8C}"/>
                </a:ext>
              </a:extLst>
            </p:cNvPr>
            <p:cNvSpPr/>
            <p:nvPr/>
          </p:nvSpPr>
          <p:spPr>
            <a:xfrm>
              <a:off x="5576959" y="1995322"/>
              <a:ext cx="153281" cy="148471"/>
            </a:xfrm>
            <a:prstGeom prst="roundRect">
              <a:avLst>
                <a:gd name="adj" fmla="val 6667"/>
              </a:avLst>
            </a:prstGeom>
            <a:solidFill>
              <a:srgbClr val="EDEBE3"/>
            </a:solidFill>
            <a:ln/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Text 16">
              <a:extLst>
                <a:ext uri="{FF2B5EF4-FFF2-40B4-BE49-F238E27FC236}">
                  <a16:creationId xmlns:a16="http://schemas.microsoft.com/office/drawing/2014/main" id="{1B2B5FA3-6774-6E94-5A4D-298D1E7CFD17}"/>
                </a:ext>
              </a:extLst>
            </p:cNvPr>
            <p:cNvSpPr/>
            <p:nvPr/>
          </p:nvSpPr>
          <p:spPr>
            <a:xfrm>
              <a:off x="6791157" y="181672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6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월 </a:t>
              </a:r>
              <a:r>
                <a:rPr lang="ko-KR" altLang="en-US" dirty="0" err="1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캡스톤디자인</a:t>
              </a:r>
              <a:r>
                <a:rPr lang="en-US" altLang="ko-KR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1</a:t>
              </a:r>
              <a:r>
                <a:rPr lang="ko-KR" altLang="en-US" dirty="0">
                  <a:solidFill>
                    <a:srgbClr val="161613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최종발표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6778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꺾인 연결선[E] 60">
            <a:extLst>
              <a:ext uri="{FF2B5EF4-FFF2-40B4-BE49-F238E27FC236}">
                <a16:creationId xmlns:a16="http://schemas.microsoft.com/office/drawing/2014/main" id="{81757D70-1BA5-16EA-DE96-E4E9BE4E4E66}"/>
              </a:ext>
            </a:extLst>
          </p:cNvPr>
          <p:cNvCxnSpPr>
            <a:cxnSpLocks/>
            <a:stCxn id="9" idx="3"/>
            <a:endCxn id="22" idx="2"/>
          </p:cNvCxnSpPr>
          <p:nvPr/>
        </p:nvCxnSpPr>
        <p:spPr>
          <a:xfrm flipV="1">
            <a:off x="5195008" y="1085458"/>
            <a:ext cx="3779430" cy="29700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BBFF2F73-4C7B-ED9A-D23F-F84368C83F36}"/>
              </a:ext>
            </a:extLst>
          </p:cNvPr>
          <p:cNvSpPr/>
          <p:nvPr/>
        </p:nvSpPr>
        <p:spPr>
          <a:xfrm>
            <a:off x="1424587" y="241027"/>
            <a:ext cx="1816608" cy="844431"/>
          </a:xfrm>
          <a:prstGeom prst="roundRect">
            <a:avLst>
              <a:gd name="adj" fmla="val 34250"/>
            </a:avLst>
          </a:prstGeom>
          <a:solidFill>
            <a:srgbClr val="EDE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 err="1">
                <a:solidFill>
                  <a:schemeClr val="tx1"/>
                </a:solidFill>
              </a:rPr>
              <a:t>전처리된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필드명</a:t>
            </a:r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FC73666-E036-CB3A-2D1C-2EF286A7B04E}"/>
              </a:ext>
            </a:extLst>
          </p:cNvPr>
          <p:cNvSpPr/>
          <p:nvPr/>
        </p:nvSpPr>
        <p:spPr>
          <a:xfrm>
            <a:off x="4813963" y="241027"/>
            <a:ext cx="1816608" cy="844431"/>
          </a:xfrm>
          <a:prstGeom prst="roundRect">
            <a:avLst>
              <a:gd name="adj" fmla="val 34250"/>
            </a:avLst>
          </a:prstGeom>
          <a:solidFill>
            <a:srgbClr val="EDE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ysClr val="windowText" lastClr="000000"/>
                </a:solidFill>
              </a:rPr>
              <a:t>도메인사전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CCA48AF-D249-84A0-F67C-F9DEF084BCBA}"/>
              </a:ext>
            </a:extLst>
          </p:cNvPr>
          <p:cNvSpPr/>
          <p:nvPr/>
        </p:nvSpPr>
        <p:spPr>
          <a:xfrm>
            <a:off x="4813963" y="1356459"/>
            <a:ext cx="1816608" cy="844431"/>
          </a:xfrm>
          <a:prstGeom prst="roundRect">
            <a:avLst>
              <a:gd name="adj" fmla="val 34250"/>
            </a:avLst>
          </a:prstGeom>
          <a:solidFill>
            <a:srgbClr val="EDE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</a:rPr>
              <a:t>BERT</a:t>
            </a:r>
            <a:r>
              <a:rPr kumimoji="1" lang="ko-KR" altLang="en-US" sz="1400" dirty="0">
                <a:solidFill>
                  <a:schemeClr val="tx1"/>
                </a:solidFill>
              </a:rPr>
              <a:t>기반 모델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1DF80C7-C4F5-0DF2-D8FE-FFB894A601D3}"/>
              </a:ext>
            </a:extLst>
          </p:cNvPr>
          <p:cNvSpPr/>
          <p:nvPr/>
        </p:nvSpPr>
        <p:spPr>
          <a:xfrm>
            <a:off x="3378400" y="2514835"/>
            <a:ext cx="1816608" cy="844431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결합키 후보 추천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3644788-6DBC-E7B8-AE68-77B772743478}"/>
              </a:ext>
            </a:extLst>
          </p:cNvPr>
          <p:cNvSpPr/>
          <p:nvPr/>
        </p:nvSpPr>
        <p:spPr>
          <a:xfrm>
            <a:off x="6249526" y="2514835"/>
            <a:ext cx="1816608" cy="844431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사용자 피드백 저장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9E373B6-D642-9C42-3317-8AFCED90287E}"/>
              </a:ext>
            </a:extLst>
          </p:cNvPr>
          <p:cNvSpPr/>
          <p:nvPr/>
        </p:nvSpPr>
        <p:spPr>
          <a:xfrm>
            <a:off x="3378400" y="3633316"/>
            <a:ext cx="1816608" cy="844431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결과 확정 </a:t>
            </a:r>
            <a:r>
              <a:rPr kumimoji="1" lang="en-US" altLang="ko-KR" sz="1200" dirty="0">
                <a:solidFill>
                  <a:schemeClr val="tx1"/>
                </a:solidFill>
              </a:rPr>
              <a:t>/</a:t>
            </a:r>
            <a:r>
              <a:rPr kumimoji="1" lang="ko-KR" altLang="en-US" sz="1200" dirty="0">
                <a:solidFill>
                  <a:schemeClr val="tx1"/>
                </a:solidFill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</a:rPr>
              <a:t>(</a:t>
            </a:r>
            <a:r>
              <a:rPr kumimoji="1" lang="ko-KR" altLang="en-US" sz="1200" dirty="0">
                <a:solidFill>
                  <a:schemeClr val="tx1"/>
                </a:solidFill>
              </a:rPr>
              <a:t>수정</a:t>
            </a:r>
            <a:r>
              <a:rPr kumimoji="1" lang="en-US" altLang="ko-KR" sz="1200" dirty="0">
                <a:solidFill>
                  <a:schemeClr val="tx1"/>
                </a:solidFill>
              </a:rPr>
              <a:t>)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6D8CD3E-01AA-A95F-F9B5-EC692E5E7876}"/>
              </a:ext>
            </a:extLst>
          </p:cNvPr>
          <p:cNvSpPr/>
          <p:nvPr/>
        </p:nvSpPr>
        <p:spPr>
          <a:xfrm>
            <a:off x="6249526" y="3633316"/>
            <a:ext cx="1816608" cy="844431"/>
          </a:xfrm>
          <a:prstGeom prst="roundRect">
            <a:avLst>
              <a:gd name="adj" fmla="val 34250"/>
            </a:avLst>
          </a:prstGeom>
          <a:solidFill>
            <a:srgbClr val="EDEB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피드백 로그 </a:t>
            </a:r>
            <a:r>
              <a:rPr kumimoji="1" lang="en-US" altLang="ko-KR" sz="1200" dirty="0">
                <a:solidFill>
                  <a:schemeClr val="tx1"/>
                </a:solidFill>
              </a:rPr>
              <a:t>DB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F039F45-5E8B-948F-2A3F-29A75D5F224B}"/>
              </a:ext>
            </a:extLst>
          </p:cNvPr>
          <p:cNvSpPr/>
          <p:nvPr/>
        </p:nvSpPr>
        <p:spPr>
          <a:xfrm>
            <a:off x="5558146" y="4843237"/>
            <a:ext cx="3200399" cy="856893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주기적 </a:t>
            </a:r>
            <a:r>
              <a:rPr kumimoji="1" lang="ko-KR" altLang="en-US" sz="1200" dirty="0" err="1">
                <a:solidFill>
                  <a:schemeClr val="tx1"/>
                </a:solidFill>
              </a:rPr>
              <a:t>임베딩</a:t>
            </a:r>
            <a:r>
              <a:rPr kumimoji="1" lang="ko-KR" altLang="en-US" sz="1200" dirty="0">
                <a:solidFill>
                  <a:schemeClr val="tx1"/>
                </a:solidFill>
              </a:rPr>
              <a:t> 군집화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BB74C5A-77FC-45BD-5E26-563D7943731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41195" y="663243"/>
            <a:ext cx="1572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9B2ADEA-84A2-FF78-EA6E-BCD5A37F84DD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6630571" y="663243"/>
            <a:ext cx="1435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57074E8-7434-7BDA-F426-5E1AE50582B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722267" y="1085458"/>
            <a:ext cx="0" cy="271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9DD85CB-D340-0A60-310F-DB097FCD8F9A}"/>
              </a:ext>
            </a:extLst>
          </p:cNvPr>
          <p:cNvSpPr/>
          <p:nvPr/>
        </p:nvSpPr>
        <p:spPr>
          <a:xfrm>
            <a:off x="8066134" y="241027"/>
            <a:ext cx="1816608" cy="844431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</a:rPr>
              <a:t>결합키</a:t>
            </a:r>
            <a:r>
              <a:rPr kumimoji="1" lang="en-US" altLang="ko-KR" sz="1400" dirty="0">
                <a:solidFill>
                  <a:schemeClr val="tx1"/>
                </a:solidFill>
              </a:rPr>
              <a:t>(</a:t>
            </a:r>
            <a:r>
              <a:rPr kumimoji="1" lang="ko-KR" altLang="en-US" sz="1400" dirty="0">
                <a:solidFill>
                  <a:schemeClr val="tx1"/>
                </a:solidFill>
              </a:rPr>
              <a:t>후보</a:t>
            </a:r>
            <a:r>
              <a:rPr kumimoji="1" lang="en-US" altLang="ko-KR" sz="1400" dirty="0">
                <a:solidFill>
                  <a:schemeClr val="tx1"/>
                </a:solidFill>
              </a:rPr>
              <a:t>)</a:t>
            </a:r>
            <a:r>
              <a:rPr kumimoji="1" lang="ko-KR" altLang="en-US" sz="1400" dirty="0">
                <a:solidFill>
                  <a:schemeClr val="tx1"/>
                </a:solidFill>
              </a:rPr>
              <a:t>추출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7E8E099-E2AF-997B-1E29-336DF947DA8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286704" y="3359266"/>
            <a:ext cx="0" cy="274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1428D5F-E2C2-4BCA-A3A2-F1D5DF01BCE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195008" y="4055532"/>
            <a:ext cx="1054518" cy="0"/>
          </a:xfrm>
          <a:prstGeom prst="straightConnector1">
            <a:avLst/>
          </a:prstGeom>
          <a:ln w="158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78CF2EB-DD4E-C790-59BB-3404D4141EDB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157830" y="3359266"/>
            <a:ext cx="0" cy="274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D262188F-C84D-0886-479C-4F581B498D0F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5722267" y="2200890"/>
            <a:ext cx="1435563" cy="3139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673E58B5-724E-CF5A-7FAE-DB26E39C478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286704" y="2200890"/>
            <a:ext cx="1435563" cy="31394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EECBC06-21E9-A8F6-EF69-18F3CE8561C8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7157830" y="4477747"/>
            <a:ext cx="516" cy="365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94036AC-43DF-98FC-A986-63DB678C5A04}"/>
              </a:ext>
            </a:extLst>
          </p:cNvPr>
          <p:cNvCxnSpPr>
            <a:cxnSpLocks/>
            <a:stCxn id="11" idx="2"/>
            <a:endCxn id="54" idx="0"/>
          </p:cNvCxnSpPr>
          <p:nvPr/>
        </p:nvCxnSpPr>
        <p:spPr>
          <a:xfrm flipH="1">
            <a:off x="6321177" y="5700130"/>
            <a:ext cx="837169" cy="25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715D8F94-FA2C-0B91-82C5-010BB735795A}"/>
              </a:ext>
            </a:extLst>
          </p:cNvPr>
          <p:cNvSpPr/>
          <p:nvPr/>
        </p:nvSpPr>
        <p:spPr>
          <a:xfrm>
            <a:off x="5557630" y="5955485"/>
            <a:ext cx="1527093" cy="856893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[</a:t>
            </a:r>
            <a:r>
              <a:rPr kumimoji="1" lang="ko-KR" altLang="en-US" sz="1200" dirty="0">
                <a:solidFill>
                  <a:schemeClr val="tx1"/>
                </a:solidFill>
              </a:rPr>
              <a:t>동일한 피드백</a:t>
            </a:r>
            <a:r>
              <a:rPr kumimoji="1" lang="en-US" altLang="ko-KR" sz="1200" dirty="0">
                <a:solidFill>
                  <a:schemeClr val="tx1"/>
                </a:solidFill>
              </a:rPr>
              <a:t>]</a:t>
            </a:r>
          </a:p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사전확장</a:t>
            </a:r>
            <a:endParaRPr kumimoji="1"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01B3BDA-7016-3DA7-DB1D-FB6C25A08626}"/>
              </a:ext>
            </a:extLst>
          </p:cNvPr>
          <p:cNvSpPr/>
          <p:nvPr/>
        </p:nvSpPr>
        <p:spPr>
          <a:xfrm>
            <a:off x="7396581" y="5955484"/>
            <a:ext cx="1527093" cy="856893"/>
          </a:xfrm>
          <a:prstGeom prst="roundRect">
            <a:avLst>
              <a:gd name="adj" fmla="val 342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solidFill>
                  <a:schemeClr val="tx1"/>
                </a:solidFill>
              </a:rPr>
              <a:t>우선순위반영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36AAFA1-C184-8431-9F87-664B944BA1E6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>
            <a:off x="7158346" y="5700130"/>
            <a:ext cx="1001782" cy="255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82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1223</Words>
  <Application>Microsoft Macintosh PowerPoint</Application>
  <PresentationFormat>와이드스크린</PresentationFormat>
  <Paragraphs>212</Paragraphs>
  <Slides>16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Inter</vt:lpstr>
      <vt:lpstr>Arial</vt:lpstr>
      <vt:lpstr>DM Sans Medium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장재혁</cp:lastModifiedBy>
  <cp:revision>200</cp:revision>
  <dcterms:created xsi:type="dcterms:W3CDTF">2025-04-30T07:07:52Z</dcterms:created>
  <dcterms:modified xsi:type="dcterms:W3CDTF">2025-05-07T09:28:40Z</dcterms:modified>
</cp:coreProperties>
</file>